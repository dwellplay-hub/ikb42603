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Lesson 9, the second half of the design-pattern catalogue. Last week we covered trusted platform, VM protection and resource access control; today we add four more families — network security, denial-of-service protection, federated authentication, and key management. As before, the skill is SC8 integrated problem-solving: composing these patterns into resilient architectures. Walk the outcomes. This maps to CLO2. Remind students that patterns build on earlier pillars — network patterns extend Lesson 3's segmentation, federation extends Lesson 7, key management extends Lesson 4 — packaged now as reusable design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Constructive-alignment slide. Lesson 9 continues the design-pattern work of CLO2 and the SC8 integrated-problem-solving cluster, aligned to PLO2, MQF Level iii(a), Bloom P3, with the VBE3 integrity value, assessed through the Lab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cloud you do not own the wires, so network security is achieved through software-defined patterns: secure connections, virtual perimeters and segmentation. These package Lesson 3's network isolation into reusable design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secure-connection pattern ensures all traffic to and between cloud resources is encrypted and authenticated in transit — TLS for application traffic, VPN or private connectivity for network links between sites and the cloud. It solves eavesdropping and man-in-the-middle from Lesson 3: even on shared, untrusted networks, intercepted traffic is unreadable and tampering is detectable. The virtual perimeter pattern rebuilds the traditional firewall boundary in software: virtual firewalls and security groups wrap resources, so only permitted flows reach them — default-deny, least privilege for the network. Together they answer 'how do I protect traffic and control who can connect when I don't control the physical network?' The cloud makes these patterns easy to apply broadly — a security group is a few lines of configuration — but that same ease means they are easy to misconfigure, so review is essential. These patterns are the network foundation the DoS and federation patterns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segmentation pattern divides the cloud network into isolated zones so that a compromise in one cannot spread freely — the containment principle from Lesson 3, packaged as design. Three levels on the slide. Virtual Private Clouds give each environment its own isolated network space. Subnet and tier segmentation separates, say, the web tier from the database tier so the internet-facing part cannot directly reach the data. Micro-segmentation goes furthest, isolating individual workloads so each service talks only to the specific others it must — the network expression of zero trust. The problem solved: flat networks let an attacker who lands anywhere move laterally to everything; segmentation confines them. Software-defined networking makes these boundaries programmable and fine-grained, which is why micro-segmentation is practical in the cloud where it was not on physical networks. The design habit: segment by default and connect by exception. This pattern pairs with the secure-connection pattern — segment the network, and encrypt the connections that cross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is a security goal, and denial-of-service attacks target it directly by flooding a service until legitimate users cannot reach it. These patterns keep services available under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denial-of-service attack overwhelms a service with traffic so legitimate users are denied access; a distributed DoS uses many compromised machines at once, making it far harder to block. This attacks the Availability leg of CIA. The DoS-protection pattern layers several defences. Traffic filtering and scrubbing: inspect incoming traffic and drop malicious packets before they reach the service, often via a specialised scrubbing service. Rate limiting: cap how many requests any source may make, so no single client can flood you. Absorb and scale: use the cloud's elasticity and content delivery networks to spread and soak up large volumes across many edge locations. The problem solved: a single server is easily overwhelmed; these patterns distribute and filter the load so the service stays up. Flag the cloud-specific twist we met in Lesson 1 — Economic Denial of Sustainability: naive auto-scaling under attack keeps you online but runs up a ruinous bill, so DoS protection must combine scaling with filtering and rate limits, not scaling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the DoS patterns compose into a resilient front end, reading the flow on the slide from the internet inward. Edge/CDN first: a content delivery network absorbs and caches traffic across many global locations, keeping most load away from your origin. A DDoS scrubbing service or protection layer then filters volumetric attacks. A web application firewall inspects application-layer requests and blocks malicious ones. Rate limiting caps per-client requests. Finally, elastic auto-scaling behind all of this handles legitimate surges — bounded by budget limits to avoid the economic-denial trap. Each layer removes a class of attack traffic, so the origin sees only clean, manageable load. The teaching point: DoS resilience is not one product but a composed pipeline of patterns, each covering a different attack scale — volumetric at the edge, application-layer at the WAF, abusive clients at the rate limiter. This is the SC8 composition skill applied to availability, and it mirrors the layered thinking from every pillar.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patterns package the identity federation of Lesson 7 into reusable design components — letting users authenticate once, in their home domain, and reach many services across trust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federated authentication pattern lets a service accept identities authenticated by a trusted external identity provider, so users use their home credentials — from Lesson 7. The trust-broker pattern generalises this to many-to-many relationships: instead of every service provider establishing direct trust with every identity provider (an N-times-M mess), a central identity broker sits in the middle, trusted by all, and translates between them. The broker authenticates via the appropriate IdP and issues a token the service accepts. The problem solved: at cloud scale, organisations use dozens of services and multiple identity sources, and direct pairwise trust does not scale; the broker reduces it to each party trusting one broker. Add the benefit of central control — one place to enforce MFA, apply conditional-access policy, and log all authentication. The trade-off, familiar by now, is that the broker is a high-value single point that must be highly available and strongly protected. This pattern is what powers enterprise single sign-on across cloud SaaS estates.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SSO gateway pattern places a single sign-on entry point in front of an estate of applications, combining the authentication gateway from Lesson 8 with federation: users authenticate once at the gateway, which federates to the right identity provider, and then reach all connected apps. Layered on top is conditional access — the gateway evaluates context on each request (device health, location, risk signals) and adapts, for example requiring an extra MFA prompt for a login from a new country or blocking access from an unmanaged device. This is zero trust made concrete: trust is not granted once and forgotten; it is continuously evaluated. The problem solved: static authentication cannot tell a legitimate user from an attacker using stolen-but-valid credentials; conditional access adds the behavioural and contextual signals that catch the difference. Tie the part together: federated authentication establishes WHO across boundaries, the trust broker scales that trust, and the SSO gateway with conditional access enforces it intelligently at the door — the identity patterns compose just like the network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Encryption from Lesson 4 is only as strong as its keys. These patterns package secure key management into reusable components — the key-management service, hardware security modules, and envelope encryption.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key-management-system pattern centralises the whole key lifecycle — generation, storage, distribution, rotation, revocation — into a dedicated, hardened service, rather than scattering keys through application code and config. A Key Management Service (KMS) provides this as a managed component; for the highest assurance, a Hardware Security Module (HSM) stores keys in tamper-resistant hardware from which they can never be extracted, only used. The problem solved: the most common way good encryption fails is poor key handling — hard-coded keys, keys stored beside the data, keys never rotated; centralising into a KMS/HSM fixes all of these and gives one place to audit and control key use. Add the cloud choice from Lesson 4: provider-managed keys are convenient, customer-managed keys (in the tenant's KMS or bring-your-own-key to an HSM) give control and separation from the provider — a shared-responsibility and compliance decision. This pattern underpins the VM encryption and per-tenant patterns and is where 'encryption' becomes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refinements that make key management scale. Envelope encryption solves the problem of protecting millions of data keys: you encrypt data with a fast, local data key, then encrypt that data key with a master key held in the KMS/HSM — so only the small master key needs the expensive hardware protection, while the many data keys travel safely wrapped alongside the data. It combines the speed of symmetric encryption with the strong protection of a central master key. Per-tenant keys, from Lessons 3 and 4, give each tenant their own keys, so one tenant's key never unlocks another's data — reinforcing isolation — and enabling clean cryptographic erasure: destroy a tenant's key and their data is instantly, provably unrecoverable. The problems solved: envelope encryption makes strong key protection practical at massive scale; per-tenant keys make multi-tenant isolation and deletion cryptographically enforceable. Close the part: these key patterns are the trust anchor beneath VM encryption, storage isolation and secure deletion — get key management right and those all become dependable; get it wrong and they all fail quietly.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assemble all the Lesson 8 and 9 patterns into a complete secure architecture, apply them to a scenario, and set the pattern-based design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both pattern lessons together into one picture of a secure cloud service, reading the layers on the slide. At the edge, DoS protection and a virtual perimeter keep the front resilient and filtered. Federated authentication with an SSO gateway and conditional access controls who gets in. A segmented network confines any breach. The workload runs on a trusted platform with hypervisor protection and VM encryption. Data is protected by a KMS with envelope and per-tenant keys. And everything is monitored (Lesson 6). Each layer is a pattern from Lessons 8 or 9, each covering a distinct failure mode, and together they form defense in depth across availability, identity, network, compute and data. The teaching point — the culmination of the SC8 thread — is the design method: given a requirement, ask which patterns apply and how they compose, rather than reaching for a single product. This is how professionals design secure cloud systems, and it is exactly what the assignment and exam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a design exercise. Scenario: a startup runs a public SaaS that suffers a DDoS attack while also being probed for weak logins, and it handles customer data that must stay encrypted and isolated per customer. Ask which patterns address each need. For the DDoS: the DoS-protection pipeline — CDN/edge absorption, scrubbing, WAF, rate limiting, and bounded auto-scaling to avoid economic denial. For the login probing: federated authentication with an SSO gateway, MFA and conditional access to block risky logins, over a segmented network. For the data: a KMS with envelope and per-tenant keys, plus VM encryption. The teaching point: a realistic scenario hits multiple attack surfaces at once, and the answer is a composition of patterns across families — availability, identity and data — exactly the SC8 integrated-problem-solving the course assesses. Have pairs map needs to patterns before revealing the mapping. Emphasise that no single vendor product covers all three; the architecture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 both pattern lessons. Encrypt every connection and rebuild the perimeter in software. Segment the network and connect by exception. Layer DoS defences — filter, rate-limit and absorb, with bounded scaling. Federate authentication through a trust broker with conditional access. Centralise keys in a KMS/HSM with envelope and per-tenant keys. And, above all, compose patterns across families into defense in depth. Tell students this is the SC8 skill the assignment and exam assess. Preview: Lessons 10 and 11 shift from technical design to governance — policy, compliance, risk and reporting — the CLO3 material and the focus of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 both pattern lessons. One: network security patterns — secure connections, virtual perimeters and segmentation — protect traffic and confine breaches without owning the wires. Two: DoS-protection patterns keep availability under attack by filtering, rate-limiting and absorbing — with bounded scaling to avoid economic denial. Three: federated authentication patterns (trust broker, SSO gateway, conditional access) scale and enforce identity across boundaries. Four: key-management patterns (KMS/HSM, envelope, per-tenant keys) make encryption trustworthy at scale. And the overarching skill: compose patterns into defense in depth (SC8). Ask students to name a pattern from each family. Preview Lesson 10: policy, compliance and risk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prompts. The first surfaces Economic Denial of Sustainability — scaling keeps you up but bankrupts you, so filtering and rate limits are essential. The second draws out KMS/HSM, customer-managed and per-tenant keys as the crown-jewel controls. Preview Lesson 10, which shifts to governance and compliance (CLO3). Remind students the design-pattern composition skill (SC8) is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149"/>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93E7B">
              <a:alpha val="45000"/>
            </a:srgbClr>
          </a:solidFill>
          <a:ln/>
        </p:spPr>
      </p:sp>
      <p:sp>
        <p:nvSpPr>
          <p:cNvPr id="3" name="Shape 1"/>
          <p:cNvSpPr/>
          <p:nvPr/>
        </p:nvSpPr>
        <p:spPr>
          <a:xfrm>
            <a:off x="10881360" y="4297680"/>
            <a:ext cx="3108960" cy="3108960"/>
          </a:xfrm>
          <a:prstGeom prst="ellipse">
            <a:avLst/>
          </a:prstGeom>
          <a:solidFill>
            <a:srgbClr val="FABA32">
              <a:alpha val="22000"/>
            </a:srgbClr>
          </a:solidFill>
          <a:ln/>
        </p:spPr>
      </p:sp>
      <p:pic>
        <p:nvPicPr>
          <p:cNvPr id="4" name="Image 0" descr="preencoded.png">    </p:cNvPr>
          <p:cNvPicPr>
            <a:picLocks noChangeAspect="1"/>
          </p:cNvPicPr>
          <p:nvPr/>
        </p:nvPicPr>
        <p:blipFill>
          <a:blip r:embed="rId1"/>
          <a:stretch>
            <a:fillRect/>
          </a:stretch>
        </p:blipFill>
        <p:spPr>
          <a:xfrm>
            <a:off x="7818120" y="502920"/>
            <a:ext cx="4114800" cy="3820886"/>
          </a:xfrm>
          <a:prstGeom prst="rect">
            <a:avLst/>
          </a:prstGeom>
        </p:spPr>
      </p:pic>
      <p:pic>
        <p:nvPicPr>
          <p:cNvPr id="5" name="Image 1" descr="/sessions/inspiring-busy-dijkstra/mnt/outputs/build/assets/logo_white_trim.png">    </p:cNvPr>
          <p:cNvPicPr>
            <a:picLocks noChangeAspect="1"/>
          </p:cNvPicPr>
          <p:nvPr/>
        </p:nvPicPr>
        <p:blipFill>
          <a:blip r:embed="rId2"/>
          <a:stretch>
            <a:fillRect/>
          </a:stretch>
        </p:blipFill>
        <p:spPr>
          <a:xfrm>
            <a:off x="640080" y="502920"/>
            <a:ext cx="2331720" cy="1059423"/>
          </a:xfrm>
          <a:prstGeom prst="rect">
            <a:avLst/>
          </a:prstGeom>
        </p:spPr>
      </p:pic>
      <p:sp>
        <p:nvSpPr>
          <p:cNvPr id="6" name="Shape 2"/>
          <p:cNvSpPr/>
          <p:nvPr/>
        </p:nvSpPr>
        <p:spPr>
          <a:xfrm>
            <a:off x="640080" y="2788920"/>
            <a:ext cx="3063240" cy="457200"/>
          </a:xfrm>
          <a:prstGeom prst="roundRect">
            <a:avLst>
              <a:gd name="adj" fmla="val 16000"/>
            </a:avLst>
          </a:prstGeom>
          <a:solidFill>
            <a:srgbClr val="FABA32"/>
          </a:solidFill>
          <a:ln/>
        </p:spPr>
      </p:sp>
      <p:sp>
        <p:nvSpPr>
          <p:cNvPr id="7" name="Text 3"/>
          <p:cNvSpPr/>
          <p:nvPr/>
        </p:nvSpPr>
        <p:spPr>
          <a:xfrm>
            <a:off x="640080" y="2788920"/>
            <a:ext cx="3063240" cy="457200"/>
          </a:xfrm>
          <a:prstGeom prst="rect">
            <a:avLst/>
          </a:prstGeom>
          <a:noFill/>
          <a:ln/>
        </p:spPr>
        <p:txBody>
          <a:bodyPr wrap="square" lIns="0" tIns="0" rIns="0" bIns="0" rtlCol="0" anchor="ctr"/>
          <a:lstStyle/>
          <a:p>
            <a:pPr algn="ctr" indent="0" marL="0">
              <a:buNone/>
            </a:pPr>
            <a:r>
              <a:rPr lang="en-US" sz="1200" b="1" dirty="0">
                <a:solidFill>
                  <a:srgbClr val="262F65"/>
                </a:solidFill>
                <a:latin typeface="Calibri" pitchFamily="34" charset="0"/>
                <a:ea typeface="Calibri" pitchFamily="34" charset="-122"/>
                <a:cs typeface="Calibri" pitchFamily="34" charset="-120"/>
              </a:rPr>
              <a:t>IKB42603  •  Cloud Security</a:t>
            </a:r>
            <a:endParaRPr lang="en-US" sz="1200" dirty="0"/>
          </a:p>
        </p:txBody>
      </p:sp>
      <p:sp>
        <p:nvSpPr>
          <p:cNvPr id="8" name="Text 4"/>
          <p:cNvSpPr/>
          <p:nvPr/>
        </p:nvSpPr>
        <p:spPr>
          <a:xfrm>
            <a:off x="640080" y="3566160"/>
            <a:ext cx="10058400" cy="36576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WEEK 9 · LESSON 9</a:t>
            </a:r>
            <a:endParaRPr lang="en-US" sz="1500" dirty="0"/>
          </a:p>
        </p:txBody>
      </p:sp>
      <p:sp>
        <p:nvSpPr>
          <p:cNvPr id="9" name="Text 5"/>
          <p:cNvSpPr/>
          <p:nvPr/>
        </p:nvSpPr>
        <p:spPr>
          <a:xfrm>
            <a:off x="640080" y="3931920"/>
            <a:ext cx="7040880" cy="1691640"/>
          </a:xfrm>
          <a:prstGeom prst="rect">
            <a:avLst/>
          </a:prstGeom>
          <a:noFill/>
          <a:ln/>
        </p:spPr>
        <p:txBody>
          <a:bodyPr wrap="square" lIns="0" tIns="0" rIns="0" bIns="0" rtlCol="0" anchor="t"/>
          <a:lstStyle/>
          <a:p>
            <a:pPr indent="0" marL="0">
              <a:lnSpc>
                <a:spcPct val="102000"/>
              </a:lnSpc>
              <a:buNone/>
            </a:pPr>
            <a:r>
              <a:rPr lang="en-US" sz="3700" b="1" dirty="0">
                <a:solidFill>
                  <a:srgbClr val="FFFFFF"/>
                </a:solidFill>
                <a:latin typeface="Cambria" pitchFamily="34" charset="0"/>
                <a:ea typeface="Cambria" pitchFamily="34" charset="-122"/>
                <a:cs typeface="Cambria" pitchFamily="34" charset="-120"/>
              </a:rPr>
              <a:t>Cloud Computing Security Design Patterns II</a:t>
            </a:r>
            <a:endParaRPr lang="en-US" sz="3700" dirty="0"/>
          </a:p>
        </p:txBody>
      </p:sp>
      <p:sp>
        <p:nvSpPr>
          <p:cNvPr id="10" name="Text 6"/>
          <p:cNvSpPr/>
          <p:nvPr/>
        </p:nvSpPr>
        <p:spPr>
          <a:xfrm>
            <a:off x="640080" y="5623560"/>
            <a:ext cx="10424160" cy="640080"/>
          </a:xfrm>
          <a:prstGeom prst="rect">
            <a:avLst/>
          </a:prstGeom>
          <a:noFill/>
          <a:ln/>
        </p:spPr>
        <p:txBody>
          <a:bodyPr wrap="square" lIns="0" tIns="0" rIns="0" bIns="0" rtlCol="0" anchor="ctr"/>
          <a:lstStyle/>
          <a:p>
            <a:pPr indent="0" marL="0">
              <a:buNone/>
            </a:pPr>
            <a:r>
              <a:rPr lang="en-US" sz="1550" i="1" dirty="0">
                <a:solidFill>
                  <a:srgbClr val="B6E0F2"/>
                </a:solidFill>
                <a:latin typeface="Calibri" pitchFamily="34" charset="0"/>
                <a:ea typeface="Calibri" pitchFamily="34" charset="-122"/>
                <a:cs typeface="Calibri" pitchFamily="34" charset="-120"/>
              </a:rPr>
              <a:t>Network security · DoS protection · Federated authentication · Key management</a:t>
            </a:r>
            <a:endParaRPr lang="en-US" sz="1550" dirty="0"/>
          </a:p>
        </p:txBody>
      </p:sp>
      <p:sp>
        <p:nvSpPr>
          <p:cNvPr id="11" name="Text 7"/>
          <p:cNvSpPr/>
          <p:nvPr/>
        </p:nvSpPr>
        <p:spPr>
          <a:xfrm>
            <a:off x="640080" y="6355080"/>
            <a:ext cx="10972800" cy="320040"/>
          </a:xfrm>
          <a:prstGeom prst="rect">
            <a:avLst/>
          </a:prstGeom>
          <a:noFill/>
          <a:ln/>
        </p:spPr>
        <p:txBody>
          <a:bodyPr wrap="square" lIns="0" tIns="0" rIns="0" bIns="0" rtlCol="0" anchor="ctr"/>
          <a:lstStyle/>
          <a:p>
            <a:pPr indent="0" marL="0">
              <a:buNone/>
            </a:pPr>
            <a:r>
              <a:rPr lang="en-US" sz="1100" dirty="0">
                <a:solidFill>
                  <a:srgbClr val="9AA6C9"/>
                </a:solidFill>
                <a:latin typeface="Calibri" pitchFamily="34" charset="0"/>
                <a:ea typeface="Calibri" pitchFamily="34" charset="-122"/>
                <a:cs typeface="Calibri" pitchFamily="34" charset="-120"/>
              </a:rPr>
              <a:t>Universiti Kuala Lumpur  ·  UniKL MIIT   |   Prof. Dr. Shahrulniza Musa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LEARNING OUTCOMES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What you will be able to do</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a:t>
            </a:r>
            <a:endParaRPr lang="en-US" sz="900" dirty="0"/>
          </a:p>
        </p:txBody>
      </p:sp>
      <p:sp>
        <p:nvSpPr>
          <p:cNvPr id="7" name="Shape 4"/>
          <p:cNvSpPr/>
          <p:nvPr/>
        </p:nvSpPr>
        <p:spPr>
          <a:xfrm>
            <a:off x="640080" y="1783080"/>
            <a:ext cx="868680" cy="868680"/>
          </a:xfrm>
          <a:prstGeom prst="ellipse">
            <a:avLst/>
          </a:prstGeom>
          <a:solidFill>
            <a:srgbClr val="FABA32"/>
          </a:solidFill>
          <a:ln/>
        </p:spPr>
      </p:sp>
      <p:pic>
        <p:nvPicPr>
          <p:cNvPr id="8" name="Image 0" descr="preencoded.png">    </p:cNvPr>
          <p:cNvPicPr>
            <a:picLocks noChangeAspect="1"/>
          </p:cNvPicPr>
          <p:nvPr/>
        </p:nvPicPr>
        <p:blipFill>
          <a:blip r:embed="rId1"/>
          <a:stretch>
            <a:fillRect/>
          </a:stretch>
        </p:blipFill>
        <p:spPr>
          <a:xfrm>
            <a:off x="848563" y="1991563"/>
            <a:ext cx="451714" cy="451714"/>
          </a:xfrm>
          <a:prstGeom prst="rect">
            <a:avLst/>
          </a:prstGeom>
        </p:spPr>
      </p:pic>
      <p:sp>
        <p:nvSpPr>
          <p:cNvPr id="9" name="Shape 5"/>
          <p:cNvSpPr/>
          <p:nvPr/>
        </p:nvSpPr>
        <p:spPr>
          <a:xfrm>
            <a:off x="173736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0" name="Text 6"/>
          <p:cNvSpPr/>
          <p:nvPr/>
        </p:nvSpPr>
        <p:spPr>
          <a:xfrm>
            <a:off x="196596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1.  </a:t>
            </a:r>
            <a:pPr indent="0" marL="0">
              <a:buNone/>
            </a:pPr>
            <a:r>
              <a:rPr lang="en-US" sz="1450" b="1" dirty="0">
                <a:solidFill>
                  <a:srgbClr val="262F65"/>
                </a:solidFill>
                <a:latin typeface="Calibri" pitchFamily="34" charset="0"/>
                <a:ea typeface="Calibri" pitchFamily="34" charset="-122"/>
                <a:cs typeface="Calibri" pitchFamily="34" charset="-120"/>
              </a:rPr>
              <a:t>Apply network security patterns</a:t>
            </a:r>
            <a:endParaRPr lang="en-US" sz="1450" dirty="0"/>
          </a:p>
        </p:txBody>
      </p:sp>
      <p:sp>
        <p:nvSpPr>
          <p:cNvPr id="11" name="Text 7"/>
          <p:cNvSpPr/>
          <p:nvPr/>
        </p:nvSpPr>
        <p:spPr>
          <a:xfrm>
            <a:off x="196596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Secure connections and virtual perimeters.</a:t>
            </a:r>
            <a:endParaRPr lang="en-US" sz="1200" dirty="0"/>
          </a:p>
        </p:txBody>
      </p:sp>
      <p:sp>
        <p:nvSpPr>
          <p:cNvPr id="12" name="Shape 8"/>
          <p:cNvSpPr/>
          <p:nvPr/>
        </p:nvSpPr>
        <p:spPr>
          <a:xfrm>
            <a:off x="7315200" y="1645920"/>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3" name="Text 9"/>
          <p:cNvSpPr/>
          <p:nvPr/>
        </p:nvSpPr>
        <p:spPr>
          <a:xfrm>
            <a:off x="7543800" y="1810512"/>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2.  </a:t>
            </a:r>
            <a:pPr indent="0" marL="0">
              <a:buNone/>
            </a:pPr>
            <a:r>
              <a:rPr lang="en-US" sz="1450" b="1" dirty="0">
                <a:solidFill>
                  <a:srgbClr val="262F65"/>
                </a:solidFill>
                <a:latin typeface="Calibri" pitchFamily="34" charset="0"/>
                <a:ea typeface="Calibri" pitchFamily="34" charset="-122"/>
                <a:cs typeface="Calibri" pitchFamily="34" charset="-120"/>
              </a:rPr>
              <a:t>Apply DoS protection patterns</a:t>
            </a:r>
            <a:endParaRPr lang="en-US" sz="1450" dirty="0"/>
          </a:p>
        </p:txBody>
      </p:sp>
      <p:sp>
        <p:nvSpPr>
          <p:cNvPr id="14" name="Text 10"/>
          <p:cNvSpPr/>
          <p:nvPr/>
        </p:nvSpPr>
        <p:spPr>
          <a:xfrm>
            <a:off x="7543800" y="2304288"/>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Absorb, filter and rate-limit attacks.</a:t>
            </a:r>
            <a:endParaRPr lang="en-US" sz="1200" dirty="0"/>
          </a:p>
        </p:txBody>
      </p:sp>
      <p:sp>
        <p:nvSpPr>
          <p:cNvPr id="15" name="Shape 11"/>
          <p:cNvSpPr/>
          <p:nvPr/>
        </p:nvSpPr>
        <p:spPr>
          <a:xfrm>
            <a:off x="173736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6" name="Text 12"/>
          <p:cNvSpPr/>
          <p:nvPr/>
        </p:nvSpPr>
        <p:spPr>
          <a:xfrm>
            <a:off x="196596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3.  </a:t>
            </a:r>
            <a:pPr indent="0" marL="0">
              <a:buNone/>
            </a:pPr>
            <a:r>
              <a:rPr lang="en-US" sz="1450" b="1" dirty="0">
                <a:solidFill>
                  <a:srgbClr val="262F65"/>
                </a:solidFill>
                <a:latin typeface="Calibri" pitchFamily="34" charset="0"/>
                <a:ea typeface="Calibri" pitchFamily="34" charset="-122"/>
                <a:cs typeface="Calibri" pitchFamily="34" charset="-120"/>
              </a:rPr>
              <a:t>Apply federated authentication patterns</a:t>
            </a:r>
            <a:endParaRPr lang="en-US" sz="1450" dirty="0"/>
          </a:p>
        </p:txBody>
      </p:sp>
      <p:sp>
        <p:nvSpPr>
          <p:cNvPr id="17" name="Text 13"/>
          <p:cNvSpPr/>
          <p:nvPr/>
        </p:nvSpPr>
        <p:spPr>
          <a:xfrm>
            <a:off x="196596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Trust brokers and identity federation.</a:t>
            </a:r>
            <a:endParaRPr lang="en-US" sz="1200" dirty="0"/>
          </a:p>
        </p:txBody>
      </p:sp>
      <p:sp>
        <p:nvSpPr>
          <p:cNvPr id="18" name="Shape 14"/>
          <p:cNvSpPr/>
          <p:nvPr/>
        </p:nvSpPr>
        <p:spPr>
          <a:xfrm>
            <a:off x="7315200" y="3182112"/>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19" name="Text 15"/>
          <p:cNvSpPr/>
          <p:nvPr/>
        </p:nvSpPr>
        <p:spPr>
          <a:xfrm>
            <a:off x="7543800" y="3346704"/>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4.  </a:t>
            </a:r>
            <a:pPr indent="0" marL="0">
              <a:buNone/>
            </a:pPr>
            <a:r>
              <a:rPr lang="en-US" sz="1450" b="1" dirty="0">
                <a:solidFill>
                  <a:srgbClr val="262F65"/>
                </a:solidFill>
                <a:latin typeface="Calibri" pitchFamily="34" charset="0"/>
                <a:ea typeface="Calibri" pitchFamily="34" charset="-122"/>
                <a:cs typeface="Calibri" pitchFamily="34" charset="-120"/>
              </a:rPr>
              <a:t>Apply key management patterns</a:t>
            </a:r>
            <a:endParaRPr lang="en-US" sz="1450" dirty="0"/>
          </a:p>
        </p:txBody>
      </p:sp>
      <p:sp>
        <p:nvSpPr>
          <p:cNvPr id="20" name="Text 16"/>
          <p:cNvSpPr/>
          <p:nvPr/>
        </p:nvSpPr>
        <p:spPr>
          <a:xfrm>
            <a:off x="7543800" y="3840480"/>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KMS, HSM and envelope encryption.</a:t>
            </a:r>
            <a:endParaRPr lang="en-US" sz="1200" dirty="0"/>
          </a:p>
        </p:txBody>
      </p:sp>
      <p:sp>
        <p:nvSpPr>
          <p:cNvPr id="21" name="Shape 17"/>
          <p:cNvSpPr/>
          <p:nvPr/>
        </p:nvSpPr>
        <p:spPr>
          <a:xfrm>
            <a:off x="173736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2" name="Text 18"/>
          <p:cNvSpPr/>
          <p:nvPr/>
        </p:nvSpPr>
        <p:spPr>
          <a:xfrm>
            <a:off x="196596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5.  </a:t>
            </a:r>
            <a:pPr indent="0" marL="0">
              <a:buNone/>
            </a:pPr>
            <a:r>
              <a:rPr lang="en-US" sz="1450" b="1" dirty="0">
                <a:solidFill>
                  <a:srgbClr val="262F65"/>
                </a:solidFill>
                <a:latin typeface="Calibri" pitchFamily="34" charset="0"/>
                <a:ea typeface="Calibri" pitchFamily="34" charset="-122"/>
                <a:cs typeface="Calibri" pitchFamily="34" charset="-120"/>
              </a:rPr>
              <a:t>Compose patterns into architectures</a:t>
            </a:r>
            <a:endParaRPr lang="en-US" sz="1450" dirty="0"/>
          </a:p>
        </p:txBody>
      </p:sp>
      <p:sp>
        <p:nvSpPr>
          <p:cNvPr id="23" name="Text 19"/>
          <p:cNvSpPr/>
          <p:nvPr/>
        </p:nvSpPr>
        <p:spPr>
          <a:xfrm>
            <a:off x="196596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Layered, resilient designs (SC8).</a:t>
            </a:r>
            <a:endParaRPr lang="en-US" sz="1200" dirty="0"/>
          </a:p>
        </p:txBody>
      </p:sp>
      <p:sp>
        <p:nvSpPr>
          <p:cNvPr id="24" name="Shape 20"/>
          <p:cNvSpPr/>
          <p:nvPr/>
        </p:nvSpPr>
        <p:spPr>
          <a:xfrm>
            <a:off x="7315200" y="4718304"/>
            <a:ext cx="5257800" cy="1417320"/>
          </a:xfrm>
          <a:prstGeom prst="roundRect">
            <a:avLst>
              <a:gd name="adj" fmla="val 5806"/>
            </a:avLst>
          </a:prstGeom>
          <a:solidFill>
            <a:srgbClr val="F4F6FB"/>
          </a:solidFill>
          <a:ln/>
          <a:effectLst>
            <a:outerShdw sx="100000" sy="100000" kx="0" ky="0" algn="bl" rotWithShape="0" blurRad="88900" dist="38100" dir="5400000">
              <a:srgbClr val="8894AD">
                <a:alpha val="28000"/>
              </a:srgbClr>
            </a:outerShdw>
          </a:effectLst>
        </p:spPr>
      </p:sp>
      <p:sp>
        <p:nvSpPr>
          <p:cNvPr id="25" name="Text 21"/>
          <p:cNvSpPr/>
          <p:nvPr/>
        </p:nvSpPr>
        <p:spPr>
          <a:xfrm>
            <a:off x="7543800" y="4882896"/>
            <a:ext cx="4800600" cy="457200"/>
          </a:xfrm>
          <a:prstGeom prst="rect">
            <a:avLst/>
          </a:prstGeom>
          <a:noFill/>
          <a:ln/>
        </p:spPr>
        <p:txBody>
          <a:bodyPr wrap="square" lIns="0" tIns="0" rIns="0" bIns="0" rtlCol="0" anchor="t"/>
          <a:lstStyle/>
          <a:p>
            <a:pPr indent="0" marL="0">
              <a:buNone/>
            </a:pPr>
            <a:r>
              <a:rPr lang="en-US" sz="1450" b="1" dirty="0">
                <a:solidFill>
                  <a:srgbClr val="F2931F"/>
                </a:solidFill>
                <a:latin typeface="Calibri" pitchFamily="34" charset="0"/>
                <a:ea typeface="Calibri" pitchFamily="34" charset="-122"/>
                <a:cs typeface="Calibri" pitchFamily="34" charset="-120"/>
              </a:rPr>
              <a:t>6.  </a:t>
            </a:r>
            <a:pPr indent="0" marL="0">
              <a:buNone/>
            </a:pPr>
            <a:r>
              <a:rPr lang="en-US" sz="1450" b="1" dirty="0">
                <a:solidFill>
                  <a:srgbClr val="262F65"/>
                </a:solidFill>
                <a:latin typeface="Calibri" pitchFamily="34" charset="0"/>
                <a:ea typeface="Calibri" pitchFamily="34" charset="-122"/>
                <a:cs typeface="Calibri" pitchFamily="34" charset="-120"/>
              </a:rPr>
              <a:t>Justify pattern trade-offs</a:t>
            </a:r>
            <a:endParaRPr lang="en-US" sz="1450" dirty="0"/>
          </a:p>
        </p:txBody>
      </p:sp>
      <p:sp>
        <p:nvSpPr>
          <p:cNvPr id="26" name="Text 22"/>
          <p:cNvSpPr/>
          <p:nvPr/>
        </p:nvSpPr>
        <p:spPr>
          <a:xfrm>
            <a:off x="7543800" y="5376672"/>
            <a:ext cx="4800600" cy="658368"/>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Cost, complexity and resilience.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CONSTRUCTIVE ALIGNMENT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Curriculum alignment — CLO · PLO · MQF · clusters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508760"/>
            <a:ext cx="10881360" cy="1325880"/>
          </a:xfrm>
          <a:prstGeom prst="roundRect">
            <a:avLst>
              <a:gd name="adj" fmla="val 6207"/>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1847088"/>
            <a:ext cx="1600200" cy="658368"/>
          </a:xfrm>
          <a:prstGeom prst="roundRect">
            <a:avLst>
              <a:gd name="adj" fmla="val 13889"/>
            </a:avLst>
          </a:prstGeom>
          <a:solidFill>
            <a:srgbClr val="FABA32"/>
          </a:solidFill>
          <a:ln/>
        </p:spPr>
      </p:sp>
      <p:sp>
        <p:nvSpPr>
          <p:cNvPr id="9" name="Text 6"/>
          <p:cNvSpPr/>
          <p:nvPr/>
        </p:nvSpPr>
        <p:spPr>
          <a:xfrm>
            <a:off x="960120" y="1847088"/>
            <a:ext cx="1600200" cy="658368"/>
          </a:xfrm>
          <a:prstGeom prst="rect">
            <a:avLst/>
          </a:prstGeom>
          <a:noFill/>
          <a:ln/>
        </p:spPr>
        <p:txBody>
          <a:bodyPr wrap="square" lIns="0" tIns="0" rIns="0" bIns="0" rtlCol="0" anchor="ctr"/>
          <a:lstStyle/>
          <a:p>
            <a:pPr algn="ctr" indent="0" marL="0">
              <a:buNone/>
            </a:pPr>
            <a:r>
              <a:rPr lang="en-US" sz="2100" b="1" dirty="0">
                <a:solidFill>
                  <a:srgbClr val="262F65"/>
                </a:solidFill>
                <a:latin typeface="Cambria" pitchFamily="34" charset="0"/>
                <a:ea typeface="Cambria" pitchFamily="34" charset="-122"/>
                <a:cs typeface="Cambria" pitchFamily="34" charset="-120"/>
              </a:rPr>
              <a:t>CLO 2</a:t>
            </a:r>
            <a:endParaRPr lang="en-US" sz="2100" dirty="0"/>
          </a:p>
        </p:txBody>
      </p:sp>
      <p:sp>
        <p:nvSpPr>
          <p:cNvPr id="10" name="Text 7"/>
          <p:cNvSpPr/>
          <p:nvPr/>
        </p:nvSpPr>
        <p:spPr>
          <a:xfrm>
            <a:off x="2788920" y="1691640"/>
            <a:ext cx="8366760" cy="96012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Construct secure cloud computing operations that safeguard data integrity.</a:t>
            </a:r>
            <a:endParaRPr lang="en-US" sz="1550" dirty="0"/>
          </a:p>
        </p:txBody>
      </p:sp>
      <p:sp>
        <p:nvSpPr>
          <p:cNvPr id="11" name="Shape 8"/>
          <p:cNvSpPr/>
          <p:nvPr/>
        </p:nvSpPr>
        <p:spPr>
          <a:xfrm>
            <a:off x="640080"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2" name="Shape 9"/>
          <p:cNvSpPr/>
          <p:nvPr/>
        </p:nvSpPr>
        <p:spPr>
          <a:xfrm>
            <a:off x="2002536" y="3383280"/>
            <a:ext cx="731520" cy="731520"/>
          </a:xfrm>
          <a:prstGeom prst="ellipse">
            <a:avLst/>
          </a:prstGeom>
          <a:solidFill>
            <a:srgbClr val="262F65"/>
          </a:solidFill>
          <a:ln/>
        </p:spPr>
      </p:sp>
      <p:pic>
        <p:nvPicPr>
          <p:cNvPr id="13" name="Image 0" descr="preencoded.png">    </p:cNvPr>
          <p:cNvPicPr>
            <a:picLocks noChangeAspect="1"/>
          </p:cNvPicPr>
          <p:nvPr/>
        </p:nvPicPr>
        <p:blipFill>
          <a:blip r:embed="rId1"/>
          <a:stretch>
            <a:fillRect/>
          </a:stretch>
        </p:blipFill>
        <p:spPr>
          <a:xfrm>
            <a:off x="2178101" y="3558845"/>
            <a:ext cx="380390" cy="380390"/>
          </a:xfrm>
          <a:prstGeom prst="rect">
            <a:avLst/>
          </a:prstGeom>
        </p:spPr>
      </p:pic>
      <p:sp>
        <p:nvSpPr>
          <p:cNvPr id="14" name="Text 10"/>
          <p:cNvSpPr/>
          <p:nvPr/>
        </p:nvSpPr>
        <p:spPr>
          <a:xfrm>
            <a:off x="731520"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Programme outcome</a:t>
            </a:r>
            <a:endParaRPr lang="en-US" sz="1300" dirty="0"/>
          </a:p>
        </p:txBody>
      </p:sp>
      <p:sp>
        <p:nvSpPr>
          <p:cNvPr id="15" name="Text 11"/>
          <p:cNvSpPr/>
          <p:nvPr/>
        </p:nvSpPr>
        <p:spPr>
          <a:xfrm>
            <a:off x="749808"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PLO2 · Cognitive Skills</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MQF Level iii(a)</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Bloom P3 (Precision)</a:t>
            </a:r>
            <a:endParaRPr lang="en-US" sz="1100" dirty="0"/>
          </a:p>
        </p:txBody>
      </p:sp>
      <p:sp>
        <p:nvSpPr>
          <p:cNvPr id="16" name="Shape 12"/>
          <p:cNvSpPr/>
          <p:nvPr/>
        </p:nvSpPr>
        <p:spPr>
          <a:xfrm>
            <a:off x="4352544"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17" name="Shape 13"/>
          <p:cNvSpPr/>
          <p:nvPr/>
        </p:nvSpPr>
        <p:spPr>
          <a:xfrm>
            <a:off x="5715000" y="3383280"/>
            <a:ext cx="731520" cy="731520"/>
          </a:xfrm>
          <a:prstGeom prst="ellipse">
            <a:avLst/>
          </a:prstGeom>
          <a:solidFill>
            <a:srgbClr val="F2931F"/>
          </a:solidFill>
          <a:ln/>
        </p:spPr>
      </p:sp>
      <p:pic>
        <p:nvPicPr>
          <p:cNvPr id="18" name="Image 1" descr="preencoded.png">    </p:cNvPr>
          <p:cNvPicPr>
            <a:picLocks noChangeAspect="1"/>
          </p:cNvPicPr>
          <p:nvPr/>
        </p:nvPicPr>
        <p:blipFill>
          <a:blip r:embed="rId2"/>
          <a:stretch>
            <a:fillRect/>
          </a:stretch>
        </p:blipFill>
        <p:spPr>
          <a:xfrm>
            <a:off x="5890565" y="3558845"/>
            <a:ext cx="380390" cy="380390"/>
          </a:xfrm>
          <a:prstGeom prst="rect">
            <a:avLst/>
          </a:prstGeom>
        </p:spPr>
      </p:pic>
      <p:sp>
        <p:nvSpPr>
          <p:cNvPr id="19" name="Text 14"/>
          <p:cNvSpPr/>
          <p:nvPr/>
        </p:nvSpPr>
        <p:spPr>
          <a:xfrm>
            <a:off x="4443984"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Values &amp; skills</a:t>
            </a:r>
            <a:endParaRPr lang="en-US" sz="1300" dirty="0"/>
          </a:p>
        </p:txBody>
      </p:sp>
      <p:sp>
        <p:nvSpPr>
          <p:cNvPr id="20" name="Text 15"/>
          <p:cNvSpPr/>
          <p:nvPr/>
        </p:nvSpPr>
        <p:spPr>
          <a:xfrm>
            <a:off x="4462272"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SC8 · Integrated Problem-Solving</a:t>
            </a:r>
            <a:endParaRPr lang="en-US" sz="1100" dirty="0"/>
          </a:p>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VBE3 · Integrity</a:t>
            </a:r>
            <a:endParaRPr lang="en-US" sz="1100" dirty="0"/>
          </a:p>
        </p:txBody>
      </p:sp>
      <p:sp>
        <p:nvSpPr>
          <p:cNvPr id="21" name="Shape 16"/>
          <p:cNvSpPr/>
          <p:nvPr/>
        </p:nvSpPr>
        <p:spPr>
          <a:xfrm>
            <a:off x="8065008" y="3108960"/>
            <a:ext cx="3456432" cy="2514600"/>
          </a:xfrm>
          <a:prstGeom prst="roundRect">
            <a:avLst>
              <a:gd name="adj" fmla="val 3273"/>
            </a:avLst>
          </a:prstGeom>
          <a:solidFill>
            <a:srgbClr val="F4F6FB"/>
          </a:solidFill>
          <a:ln/>
          <a:effectLst>
            <a:outerShdw sx="100000" sy="100000" kx="0" ky="0" algn="bl" rotWithShape="0" blurRad="88900" dist="38100" dir="5400000">
              <a:srgbClr val="8894AD">
                <a:alpha val="28000"/>
              </a:srgbClr>
            </a:outerShdw>
          </a:effectLst>
        </p:spPr>
      </p:sp>
      <p:sp>
        <p:nvSpPr>
          <p:cNvPr id="22" name="Shape 17"/>
          <p:cNvSpPr/>
          <p:nvPr/>
        </p:nvSpPr>
        <p:spPr>
          <a:xfrm>
            <a:off x="9427464" y="3383280"/>
            <a:ext cx="731520" cy="731520"/>
          </a:xfrm>
          <a:prstGeom prst="ellipse">
            <a:avLst/>
          </a:prstGeom>
          <a:solidFill>
            <a:srgbClr val="262F65"/>
          </a:solidFill>
          <a:ln/>
        </p:spPr>
      </p:sp>
      <p:pic>
        <p:nvPicPr>
          <p:cNvPr id="23" name="Image 2" descr="preencoded.png">    </p:cNvPr>
          <p:cNvPicPr>
            <a:picLocks noChangeAspect="1"/>
          </p:cNvPicPr>
          <p:nvPr/>
        </p:nvPicPr>
        <p:blipFill>
          <a:blip r:embed="rId3"/>
          <a:stretch>
            <a:fillRect/>
          </a:stretch>
        </p:blipFill>
        <p:spPr>
          <a:xfrm>
            <a:off x="9603029" y="3558845"/>
            <a:ext cx="380390" cy="380390"/>
          </a:xfrm>
          <a:prstGeom prst="rect">
            <a:avLst/>
          </a:prstGeom>
        </p:spPr>
      </p:pic>
      <p:sp>
        <p:nvSpPr>
          <p:cNvPr id="24" name="Text 18"/>
          <p:cNvSpPr/>
          <p:nvPr/>
        </p:nvSpPr>
        <p:spPr>
          <a:xfrm>
            <a:off x="8156448" y="4206240"/>
            <a:ext cx="3273552" cy="457200"/>
          </a:xfrm>
          <a:prstGeom prst="rect">
            <a:avLst/>
          </a:prstGeom>
          <a:noFill/>
          <a:ln/>
        </p:spPr>
        <p:txBody>
          <a:bodyPr wrap="square" lIns="0" tIns="0" rIns="0" bIns="0" rtlCol="0" anchor="t"/>
          <a:lstStyle/>
          <a:p>
            <a:pPr algn="ctr" indent="0" marL="0">
              <a:buNone/>
            </a:pPr>
            <a:r>
              <a:rPr lang="en-US" sz="1300" b="1" dirty="0">
                <a:solidFill>
                  <a:srgbClr val="262F65"/>
                </a:solidFill>
                <a:latin typeface="Calibri" pitchFamily="34" charset="0"/>
                <a:ea typeface="Calibri" pitchFamily="34" charset="-122"/>
                <a:cs typeface="Calibri" pitchFamily="34" charset="-120"/>
              </a:rPr>
              <a:t>Assessment</a:t>
            </a:r>
            <a:endParaRPr lang="en-US" sz="1300" dirty="0"/>
          </a:p>
        </p:txBody>
      </p:sp>
      <p:sp>
        <p:nvSpPr>
          <p:cNvPr id="25" name="Text 19"/>
          <p:cNvSpPr/>
          <p:nvPr/>
        </p:nvSpPr>
        <p:spPr>
          <a:xfrm>
            <a:off x="8174736" y="4681728"/>
            <a:ext cx="3236976" cy="822960"/>
          </a:xfrm>
          <a:prstGeom prst="rect">
            <a:avLst/>
          </a:prstGeom>
          <a:noFill/>
          <a:ln/>
        </p:spPr>
        <p:txBody>
          <a:bodyPr wrap="square" lIns="0" tIns="0" rIns="0" bIns="0" rtlCol="0" anchor="t"/>
          <a:lstStyle/>
          <a:p>
            <a:pPr algn="ctr" indent="0" marL="0">
              <a:lnSpc>
                <a:spcPct val="115000"/>
              </a:lnSpc>
              <a:buNone/>
            </a:pPr>
            <a:r>
              <a:rPr lang="en-US" sz="1100" dirty="0">
                <a:solidFill>
                  <a:srgbClr val="23283A"/>
                </a:solidFill>
                <a:latin typeface="Calibri" pitchFamily="34" charset="0"/>
                <a:ea typeface="Calibri" pitchFamily="34" charset="-122"/>
                <a:cs typeface="Calibri" pitchFamily="34" charset="-120"/>
              </a:rPr>
              <a:t>Lab Assignment (CLO2)</a:t>
            </a:r>
            <a:endParaRPr lang="en-US" sz="1100" dirty="0"/>
          </a:p>
        </p:txBody>
      </p:sp>
      <p:sp>
        <p:nvSpPr>
          <p:cNvPr id="26" name="Text 20"/>
          <p:cNvSpPr/>
          <p:nvPr/>
        </p:nvSpPr>
        <p:spPr>
          <a:xfrm>
            <a:off x="640080" y="5806440"/>
            <a:ext cx="10881360" cy="411480"/>
          </a:xfrm>
          <a:prstGeom prst="rect">
            <a:avLst/>
          </a:prstGeom>
          <a:noFill/>
          <a:ln/>
        </p:spPr>
        <p:txBody>
          <a:bodyPr wrap="square" lIns="0" tIns="0" rIns="0" bIns="0" rtlCol="0" anchor="ctr"/>
          <a:lstStyle/>
          <a:p>
            <a:pPr algn="ctr" indent="0" marL="0">
              <a:buNone/>
            </a:pPr>
            <a:r>
              <a:rPr lang="en-US" sz="1200" i="1" dirty="0">
                <a:solidFill>
                  <a:srgbClr val="5B6472"/>
                </a:solidFill>
                <a:latin typeface="Calibri" pitchFamily="34" charset="0"/>
                <a:ea typeface="Calibri" pitchFamily="34" charset="-122"/>
                <a:cs typeface="Calibri" pitchFamily="34" charset="-120"/>
              </a:rPr>
              <a:t>Constructive alignment: CLO → PLO → MQF, with VBE (values) and SC (skills) clusters, assessed as shown.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01</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1</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Network Security Patterns</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PATTERN — SECURE CONNECTION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Secure connection &amp; virtual perimeter</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Secure connection</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Encrypt &amp; authenticate traffic in transit.</a:t>
            </a:r>
            <a:endParaRPr lang="en-US" sz="1250" dirty="0"/>
          </a:p>
        </p:txBody>
      </p:sp>
      <p:sp>
        <p:nvSpPr>
          <p:cNvPr id="12" name="Shape 8"/>
          <p:cNvSpPr/>
          <p:nvPr/>
        </p:nvSpPr>
        <p:spPr>
          <a:xfrm>
            <a:off x="1005840" y="3767328"/>
            <a:ext cx="128016" cy="128016"/>
          </a:xfrm>
          <a:prstGeom prst="ellipse">
            <a:avLst/>
          </a:prstGeom>
          <a:solidFill>
            <a:srgbClr val="262F65"/>
          </a:solidFill>
          <a:ln/>
        </p:spPr>
      </p:sp>
      <p:sp>
        <p:nvSpPr>
          <p:cNvPr id="13" name="Text 9"/>
          <p:cNvSpPr/>
          <p:nvPr/>
        </p:nvSpPr>
        <p:spPr>
          <a:xfrm>
            <a:off x="1280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TLS for application traffic — </a:t>
            </a:r>
            <a:pPr indent="0" marL="0">
              <a:buNone/>
            </a:pPr>
            <a:endParaRPr lang="en-US" sz="1250" dirty="0"/>
          </a:p>
        </p:txBody>
      </p:sp>
      <p:sp>
        <p:nvSpPr>
          <p:cNvPr id="14" name="Shape 10"/>
          <p:cNvSpPr/>
          <p:nvPr/>
        </p:nvSpPr>
        <p:spPr>
          <a:xfrm>
            <a:off x="1005840" y="4334256"/>
            <a:ext cx="128016" cy="128016"/>
          </a:xfrm>
          <a:prstGeom prst="ellipse">
            <a:avLst/>
          </a:prstGeom>
          <a:solidFill>
            <a:srgbClr val="262F65"/>
          </a:solidFill>
          <a:ln/>
        </p:spPr>
      </p:sp>
      <p:sp>
        <p:nvSpPr>
          <p:cNvPr id="15" name="Text 11"/>
          <p:cNvSpPr/>
          <p:nvPr/>
        </p:nvSpPr>
        <p:spPr>
          <a:xfrm>
            <a:off x="1280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VPN / private links for networks — </a:t>
            </a:r>
            <a:pPr indent="0" marL="0">
              <a:buNone/>
            </a:pPr>
            <a:endParaRPr lang="en-US" sz="1250" dirty="0"/>
          </a:p>
        </p:txBody>
      </p:sp>
      <p:sp>
        <p:nvSpPr>
          <p:cNvPr id="16" name="Shape 12"/>
          <p:cNvSpPr/>
          <p:nvPr/>
        </p:nvSpPr>
        <p:spPr>
          <a:xfrm>
            <a:off x="1005840" y="4901184"/>
            <a:ext cx="128016" cy="128016"/>
          </a:xfrm>
          <a:prstGeom prst="ellipse">
            <a:avLst/>
          </a:prstGeom>
          <a:solidFill>
            <a:srgbClr val="262F65"/>
          </a:solidFill>
          <a:ln/>
        </p:spPr>
      </p:sp>
      <p:sp>
        <p:nvSpPr>
          <p:cNvPr id="17" name="Text 13"/>
          <p:cNvSpPr/>
          <p:nvPr/>
        </p:nvSpPr>
        <p:spPr>
          <a:xfrm>
            <a:off x="1280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Defeats eavesdropping &amp; MITM — </a:t>
            </a:r>
            <a:pPr indent="0" marL="0">
              <a:buNone/>
            </a:pPr>
            <a:endParaRPr lang="en-US" sz="1250" dirty="0"/>
          </a:p>
        </p:txBody>
      </p:sp>
      <p:sp>
        <p:nvSpPr>
          <p:cNvPr id="18" name="Shape 14"/>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868680" cy="868680"/>
          </a:xfrm>
          <a:prstGeom prst="ellipse">
            <a:avLst/>
          </a:prstGeom>
          <a:solidFill>
            <a:srgbClr val="F2931F"/>
          </a:solidFill>
          <a:ln/>
        </p:spPr>
      </p:sp>
      <p:pic>
        <p:nvPicPr>
          <p:cNvPr id="20"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Virtual perimeter</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A firewall boundary rebuilt in software.</a:t>
            </a:r>
            <a:endParaRPr lang="en-US" sz="1250" dirty="0"/>
          </a:p>
        </p:txBody>
      </p:sp>
      <p:sp>
        <p:nvSpPr>
          <p:cNvPr id="23" name="Shape 18"/>
          <p:cNvSpPr/>
          <p:nvPr/>
        </p:nvSpPr>
        <p:spPr>
          <a:xfrm>
            <a:off x="6720840" y="3767328"/>
            <a:ext cx="128016" cy="128016"/>
          </a:xfrm>
          <a:prstGeom prst="ellipse">
            <a:avLst/>
          </a:prstGeom>
          <a:solidFill>
            <a:srgbClr val="F2931F"/>
          </a:solidFill>
          <a:ln/>
        </p:spPr>
      </p:sp>
      <p:sp>
        <p:nvSpPr>
          <p:cNvPr id="24" name="Text 19"/>
          <p:cNvSpPr/>
          <p:nvPr/>
        </p:nvSpPr>
        <p:spPr>
          <a:xfrm>
            <a:off x="6995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Virtual firewalls &amp; security groups — </a:t>
            </a:r>
            <a:pPr indent="0" marL="0">
              <a:buNone/>
            </a:pPr>
            <a:endParaRPr lang="en-US" sz="1250" dirty="0"/>
          </a:p>
        </p:txBody>
      </p:sp>
      <p:sp>
        <p:nvSpPr>
          <p:cNvPr id="25" name="Shape 20"/>
          <p:cNvSpPr/>
          <p:nvPr/>
        </p:nvSpPr>
        <p:spPr>
          <a:xfrm>
            <a:off x="6720840" y="4334256"/>
            <a:ext cx="128016" cy="128016"/>
          </a:xfrm>
          <a:prstGeom prst="ellipse">
            <a:avLst/>
          </a:prstGeom>
          <a:solidFill>
            <a:srgbClr val="F2931F"/>
          </a:solidFill>
          <a:ln/>
        </p:spPr>
      </p:sp>
      <p:sp>
        <p:nvSpPr>
          <p:cNvPr id="26" name="Text 21"/>
          <p:cNvSpPr/>
          <p:nvPr/>
        </p:nvSpPr>
        <p:spPr>
          <a:xfrm>
            <a:off x="6995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Default-deny, least privilege — </a:t>
            </a:r>
            <a:pPr indent="0" marL="0">
              <a:buNone/>
            </a:pPr>
            <a:endParaRPr lang="en-US" sz="1250" dirty="0"/>
          </a:p>
        </p:txBody>
      </p:sp>
      <p:sp>
        <p:nvSpPr>
          <p:cNvPr id="27" name="Shape 22"/>
          <p:cNvSpPr/>
          <p:nvPr/>
        </p:nvSpPr>
        <p:spPr>
          <a:xfrm>
            <a:off x="6720840" y="4901184"/>
            <a:ext cx="128016" cy="128016"/>
          </a:xfrm>
          <a:prstGeom prst="ellipse">
            <a:avLst/>
          </a:prstGeom>
          <a:solidFill>
            <a:srgbClr val="F2931F"/>
          </a:solidFill>
          <a:ln/>
        </p:spPr>
      </p:sp>
      <p:sp>
        <p:nvSpPr>
          <p:cNvPr id="28" name="Text 23"/>
          <p:cNvSpPr/>
          <p:nvPr/>
        </p:nvSpPr>
        <p:spPr>
          <a:xfrm>
            <a:off x="6995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Easy to apply — easy to misconfigure — </a:t>
            </a:r>
            <a:pPr indent="0" marL="0">
              <a:buNone/>
            </a:pP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PATTERN — SEGMENTATION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Segmentation &amp; micro-perimeters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Virtual Private Cloud</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Each environment gets its own isolated network space.</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Tier segmentation</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Separate web / app / data tiers — internet can't reach data directly.</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Micro-segmentation</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Isolate each workload — zero trust for the network.</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50" b="1" dirty="0">
                <a:solidFill>
                  <a:srgbClr val="F2931F"/>
                </a:solidFill>
                <a:latin typeface="Calibri" pitchFamily="34" charset="0"/>
                <a:ea typeface="Calibri" pitchFamily="34" charset="-122"/>
                <a:cs typeface="Calibri" pitchFamily="34" charset="-120"/>
              </a:rPr>
              <a:t>Design habit:  </a:t>
            </a:r>
            <a:pPr algn="ctr" indent="0" marL="0">
              <a:buNone/>
            </a:pPr>
            <a:r>
              <a:rPr lang="en-US" sz="1350" i="1" dirty="0">
                <a:solidFill>
                  <a:srgbClr val="262F65"/>
                </a:solidFill>
                <a:latin typeface="Calibri" pitchFamily="34" charset="0"/>
                <a:ea typeface="Calibri" pitchFamily="34" charset="-122"/>
                <a:cs typeface="Calibri" pitchFamily="34" charset="-120"/>
              </a:rPr>
              <a:t>segment by default, connect by exception — confine lateral movement.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02</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2</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Denial-of-Service Protection Patterns</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THE THREAT + PATTERN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DoS / DDoS protection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Filter &amp; scrub</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Inspect traffic; drop malicious packets before they land.</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Rate limiting</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Cap requests per source — no single client can flood.</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Absorb &amp; scale</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Elasticity + CDN spread and soak up large volumes.</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00" b="1" dirty="0">
                <a:solidFill>
                  <a:srgbClr val="E8403A"/>
                </a:solidFill>
                <a:latin typeface="Calibri" pitchFamily="34" charset="0"/>
                <a:ea typeface="Calibri" pitchFamily="34" charset="-122"/>
                <a:cs typeface="Calibri" pitchFamily="34" charset="-120"/>
              </a:rPr>
              <a:t>Watch out:  </a:t>
            </a:r>
            <a:pPr algn="ctr" indent="0" marL="0">
              <a:buNone/>
            </a:pPr>
            <a:r>
              <a:rPr lang="en-US" sz="1300" i="1" dirty="0">
                <a:solidFill>
                  <a:srgbClr val="262F65"/>
                </a:solidFill>
                <a:latin typeface="Calibri" pitchFamily="34" charset="0"/>
                <a:ea typeface="Calibri" pitchFamily="34" charset="-122"/>
                <a:cs typeface="Calibri" pitchFamily="34" charset="-120"/>
              </a:rPr>
              <a:t>scaling alone under attack causes Economic Denial of Sustainability — combine with filtering &amp; rate limits.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LAYERED DEFENCE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A resilient DoS-protection architecture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640080" y="1737360"/>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68680" y="1883664"/>
            <a:ext cx="457200" cy="4572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978408" y="1993392"/>
            <a:ext cx="237744" cy="237744"/>
          </a:xfrm>
          <a:prstGeom prst="rect">
            <a:avLst/>
          </a:prstGeom>
        </p:spPr>
      </p:pic>
      <p:sp>
        <p:nvSpPr>
          <p:cNvPr id="10" name="Text 6"/>
          <p:cNvSpPr/>
          <p:nvPr/>
        </p:nvSpPr>
        <p:spPr>
          <a:xfrm>
            <a:off x="1508760" y="1737360"/>
            <a:ext cx="9784080" cy="749808"/>
          </a:xfrm>
          <a:prstGeom prst="rect">
            <a:avLst/>
          </a:prstGeom>
          <a:noFill/>
          <a:ln/>
        </p:spPr>
        <p:txBody>
          <a:bodyPr wrap="square" lIns="0" tIns="0" rIns="0" bIns="0" rtlCol="0" anchor="ctr"/>
          <a:lstStyle/>
          <a:p>
            <a:pPr indent="0" marL="0">
              <a:buNone/>
            </a:pPr>
            <a:r>
              <a:rPr lang="en-US" sz="1450" b="1" dirty="0">
                <a:solidFill>
                  <a:srgbClr val="262F65"/>
                </a:solidFill>
                <a:latin typeface="Calibri" pitchFamily="34" charset="0"/>
                <a:ea typeface="Calibri" pitchFamily="34" charset="-122"/>
                <a:cs typeface="Calibri" pitchFamily="34" charset="-120"/>
              </a:rPr>
              <a:t>CDN / edge — absorb &amp; cache across the globe</a:t>
            </a:r>
            <a:endParaRPr lang="en-US" sz="1450" dirty="0"/>
          </a:p>
        </p:txBody>
      </p:sp>
      <p:sp>
        <p:nvSpPr>
          <p:cNvPr id="11" name="Shape 7"/>
          <p:cNvSpPr/>
          <p:nvPr/>
        </p:nvSpPr>
        <p:spPr>
          <a:xfrm>
            <a:off x="640080" y="2615184"/>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68680" y="2761488"/>
            <a:ext cx="457200" cy="457200"/>
          </a:xfrm>
          <a:prstGeom prst="ellipse">
            <a:avLst/>
          </a:prstGeom>
          <a:solidFill>
            <a:srgbClr val="F2931F"/>
          </a:solidFill>
          <a:ln/>
        </p:spPr>
      </p:sp>
      <p:pic>
        <p:nvPicPr>
          <p:cNvPr id="13" name="Image 1" descr="preencoded.png">    </p:cNvPr>
          <p:cNvPicPr>
            <a:picLocks noChangeAspect="1"/>
          </p:cNvPicPr>
          <p:nvPr/>
        </p:nvPicPr>
        <p:blipFill>
          <a:blip r:embed="rId2"/>
          <a:stretch>
            <a:fillRect/>
          </a:stretch>
        </p:blipFill>
        <p:spPr>
          <a:xfrm>
            <a:off x="978408" y="2871216"/>
            <a:ext cx="237744" cy="237744"/>
          </a:xfrm>
          <a:prstGeom prst="rect">
            <a:avLst/>
          </a:prstGeom>
        </p:spPr>
      </p:pic>
      <p:sp>
        <p:nvSpPr>
          <p:cNvPr id="14" name="Text 9"/>
          <p:cNvSpPr/>
          <p:nvPr/>
        </p:nvSpPr>
        <p:spPr>
          <a:xfrm>
            <a:off x="1508760" y="2615184"/>
            <a:ext cx="9784080" cy="749808"/>
          </a:xfrm>
          <a:prstGeom prst="rect">
            <a:avLst/>
          </a:prstGeom>
          <a:noFill/>
          <a:ln/>
        </p:spPr>
        <p:txBody>
          <a:bodyPr wrap="square" lIns="0" tIns="0" rIns="0" bIns="0" rtlCol="0" anchor="ctr"/>
          <a:lstStyle/>
          <a:p>
            <a:pPr indent="0" marL="0">
              <a:buNone/>
            </a:pPr>
            <a:r>
              <a:rPr lang="en-US" sz="1450" b="1" dirty="0">
                <a:solidFill>
                  <a:srgbClr val="262F65"/>
                </a:solidFill>
                <a:latin typeface="Calibri" pitchFamily="34" charset="0"/>
                <a:ea typeface="Calibri" pitchFamily="34" charset="-122"/>
                <a:cs typeface="Calibri" pitchFamily="34" charset="-120"/>
              </a:rPr>
              <a:t>DDoS scrubbing — filter volumetric attacks</a:t>
            </a:r>
            <a:endParaRPr lang="en-US" sz="1450" dirty="0"/>
          </a:p>
        </p:txBody>
      </p:sp>
      <p:sp>
        <p:nvSpPr>
          <p:cNvPr id="15" name="Shape 10"/>
          <p:cNvSpPr/>
          <p:nvPr/>
        </p:nvSpPr>
        <p:spPr>
          <a:xfrm>
            <a:off x="640080" y="3493008"/>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868680" y="3639312"/>
            <a:ext cx="457200" cy="457200"/>
          </a:xfrm>
          <a:prstGeom prst="ellipse">
            <a:avLst/>
          </a:prstGeom>
          <a:solidFill>
            <a:srgbClr val="293E7B"/>
          </a:solidFill>
          <a:ln/>
        </p:spPr>
      </p:sp>
      <p:pic>
        <p:nvPicPr>
          <p:cNvPr id="17" name="Image 2" descr="preencoded.png">    </p:cNvPr>
          <p:cNvPicPr>
            <a:picLocks noChangeAspect="1"/>
          </p:cNvPicPr>
          <p:nvPr/>
        </p:nvPicPr>
        <p:blipFill>
          <a:blip r:embed="rId3"/>
          <a:stretch>
            <a:fillRect/>
          </a:stretch>
        </p:blipFill>
        <p:spPr>
          <a:xfrm>
            <a:off x="978408" y="3749040"/>
            <a:ext cx="237744" cy="237744"/>
          </a:xfrm>
          <a:prstGeom prst="rect">
            <a:avLst/>
          </a:prstGeom>
        </p:spPr>
      </p:pic>
      <p:sp>
        <p:nvSpPr>
          <p:cNvPr id="18" name="Text 12"/>
          <p:cNvSpPr/>
          <p:nvPr/>
        </p:nvSpPr>
        <p:spPr>
          <a:xfrm>
            <a:off x="1508760" y="3493008"/>
            <a:ext cx="9784080" cy="749808"/>
          </a:xfrm>
          <a:prstGeom prst="rect">
            <a:avLst/>
          </a:prstGeom>
          <a:noFill/>
          <a:ln/>
        </p:spPr>
        <p:txBody>
          <a:bodyPr wrap="square" lIns="0" tIns="0" rIns="0" bIns="0" rtlCol="0" anchor="ctr"/>
          <a:lstStyle/>
          <a:p>
            <a:pPr indent="0" marL="0">
              <a:buNone/>
            </a:pPr>
            <a:r>
              <a:rPr lang="en-US" sz="1450" b="1" dirty="0">
                <a:solidFill>
                  <a:srgbClr val="262F65"/>
                </a:solidFill>
                <a:latin typeface="Calibri" pitchFamily="34" charset="0"/>
                <a:ea typeface="Calibri" pitchFamily="34" charset="-122"/>
                <a:cs typeface="Calibri" pitchFamily="34" charset="-120"/>
              </a:rPr>
              <a:t>Web application firewall — block malicious requests</a:t>
            </a:r>
            <a:endParaRPr lang="en-US" sz="1450" dirty="0"/>
          </a:p>
        </p:txBody>
      </p:sp>
      <p:sp>
        <p:nvSpPr>
          <p:cNvPr id="19" name="Shape 13"/>
          <p:cNvSpPr/>
          <p:nvPr/>
        </p:nvSpPr>
        <p:spPr>
          <a:xfrm>
            <a:off x="640080" y="4370832"/>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20" name="Shape 14"/>
          <p:cNvSpPr/>
          <p:nvPr/>
        </p:nvSpPr>
        <p:spPr>
          <a:xfrm>
            <a:off x="868680" y="4517136"/>
            <a:ext cx="457200" cy="457200"/>
          </a:xfrm>
          <a:prstGeom prst="ellipse">
            <a:avLst/>
          </a:prstGeom>
          <a:solidFill>
            <a:srgbClr val="262F65"/>
          </a:solidFill>
          <a:ln/>
        </p:spPr>
      </p:sp>
      <p:pic>
        <p:nvPicPr>
          <p:cNvPr id="21" name="Image 3" descr="preencoded.png">    </p:cNvPr>
          <p:cNvPicPr>
            <a:picLocks noChangeAspect="1"/>
          </p:cNvPicPr>
          <p:nvPr/>
        </p:nvPicPr>
        <p:blipFill>
          <a:blip r:embed="rId4"/>
          <a:stretch>
            <a:fillRect/>
          </a:stretch>
        </p:blipFill>
        <p:spPr>
          <a:xfrm>
            <a:off x="978408" y="4626864"/>
            <a:ext cx="237744" cy="237744"/>
          </a:xfrm>
          <a:prstGeom prst="rect">
            <a:avLst/>
          </a:prstGeom>
        </p:spPr>
      </p:pic>
      <p:sp>
        <p:nvSpPr>
          <p:cNvPr id="22" name="Text 15"/>
          <p:cNvSpPr/>
          <p:nvPr/>
        </p:nvSpPr>
        <p:spPr>
          <a:xfrm>
            <a:off x="1508760" y="4370832"/>
            <a:ext cx="9784080" cy="749808"/>
          </a:xfrm>
          <a:prstGeom prst="rect">
            <a:avLst/>
          </a:prstGeom>
          <a:noFill/>
          <a:ln/>
        </p:spPr>
        <p:txBody>
          <a:bodyPr wrap="square" lIns="0" tIns="0" rIns="0" bIns="0" rtlCol="0" anchor="ctr"/>
          <a:lstStyle/>
          <a:p>
            <a:pPr indent="0" marL="0">
              <a:buNone/>
            </a:pPr>
            <a:r>
              <a:rPr lang="en-US" sz="1450" b="1" dirty="0">
                <a:solidFill>
                  <a:srgbClr val="262F65"/>
                </a:solidFill>
                <a:latin typeface="Calibri" pitchFamily="34" charset="0"/>
                <a:ea typeface="Calibri" pitchFamily="34" charset="-122"/>
                <a:cs typeface="Calibri" pitchFamily="34" charset="-120"/>
              </a:rPr>
              <a:t>Rate limiting — cap abusive clients</a:t>
            </a:r>
            <a:endParaRPr lang="en-US" sz="1450" dirty="0"/>
          </a:p>
        </p:txBody>
      </p:sp>
      <p:sp>
        <p:nvSpPr>
          <p:cNvPr id="23" name="Shape 16"/>
          <p:cNvSpPr/>
          <p:nvPr/>
        </p:nvSpPr>
        <p:spPr>
          <a:xfrm>
            <a:off x="640080" y="5248656"/>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24" name="Shape 17"/>
          <p:cNvSpPr/>
          <p:nvPr/>
        </p:nvSpPr>
        <p:spPr>
          <a:xfrm>
            <a:off x="868680" y="5394960"/>
            <a:ext cx="457200" cy="457200"/>
          </a:xfrm>
          <a:prstGeom prst="ellipse">
            <a:avLst/>
          </a:prstGeom>
          <a:solidFill>
            <a:srgbClr val="F2931F"/>
          </a:solidFill>
          <a:ln/>
        </p:spPr>
      </p:sp>
      <p:pic>
        <p:nvPicPr>
          <p:cNvPr id="25" name="Image 4" descr="preencoded.png">    </p:cNvPr>
          <p:cNvPicPr>
            <a:picLocks noChangeAspect="1"/>
          </p:cNvPicPr>
          <p:nvPr/>
        </p:nvPicPr>
        <p:blipFill>
          <a:blip r:embed="rId5"/>
          <a:stretch>
            <a:fillRect/>
          </a:stretch>
        </p:blipFill>
        <p:spPr>
          <a:xfrm>
            <a:off x="978408" y="5504688"/>
            <a:ext cx="237744" cy="237744"/>
          </a:xfrm>
          <a:prstGeom prst="rect">
            <a:avLst/>
          </a:prstGeom>
        </p:spPr>
      </p:pic>
      <p:sp>
        <p:nvSpPr>
          <p:cNvPr id="26" name="Text 18"/>
          <p:cNvSpPr/>
          <p:nvPr/>
        </p:nvSpPr>
        <p:spPr>
          <a:xfrm>
            <a:off x="1508760" y="5248656"/>
            <a:ext cx="9784080" cy="749808"/>
          </a:xfrm>
          <a:prstGeom prst="rect">
            <a:avLst/>
          </a:prstGeom>
          <a:noFill/>
          <a:ln/>
        </p:spPr>
        <p:txBody>
          <a:bodyPr wrap="square" lIns="0" tIns="0" rIns="0" bIns="0" rtlCol="0" anchor="ctr"/>
          <a:lstStyle/>
          <a:p>
            <a:pPr indent="0" marL="0">
              <a:buNone/>
            </a:pPr>
            <a:r>
              <a:rPr lang="en-US" sz="1450" b="1" dirty="0">
                <a:solidFill>
                  <a:srgbClr val="262F65"/>
                </a:solidFill>
                <a:latin typeface="Calibri" pitchFamily="34" charset="0"/>
                <a:ea typeface="Calibri" pitchFamily="34" charset="-122"/>
                <a:cs typeface="Calibri" pitchFamily="34" charset="-120"/>
              </a:rPr>
              <a:t>Bounded auto-scaling — handle legitimate surges</a:t>
            </a:r>
            <a:endParaRPr lang="en-US" sz="1450" dirty="0"/>
          </a:p>
        </p:txBody>
      </p:sp>
      <p:sp>
        <p:nvSpPr>
          <p:cNvPr id="27" name="Text 19"/>
          <p:cNvSpPr/>
          <p:nvPr/>
        </p:nvSpPr>
        <p:spPr>
          <a:xfrm>
            <a:off x="640080" y="6126480"/>
            <a:ext cx="10881360" cy="365760"/>
          </a:xfrm>
          <a:prstGeom prst="rect">
            <a:avLst/>
          </a:prstGeom>
          <a:noFill/>
          <a:ln/>
        </p:spPr>
        <p:txBody>
          <a:bodyPr wrap="square" lIns="0" tIns="0" rIns="0" bIns="0" rtlCol="0" anchor="ctr"/>
          <a:lstStyle/>
          <a:p>
            <a:pPr algn="ctr" indent="0" marL="0">
              <a:buNone/>
            </a:pPr>
            <a:r>
              <a:rPr lang="en-US" sz="1300" i="1" dirty="0">
                <a:solidFill>
                  <a:srgbClr val="262F65"/>
                </a:solidFill>
                <a:latin typeface="Calibri" pitchFamily="34" charset="0"/>
                <a:ea typeface="Calibri" pitchFamily="34" charset="-122"/>
                <a:cs typeface="Calibri" pitchFamily="34" charset="-120"/>
              </a:rPr>
              <a:t>Each layer removes a class of attack traffic — the origin sees only clean load.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03</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3</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Federated Authentication Patterns</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PATTERN — FEDERATED AUTHENTICATION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Federated authentication &amp; trust broker</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Federated authentication</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Accept identities from a trusted external IdP.</a:t>
            </a:r>
            <a:endParaRPr lang="en-US" sz="1250" dirty="0"/>
          </a:p>
        </p:txBody>
      </p:sp>
      <p:sp>
        <p:nvSpPr>
          <p:cNvPr id="12" name="Shape 8"/>
          <p:cNvSpPr/>
          <p:nvPr/>
        </p:nvSpPr>
        <p:spPr>
          <a:xfrm>
            <a:off x="1005840" y="3767328"/>
            <a:ext cx="128016" cy="128016"/>
          </a:xfrm>
          <a:prstGeom prst="ellipse">
            <a:avLst/>
          </a:prstGeom>
          <a:solidFill>
            <a:srgbClr val="262F65"/>
          </a:solidFill>
          <a:ln/>
        </p:spPr>
      </p:sp>
      <p:sp>
        <p:nvSpPr>
          <p:cNvPr id="13" name="Text 9"/>
          <p:cNvSpPr/>
          <p:nvPr/>
        </p:nvSpPr>
        <p:spPr>
          <a:xfrm>
            <a:off x="1280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Users use home credentials — </a:t>
            </a:r>
            <a:pPr indent="0" marL="0">
              <a:buNone/>
            </a:pPr>
            <a:r>
              <a:rPr lang="en-US" sz="1250" dirty="0">
                <a:solidFill>
                  <a:srgbClr val="5B6472"/>
                </a:solidFill>
                <a:latin typeface="Calibri" pitchFamily="34" charset="0"/>
                <a:ea typeface="Calibri" pitchFamily="34" charset="-122"/>
                <a:cs typeface="Calibri" pitchFamily="34" charset="-120"/>
              </a:rPr>
              <a:t>SAML / OIDC</a:t>
            </a:r>
            <a:endParaRPr lang="en-US" sz="1250" dirty="0"/>
          </a:p>
        </p:txBody>
      </p:sp>
      <p:sp>
        <p:nvSpPr>
          <p:cNvPr id="14" name="Shape 10"/>
          <p:cNvSpPr/>
          <p:nvPr/>
        </p:nvSpPr>
        <p:spPr>
          <a:xfrm>
            <a:off x="1005840" y="4334256"/>
            <a:ext cx="128016" cy="128016"/>
          </a:xfrm>
          <a:prstGeom prst="ellipse">
            <a:avLst/>
          </a:prstGeom>
          <a:solidFill>
            <a:srgbClr val="262F65"/>
          </a:solidFill>
          <a:ln/>
        </p:spPr>
      </p:sp>
      <p:sp>
        <p:nvSpPr>
          <p:cNvPr id="15" name="Text 11"/>
          <p:cNvSpPr/>
          <p:nvPr/>
        </p:nvSpPr>
        <p:spPr>
          <a:xfrm>
            <a:off x="1280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No separate accounts — </a:t>
            </a:r>
            <a:pPr indent="0" marL="0">
              <a:buNone/>
            </a:pPr>
            <a:endParaRPr lang="en-US" sz="1250" dirty="0"/>
          </a:p>
        </p:txBody>
      </p:sp>
      <p:sp>
        <p:nvSpPr>
          <p:cNvPr id="16" name="Shape 12"/>
          <p:cNvSpPr/>
          <p:nvPr/>
        </p:nvSpPr>
        <p:spPr>
          <a:xfrm>
            <a:off x="1005840" y="4901184"/>
            <a:ext cx="128016" cy="128016"/>
          </a:xfrm>
          <a:prstGeom prst="ellipse">
            <a:avLst/>
          </a:prstGeom>
          <a:solidFill>
            <a:srgbClr val="262F65"/>
          </a:solidFill>
          <a:ln/>
        </p:spPr>
      </p:sp>
      <p:sp>
        <p:nvSpPr>
          <p:cNvPr id="17" name="Text 13"/>
          <p:cNvSpPr/>
          <p:nvPr/>
        </p:nvSpPr>
        <p:spPr>
          <a:xfrm>
            <a:off x="1280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Central deprovisioning — </a:t>
            </a:r>
            <a:pPr indent="0" marL="0">
              <a:buNone/>
            </a:pPr>
            <a:endParaRPr lang="en-US" sz="1250" dirty="0"/>
          </a:p>
        </p:txBody>
      </p:sp>
      <p:sp>
        <p:nvSpPr>
          <p:cNvPr id="18" name="Shape 14"/>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868680" cy="868680"/>
          </a:xfrm>
          <a:prstGeom prst="ellipse">
            <a:avLst/>
          </a:prstGeom>
          <a:solidFill>
            <a:srgbClr val="F2931F"/>
          </a:solidFill>
          <a:ln/>
        </p:spPr>
      </p:sp>
      <p:pic>
        <p:nvPicPr>
          <p:cNvPr id="20"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Trust broker</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One trusted hub instead of N×M trust links.</a:t>
            </a:r>
            <a:endParaRPr lang="en-US" sz="1250" dirty="0"/>
          </a:p>
        </p:txBody>
      </p:sp>
      <p:sp>
        <p:nvSpPr>
          <p:cNvPr id="23" name="Shape 18"/>
          <p:cNvSpPr/>
          <p:nvPr/>
        </p:nvSpPr>
        <p:spPr>
          <a:xfrm>
            <a:off x="6720840" y="3767328"/>
            <a:ext cx="128016" cy="128016"/>
          </a:xfrm>
          <a:prstGeom prst="ellipse">
            <a:avLst/>
          </a:prstGeom>
          <a:solidFill>
            <a:srgbClr val="F2931F"/>
          </a:solidFill>
          <a:ln/>
        </p:spPr>
      </p:sp>
      <p:sp>
        <p:nvSpPr>
          <p:cNvPr id="24" name="Text 19"/>
          <p:cNvSpPr/>
          <p:nvPr/>
        </p:nvSpPr>
        <p:spPr>
          <a:xfrm>
            <a:off x="6995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Translates between IdPs &amp; SPs — </a:t>
            </a:r>
            <a:pPr indent="0" marL="0">
              <a:buNone/>
            </a:pPr>
            <a:endParaRPr lang="en-US" sz="1250" dirty="0"/>
          </a:p>
        </p:txBody>
      </p:sp>
      <p:sp>
        <p:nvSpPr>
          <p:cNvPr id="25" name="Shape 20"/>
          <p:cNvSpPr/>
          <p:nvPr/>
        </p:nvSpPr>
        <p:spPr>
          <a:xfrm>
            <a:off x="6720840" y="4334256"/>
            <a:ext cx="128016" cy="128016"/>
          </a:xfrm>
          <a:prstGeom prst="ellipse">
            <a:avLst/>
          </a:prstGeom>
          <a:solidFill>
            <a:srgbClr val="F2931F"/>
          </a:solidFill>
          <a:ln/>
        </p:spPr>
      </p:sp>
      <p:sp>
        <p:nvSpPr>
          <p:cNvPr id="26" name="Text 21"/>
          <p:cNvSpPr/>
          <p:nvPr/>
        </p:nvSpPr>
        <p:spPr>
          <a:xfrm>
            <a:off x="6995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Central MFA &amp; policy — </a:t>
            </a:r>
            <a:pPr indent="0" marL="0">
              <a:buNone/>
            </a:pPr>
            <a:endParaRPr lang="en-US" sz="1250" dirty="0"/>
          </a:p>
        </p:txBody>
      </p:sp>
      <p:sp>
        <p:nvSpPr>
          <p:cNvPr id="27" name="Shape 22"/>
          <p:cNvSpPr/>
          <p:nvPr/>
        </p:nvSpPr>
        <p:spPr>
          <a:xfrm>
            <a:off x="6720840" y="4901184"/>
            <a:ext cx="128016" cy="128016"/>
          </a:xfrm>
          <a:prstGeom prst="ellipse">
            <a:avLst/>
          </a:prstGeom>
          <a:solidFill>
            <a:srgbClr val="F2931F"/>
          </a:solidFill>
          <a:ln/>
        </p:spPr>
      </p:sp>
      <p:sp>
        <p:nvSpPr>
          <p:cNvPr id="28" name="Text 23"/>
          <p:cNvSpPr/>
          <p:nvPr/>
        </p:nvSpPr>
        <p:spPr>
          <a:xfrm>
            <a:off x="6995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Protect the hub well — </a:t>
            </a:r>
            <a:pPr indent="0" marL="0">
              <a:buNone/>
            </a:pPr>
            <a:r>
              <a:rPr lang="en-US" sz="1250" dirty="0">
                <a:solidFill>
                  <a:srgbClr val="5B6472"/>
                </a:solidFill>
                <a:latin typeface="Calibri" pitchFamily="34" charset="0"/>
                <a:ea typeface="Calibri" pitchFamily="34" charset="-122"/>
                <a:cs typeface="Calibri" pitchFamily="34" charset="-120"/>
              </a:rPr>
              <a:t>high-value point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PATTERN — IDENTITY GATEWAY</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SSO gateway &amp; conditional access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SSO gateway</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One entry point federates to the right IdP for all apps.</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Conditional access</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Evaluate device, location &amp; risk on every request.</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Adaptive response</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Step-up MFA or block based on context — zero trust.</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50" b="1" dirty="0">
                <a:solidFill>
                  <a:srgbClr val="F2931F"/>
                </a:solidFill>
                <a:latin typeface="Calibri" pitchFamily="34" charset="0"/>
                <a:ea typeface="Calibri" pitchFamily="34" charset="-122"/>
                <a:cs typeface="Calibri" pitchFamily="34" charset="-120"/>
              </a:rPr>
              <a:t>Zero trust made concrete:  </a:t>
            </a:r>
            <a:pPr algn="ctr" indent="0" marL="0">
              <a:buNone/>
            </a:pPr>
            <a:r>
              <a:rPr lang="en-US" sz="1350" i="1" dirty="0">
                <a:solidFill>
                  <a:srgbClr val="262F65"/>
                </a:solidFill>
                <a:latin typeface="Calibri" pitchFamily="34" charset="0"/>
                <a:ea typeface="Calibri" pitchFamily="34" charset="-122"/>
                <a:cs typeface="Calibri" pitchFamily="34" charset="-120"/>
              </a:rPr>
              <a:t>trust is continuously evaluated, not granted once and forgotten.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04</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4</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Key Management Patterns</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PATTERN — KEY MANAGEMENT SYSTEM</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Cryptographic key management system</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640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57400"/>
            <a:ext cx="868680" cy="86868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168603" y="2265883"/>
            <a:ext cx="451714" cy="451714"/>
          </a:xfrm>
          <a:prstGeom prst="rect">
            <a:avLst/>
          </a:prstGeom>
        </p:spPr>
      </p:pic>
      <p:sp>
        <p:nvSpPr>
          <p:cNvPr id="10" name="Text 6"/>
          <p:cNvSpPr/>
          <p:nvPr/>
        </p:nvSpPr>
        <p:spPr>
          <a:xfrm>
            <a:off x="2011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Key Management Service (KMS)</a:t>
            </a:r>
            <a:endParaRPr lang="en-US" sz="1550" dirty="0"/>
          </a:p>
        </p:txBody>
      </p:sp>
      <p:sp>
        <p:nvSpPr>
          <p:cNvPr id="11" name="Text 7"/>
          <p:cNvSpPr/>
          <p:nvPr/>
        </p:nvSpPr>
        <p:spPr>
          <a:xfrm>
            <a:off x="960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Centralise the whole key lifecycle.</a:t>
            </a:r>
            <a:endParaRPr lang="en-US" sz="1250" dirty="0"/>
          </a:p>
        </p:txBody>
      </p:sp>
      <p:sp>
        <p:nvSpPr>
          <p:cNvPr id="12" name="Shape 8"/>
          <p:cNvSpPr/>
          <p:nvPr/>
        </p:nvSpPr>
        <p:spPr>
          <a:xfrm>
            <a:off x="1005840" y="3767328"/>
            <a:ext cx="128016" cy="128016"/>
          </a:xfrm>
          <a:prstGeom prst="ellipse">
            <a:avLst/>
          </a:prstGeom>
          <a:solidFill>
            <a:srgbClr val="262F65"/>
          </a:solidFill>
          <a:ln/>
        </p:spPr>
      </p:sp>
      <p:sp>
        <p:nvSpPr>
          <p:cNvPr id="13" name="Text 9"/>
          <p:cNvSpPr/>
          <p:nvPr/>
        </p:nvSpPr>
        <p:spPr>
          <a:xfrm>
            <a:off x="1280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Generate, store, rotate, revoke — </a:t>
            </a:r>
            <a:pPr indent="0" marL="0">
              <a:buNone/>
            </a:pPr>
            <a:r>
              <a:rPr lang="en-US" sz="1250" dirty="0">
                <a:solidFill>
                  <a:srgbClr val="5B6472"/>
                </a:solidFill>
                <a:latin typeface="Calibri" pitchFamily="34" charset="0"/>
                <a:ea typeface="Calibri" pitchFamily="34" charset="-122"/>
                <a:cs typeface="Calibri" pitchFamily="34" charset="-120"/>
              </a:rPr>
              <a:t>one hardened service</a:t>
            </a:r>
            <a:endParaRPr lang="en-US" sz="1250" dirty="0"/>
          </a:p>
        </p:txBody>
      </p:sp>
      <p:sp>
        <p:nvSpPr>
          <p:cNvPr id="14" name="Shape 10"/>
          <p:cNvSpPr/>
          <p:nvPr/>
        </p:nvSpPr>
        <p:spPr>
          <a:xfrm>
            <a:off x="1005840" y="4334256"/>
            <a:ext cx="128016" cy="128016"/>
          </a:xfrm>
          <a:prstGeom prst="ellipse">
            <a:avLst/>
          </a:prstGeom>
          <a:solidFill>
            <a:srgbClr val="262F65"/>
          </a:solidFill>
          <a:ln/>
        </p:spPr>
      </p:sp>
      <p:sp>
        <p:nvSpPr>
          <p:cNvPr id="15" name="Text 11"/>
          <p:cNvSpPr/>
          <p:nvPr/>
        </p:nvSpPr>
        <p:spPr>
          <a:xfrm>
            <a:off x="1280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No keys in code or config — </a:t>
            </a:r>
            <a:pPr indent="0" marL="0">
              <a:buNone/>
            </a:pPr>
            <a:endParaRPr lang="en-US" sz="1250" dirty="0"/>
          </a:p>
        </p:txBody>
      </p:sp>
      <p:sp>
        <p:nvSpPr>
          <p:cNvPr id="16" name="Shape 12"/>
          <p:cNvSpPr/>
          <p:nvPr/>
        </p:nvSpPr>
        <p:spPr>
          <a:xfrm>
            <a:off x="1005840" y="4901184"/>
            <a:ext cx="128016" cy="128016"/>
          </a:xfrm>
          <a:prstGeom prst="ellipse">
            <a:avLst/>
          </a:prstGeom>
          <a:solidFill>
            <a:srgbClr val="262F65"/>
          </a:solidFill>
          <a:ln/>
        </p:spPr>
      </p:sp>
      <p:sp>
        <p:nvSpPr>
          <p:cNvPr id="17" name="Text 13"/>
          <p:cNvSpPr/>
          <p:nvPr/>
        </p:nvSpPr>
        <p:spPr>
          <a:xfrm>
            <a:off x="1280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One place to audit key use — </a:t>
            </a:r>
            <a:pPr indent="0" marL="0">
              <a:buNone/>
            </a:pPr>
            <a:endParaRPr lang="en-US" sz="1250" dirty="0"/>
          </a:p>
        </p:txBody>
      </p:sp>
      <p:sp>
        <p:nvSpPr>
          <p:cNvPr id="18" name="Shape 14"/>
          <p:cNvSpPr/>
          <p:nvPr/>
        </p:nvSpPr>
        <p:spPr>
          <a:xfrm>
            <a:off x="6355080" y="1737360"/>
            <a:ext cx="5349240" cy="3931920"/>
          </a:xfrm>
          <a:prstGeom prst="roundRect">
            <a:avLst>
              <a:gd name="adj" fmla="val 2093"/>
            </a:avLst>
          </a:prstGeom>
          <a:solidFill>
            <a:srgbClr val="F4F6FB"/>
          </a:solidFill>
          <a:ln/>
          <a:effectLst>
            <a:outerShdw sx="100000" sy="100000" kx="0" ky="0" algn="bl" rotWithShape="0" blurRad="88900" dist="38100" dir="5400000">
              <a:srgbClr val="8894AD">
                <a:alpha val="28000"/>
              </a:srgbClr>
            </a:outerShdw>
          </a:effectLst>
        </p:spPr>
      </p:sp>
      <p:sp>
        <p:nvSpPr>
          <p:cNvPr id="19" name="Shape 15"/>
          <p:cNvSpPr/>
          <p:nvPr/>
        </p:nvSpPr>
        <p:spPr>
          <a:xfrm>
            <a:off x="6675120" y="2057400"/>
            <a:ext cx="868680" cy="868680"/>
          </a:xfrm>
          <a:prstGeom prst="ellipse">
            <a:avLst/>
          </a:prstGeom>
          <a:solidFill>
            <a:srgbClr val="F2931F"/>
          </a:solidFill>
          <a:ln/>
        </p:spPr>
      </p:sp>
      <p:pic>
        <p:nvPicPr>
          <p:cNvPr id="20" name="Image 1" descr="preencoded.png">    </p:cNvPr>
          <p:cNvPicPr>
            <a:picLocks noChangeAspect="1"/>
          </p:cNvPicPr>
          <p:nvPr/>
        </p:nvPicPr>
        <p:blipFill>
          <a:blip r:embed="rId2"/>
          <a:stretch>
            <a:fillRect/>
          </a:stretch>
        </p:blipFill>
        <p:spPr>
          <a:xfrm>
            <a:off x="6883603" y="2265883"/>
            <a:ext cx="451714" cy="451714"/>
          </a:xfrm>
          <a:prstGeom prst="rect">
            <a:avLst/>
          </a:prstGeom>
        </p:spPr>
      </p:pic>
      <p:sp>
        <p:nvSpPr>
          <p:cNvPr id="21" name="Text 16"/>
          <p:cNvSpPr/>
          <p:nvPr/>
        </p:nvSpPr>
        <p:spPr>
          <a:xfrm>
            <a:off x="7726680" y="2121408"/>
            <a:ext cx="3703320" cy="777240"/>
          </a:xfrm>
          <a:prstGeom prst="rect">
            <a:avLst/>
          </a:prstGeom>
          <a:noFill/>
          <a:ln/>
        </p:spPr>
        <p:txBody>
          <a:bodyPr wrap="square" lIns="0" tIns="0" rIns="0" bIns="0" rtlCol="0" anchor="t"/>
          <a:lstStyle/>
          <a:p>
            <a:pPr indent="0" marL="0">
              <a:buNone/>
            </a:pPr>
            <a:r>
              <a:rPr lang="en-US" sz="1550" b="1" dirty="0">
                <a:solidFill>
                  <a:srgbClr val="262F65"/>
                </a:solidFill>
                <a:latin typeface="Calibri" pitchFamily="34" charset="0"/>
                <a:ea typeface="Calibri" pitchFamily="34" charset="-122"/>
                <a:cs typeface="Calibri" pitchFamily="34" charset="-120"/>
              </a:rPr>
              <a:t>Hardware Security Module (HSM)</a:t>
            </a:r>
            <a:endParaRPr lang="en-US" sz="1550" dirty="0"/>
          </a:p>
        </p:txBody>
      </p:sp>
      <p:sp>
        <p:nvSpPr>
          <p:cNvPr id="22" name="Text 17"/>
          <p:cNvSpPr/>
          <p:nvPr/>
        </p:nvSpPr>
        <p:spPr>
          <a:xfrm>
            <a:off x="6675120" y="3017520"/>
            <a:ext cx="4709160" cy="548640"/>
          </a:xfrm>
          <a:prstGeom prst="rect">
            <a:avLst/>
          </a:prstGeom>
          <a:noFill/>
          <a:ln/>
        </p:spPr>
        <p:txBody>
          <a:bodyPr wrap="square" lIns="0" tIns="0" rIns="0" bIns="0" rtlCol="0" anchor="t"/>
          <a:lstStyle/>
          <a:p>
            <a:pPr indent="0" marL="0">
              <a:buNone/>
            </a:pPr>
            <a:r>
              <a:rPr lang="en-US" sz="1250" i="1" dirty="0">
                <a:solidFill>
                  <a:srgbClr val="5B6472"/>
                </a:solidFill>
                <a:latin typeface="Calibri" pitchFamily="34" charset="0"/>
                <a:ea typeface="Calibri" pitchFamily="34" charset="-122"/>
                <a:cs typeface="Calibri" pitchFamily="34" charset="-120"/>
              </a:rPr>
              <a:t>Keys in tamper-resistant hardware.</a:t>
            </a:r>
            <a:endParaRPr lang="en-US" sz="1250" dirty="0"/>
          </a:p>
        </p:txBody>
      </p:sp>
      <p:sp>
        <p:nvSpPr>
          <p:cNvPr id="23" name="Shape 18"/>
          <p:cNvSpPr/>
          <p:nvPr/>
        </p:nvSpPr>
        <p:spPr>
          <a:xfrm>
            <a:off x="6720840" y="3767328"/>
            <a:ext cx="128016" cy="128016"/>
          </a:xfrm>
          <a:prstGeom prst="ellipse">
            <a:avLst/>
          </a:prstGeom>
          <a:solidFill>
            <a:srgbClr val="F2931F"/>
          </a:solidFill>
          <a:ln/>
        </p:spPr>
      </p:sp>
      <p:sp>
        <p:nvSpPr>
          <p:cNvPr id="24" name="Text 19"/>
          <p:cNvSpPr/>
          <p:nvPr/>
        </p:nvSpPr>
        <p:spPr>
          <a:xfrm>
            <a:off x="6995160" y="3703320"/>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Keys never leave the device — </a:t>
            </a:r>
            <a:pPr indent="0" marL="0">
              <a:buNone/>
            </a:pPr>
            <a:r>
              <a:rPr lang="en-US" sz="1250" dirty="0">
                <a:solidFill>
                  <a:srgbClr val="5B6472"/>
                </a:solidFill>
                <a:latin typeface="Calibri" pitchFamily="34" charset="0"/>
                <a:ea typeface="Calibri" pitchFamily="34" charset="-122"/>
                <a:cs typeface="Calibri" pitchFamily="34" charset="-120"/>
              </a:rPr>
              <a:t>used, not extracted</a:t>
            </a:r>
            <a:endParaRPr lang="en-US" sz="1250" dirty="0"/>
          </a:p>
        </p:txBody>
      </p:sp>
      <p:sp>
        <p:nvSpPr>
          <p:cNvPr id="25" name="Shape 20"/>
          <p:cNvSpPr/>
          <p:nvPr/>
        </p:nvSpPr>
        <p:spPr>
          <a:xfrm>
            <a:off x="6720840" y="4334256"/>
            <a:ext cx="128016" cy="128016"/>
          </a:xfrm>
          <a:prstGeom prst="ellipse">
            <a:avLst/>
          </a:prstGeom>
          <a:solidFill>
            <a:srgbClr val="F2931F"/>
          </a:solidFill>
          <a:ln/>
        </p:spPr>
      </p:sp>
      <p:sp>
        <p:nvSpPr>
          <p:cNvPr id="26" name="Text 21"/>
          <p:cNvSpPr/>
          <p:nvPr/>
        </p:nvSpPr>
        <p:spPr>
          <a:xfrm>
            <a:off x="6995160" y="4270248"/>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Highest assurance — </a:t>
            </a:r>
            <a:pPr indent="0" marL="0">
              <a:buNone/>
            </a:pPr>
            <a:endParaRPr lang="en-US" sz="1250" dirty="0"/>
          </a:p>
        </p:txBody>
      </p:sp>
      <p:sp>
        <p:nvSpPr>
          <p:cNvPr id="27" name="Shape 22"/>
          <p:cNvSpPr/>
          <p:nvPr/>
        </p:nvSpPr>
        <p:spPr>
          <a:xfrm>
            <a:off x="6720840" y="4901184"/>
            <a:ext cx="128016" cy="128016"/>
          </a:xfrm>
          <a:prstGeom prst="ellipse">
            <a:avLst/>
          </a:prstGeom>
          <a:solidFill>
            <a:srgbClr val="F2931F"/>
          </a:solidFill>
          <a:ln/>
        </p:spPr>
      </p:sp>
      <p:sp>
        <p:nvSpPr>
          <p:cNvPr id="28" name="Text 23"/>
          <p:cNvSpPr/>
          <p:nvPr/>
        </p:nvSpPr>
        <p:spPr>
          <a:xfrm>
            <a:off x="6995160" y="4837176"/>
            <a:ext cx="4389120" cy="530352"/>
          </a:xfrm>
          <a:prstGeom prst="rect">
            <a:avLst/>
          </a:prstGeom>
          <a:noFill/>
          <a:ln/>
        </p:spPr>
        <p:txBody>
          <a:bodyPr wrap="square" lIns="0" tIns="0" rIns="0" bIns="0" rtlCol="0" anchor="ctr"/>
          <a:lstStyle/>
          <a:p>
            <a:pPr indent="0" marL="0">
              <a:buNone/>
            </a:pPr>
            <a:r>
              <a:rPr lang="en-US" sz="1250" b="1" dirty="0">
                <a:solidFill>
                  <a:srgbClr val="23283A"/>
                </a:solidFill>
                <a:latin typeface="Calibri" pitchFamily="34" charset="0"/>
                <a:ea typeface="Calibri" pitchFamily="34" charset="-122"/>
                <a:cs typeface="Calibri" pitchFamily="34" charset="-120"/>
              </a:rPr>
              <a:t>Customer-managed / BYOK — </a:t>
            </a:r>
            <a:pPr indent="0" marL="0">
              <a:buNone/>
            </a:pPr>
            <a:r>
              <a:rPr lang="en-US" sz="1250" dirty="0">
                <a:solidFill>
                  <a:srgbClr val="5B6472"/>
                </a:solidFill>
                <a:latin typeface="Calibri" pitchFamily="34" charset="0"/>
                <a:ea typeface="Calibri" pitchFamily="34" charset="-122"/>
                <a:cs typeface="Calibri" pitchFamily="34" charset="-120"/>
              </a:rPr>
              <a:t>control &amp; separation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PATTERN — ENVELOPE &amp; PER-TENANT KEYS</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Envelope encryption &amp; per-tenant keys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640080"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1916125" y="2103120"/>
            <a:ext cx="914400" cy="9144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2135581" y="2322576"/>
            <a:ext cx="475488" cy="475488"/>
          </a:xfrm>
          <a:prstGeom prst="rect">
            <a:avLst/>
          </a:prstGeom>
        </p:spPr>
      </p:pic>
      <p:sp>
        <p:nvSpPr>
          <p:cNvPr id="10" name="Text 6"/>
          <p:cNvSpPr/>
          <p:nvPr/>
        </p:nvSpPr>
        <p:spPr>
          <a:xfrm>
            <a:off x="749808"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Envelope encryption</a:t>
            </a:r>
            <a:endParaRPr lang="en-US" sz="1700" dirty="0"/>
          </a:p>
        </p:txBody>
      </p:sp>
      <p:sp>
        <p:nvSpPr>
          <p:cNvPr id="11" name="Text 7"/>
          <p:cNvSpPr/>
          <p:nvPr/>
        </p:nvSpPr>
        <p:spPr>
          <a:xfrm>
            <a:off x="804672"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Data key encrypts data; master key (in KMS/HSM) encrypts the data key.</a:t>
            </a:r>
            <a:endParaRPr lang="en-US" sz="1250" dirty="0"/>
          </a:p>
        </p:txBody>
      </p:sp>
      <p:sp>
        <p:nvSpPr>
          <p:cNvPr id="12" name="Shape 8"/>
          <p:cNvSpPr/>
          <p:nvPr/>
        </p:nvSpPr>
        <p:spPr>
          <a:xfrm>
            <a:off x="4362602"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5638648" y="2103120"/>
            <a:ext cx="914400" cy="9144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5858104" y="2322576"/>
            <a:ext cx="475488" cy="475488"/>
          </a:xfrm>
          <a:prstGeom prst="rect">
            <a:avLst/>
          </a:prstGeom>
        </p:spPr>
      </p:pic>
      <p:sp>
        <p:nvSpPr>
          <p:cNvPr id="15" name="Text 10"/>
          <p:cNvSpPr/>
          <p:nvPr/>
        </p:nvSpPr>
        <p:spPr>
          <a:xfrm>
            <a:off x="4472330"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Per-tenant keys</a:t>
            </a:r>
            <a:endParaRPr lang="en-US" sz="1700" dirty="0"/>
          </a:p>
        </p:txBody>
      </p:sp>
      <p:sp>
        <p:nvSpPr>
          <p:cNvPr id="16" name="Text 11"/>
          <p:cNvSpPr/>
          <p:nvPr/>
        </p:nvSpPr>
        <p:spPr>
          <a:xfrm>
            <a:off x="4527194"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Each tenant's key unlocks only their data — reinforces isolation.</a:t>
            </a:r>
            <a:endParaRPr lang="en-US" sz="1250" dirty="0"/>
          </a:p>
        </p:txBody>
      </p:sp>
      <p:sp>
        <p:nvSpPr>
          <p:cNvPr id="17" name="Shape 12"/>
          <p:cNvSpPr/>
          <p:nvPr/>
        </p:nvSpPr>
        <p:spPr>
          <a:xfrm>
            <a:off x="8085125" y="1783080"/>
            <a:ext cx="3466490" cy="3200400"/>
          </a:xfrm>
          <a:prstGeom prst="roundRect">
            <a:avLst>
              <a:gd name="adj" fmla="val 2571"/>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9361170" y="2103120"/>
            <a:ext cx="914400" cy="9144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9580626" y="2322576"/>
            <a:ext cx="475488" cy="475488"/>
          </a:xfrm>
          <a:prstGeom prst="rect">
            <a:avLst/>
          </a:prstGeom>
        </p:spPr>
      </p:pic>
      <p:sp>
        <p:nvSpPr>
          <p:cNvPr id="20" name="Text 14"/>
          <p:cNvSpPr/>
          <p:nvPr/>
        </p:nvSpPr>
        <p:spPr>
          <a:xfrm>
            <a:off x="8194853" y="3154680"/>
            <a:ext cx="3247034" cy="640080"/>
          </a:xfrm>
          <a:prstGeom prst="rect">
            <a:avLst/>
          </a:prstGeom>
          <a:noFill/>
          <a:ln/>
        </p:spPr>
        <p:txBody>
          <a:bodyPr wrap="square" lIns="0" tIns="0" rIns="0" bIns="0" rtlCol="0" anchor="t"/>
          <a:lstStyle/>
          <a:p>
            <a:pPr algn="ctr" indent="0" marL="0">
              <a:buNone/>
            </a:pPr>
            <a:r>
              <a:rPr lang="en-US" sz="1700" b="1" dirty="0">
                <a:solidFill>
                  <a:srgbClr val="262F65"/>
                </a:solidFill>
                <a:latin typeface="Cambria" pitchFamily="34" charset="0"/>
                <a:ea typeface="Cambria" pitchFamily="34" charset="-122"/>
                <a:cs typeface="Cambria" pitchFamily="34" charset="-120"/>
              </a:rPr>
              <a:t>Crypto erasure &amp; rotation</a:t>
            </a:r>
            <a:endParaRPr lang="en-US" sz="1700" dirty="0"/>
          </a:p>
        </p:txBody>
      </p:sp>
      <p:sp>
        <p:nvSpPr>
          <p:cNvPr id="21" name="Text 15"/>
          <p:cNvSpPr/>
          <p:nvPr/>
        </p:nvSpPr>
        <p:spPr>
          <a:xfrm>
            <a:off x="8249717" y="3794760"/>
            <a:ext cx="3137306" cy="1097280"/>
          </a:xfrm>
          <a:prstGeom prst="rect">
            <a:avLst/>
          </a:prstGeom>
          <a:noFill/>
          <a:ln/>
        </p:spPr>
        <p:txBody>
          <a:bodyPr wrap="square" lIns="0" tIns="0" rIns="0" bIns="0" rtlCol="0" anchor="t"/>
          <a:lstStyle/>
          <a:p>
            <a:pPr algn="ctr" indent="0" marL="0">
              <a:buNone/>
            </a:pPr>
            <a:r>
              <a:rPr lang="en-US" sz="1250" dirty="0">
                <a:solidFill>
                  <a:srgbClr val="23283A"/>
                </a:solidFill>
                <a:latin typeface="Calibri" pitchFamily="34" charset="0"/>
                <a:ea typeface="Calibri" pitchFamily="34" charset="-122"/>
                <a:cs typeface="Calibri" pitchFamily="34" charset="-120"/>
              </a:rPr>
              <a:t>Destroy a key to delete data; rotate to limit exposure.</a:t>
            </a:r>
            <a:endParaRPr lang="en-US" sz="1250" dirty="0"/>
          </a:p>
        </p:txBody>
      </p:sp>
      <p:sp>
        <p:nvSpPr>
          <p:cNvPr id="22" name="Text 16"/>
          <p:cNvSpPr/>
          <p:nvPr/>
        </p:nvSpPr>
        <p:spPr>
          <a:xfrm>
            <a:off x="640080" y="5166360"/>
            <a:ext cx="10881360" cy="457200"/>
          </a:xfrm>
          <a:prstGeom prst="rect">
            <a:avLst/>
          </a:prstGeom>
          <a:noFill/>
          <a:ln/>
        </p:spPr>
        <p:txBody>
          <a:bodyPr wrap="square" lIns="0" tIns="0" rIns="0" bIns="0" rtlCol="0" anchor="ctr"/>
          <a:lstStyle/>
          <a:p>
            <a:pPr algn="ctr" indent="0" marL="0">
              <a:buNone/>
            </a:pPr>
            <a:r>
              <a:rPr lang="en-US" sz="1350" i="1" dirty="0">
                <a:solidFill>
                  <a:srgbClr val="262F65"/>
                </a:solidFill>
                <a:latin typeface="Calibri" pitchFamily="34" charset="0"/>
                <a:ea typeface="Calibri" pitchFamily="34" charset="-122"/>
                <a:cs typeface="Calibri" pitchFamily="34" charset="-120"/>
              </a:rPr>
              <a:t>Key management is the trust anchor beneath VM encryption, storage isolation and secure deletion.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1280160" y="3931920"/>
            <a:ext cx="4023360" cy="4023360"/>
          </a:xfrm>
          <a:prstGeom prst="ellipse">
            <a:avLst/>
          </a:prstGeom>
          <a:solidFill>
            <a:srgbClr val="293E7B">
              <a:alpha val="45000"/>
            </a:srgbClr>
          </a:solidFill>
          <a:ln/>
        </p:spPr>
      </p:sp>
      <p:pic>
        <p:nvPicPr>
          <p:cNvPr id="3" name="Image 0" descr="preencoded.png">    </p:cNvPr>
          <p:cNvPicPr>
            <a:picLocks noChangeAspect="1"/>
          </p:cNvPicPr>
          <p:nvPr/>
        </p:nvPicPr>
        <p:blipFill>
          <a:blip r:embed="rId1"/>
          <a:stretch>
            <a:fillRect/>
          </a:stretch>
        </p:blipFill>
        <p:spPr>
          <a:xfrm>
            <a:off x="7360920" y="1412421"/>
            <a:ext cx="4343400" cy="4033157"/>
          </a:xfrm>
          <a:prstGeom prst="rect">
            <a:avLst/>
          </a:prstGeom>
        </p:spPr>
      </p:pic>
      <p:sp>
        <p:nvSpPr>
          <p:cNvPr id="4" name="Text 1"/>
          <p:cNvSpPr/>
          <p:nvPr/>
        </p:nvSpPr>
        <p:spPr>
          <a:xfrm>
            <a:off x="640080" y="960120"/>
            <a:ext cx="4572000" cy="2194560"/>
          </a:xfrm>
          <a:prstGeom prst="rect">
            <a:avLst/>
          </a:prstGeom>
          <a:noFill/>
          <a:ln/>
        </p:spPr>
        <p:txBody>
          <a:bodyPr wrap="square" lIns="0" tIns="0" rIns="0" bIns="0" rtlCol="0" anchor="ctr"/>
          <a:lstStyle/>
          <a:p>
            <a:pPr indent="0" marL="0">
              <a:buNone/>
            </a:pPr>
            <a:r>
              <a:rPr lang="en-US" sz="14000" b="1" dirty="0">
                <a:solidFill>
                  <a:srgbClr val="FABA32"/>
                </a:solidFill>
                <a:latin typeface="Cambria" pitchFamily="34" charset="0"/>
                <a:ea typeface="Cambria" pitchFamily="34" charset="-122"/>
                <a:cs typeface="Cambria" pitchFamily="34" charset="-120"/>
              </a:rPr>
              <a:t>05</a:t>
            </a:r>
            <a:endParaRPr lang="en-US" sz="14000" dirty="0"/>
          </a:p>
        </p:txBody>
      </p:sp>
      <p:sp>
        <p:nvSpPr>
          <p:cNvPr id="5" name="Text 2"/>
          <p:cNvSpPr/>
          <p:nvPr/>
        </p:nvSpPr>
        <p:spPr>
          <a:xfrm>
            <a:off x="713232" y="3429000"/>
            <a:ext cx="6400800" cy="457200"/>
          </a:xfrm>
          <a:prstGeom prst="rect">
            <a:avLst/>
          </a:prstGeom>
          <a:noFill/>
          <a:ln/>
        </p:spPr>
        <p:txBody>
          <a:bodyPr wrap="square" lIns="0" tIns="0" rIns="0" bIns="0" rtlCol="0" anchor="ctr"/>
          <a:lstStyle/>
          <a:p>
            <a:pPr indent="0" marL="0">
              <a:buNone/>
            </a:pPr>
            <a:r>
              <a:rPr lang="en-US" sz="1500" b="1" spc="300" kern="0" dirty="0">
                <a:solidFill>
                  <a:srgbClr val="FABA32"/>
                </a:solidFill>
                <a:latin typeface="Calibri" pitchFamily="34" charset="0"/>
                <a:ea typeface="Calibri" pitchFamily="34" charset="-122"/>
                <a:cs typeface="Calibri" pitchFamily="34" charset="-120"/>
              </a:rPr>
              <a:t>PART 5</a:t>
            </a:r>
            <a:endParaRPr lang="en-US" sz="1500" dirty="0"/>
          </a:p>
        </p:txBody>
      </p:sp>
      <p:sp>
        <p:nvSpPr>
          <p:cNvPr id="6" name="Text 3"/>
          <p:cNvSpPr/>
          <p:nvPr/>
        </p:nvSpPr>
        <p:spPr>
          <a:xfrm>
            <a:off x="713232" y="3840480"/>
            <a:ext cx="6309360" cy="1828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Composing Patterns &amp; Practice</a:t>
            </a:r>
            <a:endParaRPr lang="en-US" sz="3200" dirty="0"/>
          </a:p>
        </p:txBody>
      </p:sp>
      <p:pic>
        <p:nvPicPr>
          <p:cNvPr id="7" name="Image 1" descr="/sessions/inspiring-busy-dijkstra/mnt/outputs/build/assets/logo_white_trim.png">    </p:cNvPr>
          <p:cNvPicPr>
            <a:picLocks noChangeAspect="1"/>
          </p:cNvPicPr>
          <p:nvPr/>
        </p:nvPicPr>
        <p:blipFill>
          <a:blip r:embed="rId2"/>
          <a:stretch>
            <a:fillRect/>
          </a:stretch>
        </p:blipFill>
        <p:spPr>
          <a:xfrm>
            <a:off x="713232" y="5989320"/>
            <a:ext cx="1417320" cy="64396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SC8 IN ACTION</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A complete pattern-based architecture</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640080" y="1737360"/>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68680" y="1883664"/>
            <a:ext cx="457200" cy="457200"/>
          </a:xfrm>
          <a:prstGeom prst="ellipse">
            <a:avLst/>
          </a:prstGeom>
          <a:solidFill>
            <a:srgbClr val="FABA32"/>
          </a:solidFill>
          <a:ln/>
        </p:spPr>
      </p:sp>
      <p:pic>
        <p:nvPicPr>
          <p:cNvPr id="9" name="Image 0" descr="preencoded.png">    </p:cNvPr>
          <p:cNvPicPr>
            <a:picLocks noChangeAspect="1"/>
          </p:cNvPicPr>
          <p:nvPr/>
        </p:nvPicPr>
        <p:blipFill>
          <a:blip r:embed="rId1"/>
          <a:stretch>
            <a:fillRect/>
          </a:stretch>
        </p:blipFill>
        <p:spPr>
          <a:xfrm>
            <a:off x="978408" y="1993392"/>
            <a:ext cx="237744" cy="237744"/>
          </a:xfrm>
          <a:prstGeom prst="rect">
            <a:avLst/>
          </a:prstGeom>
        </p:spPr>
      </p:pic>
      <p:sp>
        <p:nvSpPr>
          <p:cNvPr id="10" name="Text 6"/>
          <p:cNvSpPr/>
          <p:nvPr/>
        </p:nvSpPr>
        <p:spPr>
          <a:xfrm>
            <a:off x="1508760" y="1737360"/>
            <a:ext cx="9784080" cy="749808"/>
          </a:xfrm>
          <a:prstGeom prst="rect">
            <a:avLst/>
          </a:prstGeom>
          <a:noFill/>
          <a:ln/>
        </p:spPr>
        <p:txBody>
          <a:bodyPr wrap="square" lIns="0" tIns="0" rIns="0" bIns="0" rtlCol="0" anchor="ctr"/>
          <a:lstStyle/>
          <a:p>
            <a:pPr indent="0" marL="0">
              <a:buNone/>
            </a:pPr>
            <a:r>
              <a:rPr lang="en-US" sz="1400" b="1" dirty="0">
                <a:solidFill>
                  <a:srgbClr val="262F65"/>
                </a:solidFill>
                <a:latin typeface="Calibri" pitchFamily="34" charset="0"/>
                <a:ea typeface="Calibri" pitchFamily="34" charset="-122"/>
                <a:cs typeface="Calibri" pitchFamily="34" charset="-120"/>
              </a:rPr>
              <a:t>DoS protection + virtual perimeter — resilient, filtered edge</a:t>
            </a:r>
            <a:endParaRPr lang="en-US" sz="1400" dirty="0"/>
          </a:p>
        </p:txBody>
      </p:sp>
      <p:sp>
        <p:nvSpPr>
          <p:cNvPr id="11" name="Shape 7"/>
          <p:cNvSpPr/>
          <p:nvPr/>
        </p:nvSpPr>
        <p:spPr>
          <a:xfrm>
            <a:off x="640080" y="2615184"/>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68680" y="2761488"/>
            <a:ext cx="457200" cy="457200"/>
          </a:xfrm>
          <a:prstGeom prst="ellipse">
            <a:avLst/>
          </a:prstGeom>
          <a:solidFill>
            <a:srgbClr val="F2931F"/>
          </a:solidFill>
          <a:ln/>
        </p:spPr>
      </p:sp>
      <p:pic>
        <p:nvPicPr>
          <p:cNvPr id="13" name="Image 1" descr="preencoded.png">    </p:cNvPr>
          <p:cNvPicPr>
            <a:picLocks noChangeAspect="1"/>
          </p:cNvPicPr>
          <p:nvPr/>
        </p:nvPicPr>
        <p:blipFill>
          <a:blip r:embed="rId2"/>
          <a:stretch>
            <a:fillRect/>
          </a:stretch>
        </p:blipFill>
        <p:spPr>
          <a:xfrm>
            <a:off x="978408" y="2871216"/>
            <a:ext cx="237744" cy="237744"/>
          </a:xfrm>
          <a:prstGeom prst="rect">
            <a:avLst/>
          </a:prstGeom>
        </p:spPr>
      </p:pic>
      <p:sp>
        <p:nvSpPr>
          <p:cNvPr id="14" name="Text 9"/>
          <p:cNvSpPr/>
          <p:nvPr/>
        </p:nvSpPr>
        <p:spPr>
          <a:xfrm>
            <a:off x="1508760" y="2615184"/>
            <a:ext cx="9784080" cy="749808"/>
          </a:xfrm>
          <a:prstGeom prst="rect">
            <a:avLst/>
          </a:prstGeom>
          <a:noFill/>
          <a:ln/>
        </p:spPr>
        <p:txBody>
          <a:bodyPr wrap="square" lIns="0" tIns="0" rIns="0" bIns="0" rtlCol="0" anchor="ctr"/>
          <a:lstStyle/>
          <a:p>
            <a:pPr indent="0" marL="0">
              <a:buNone/>
            </a:pPr>
            <a:r>
              <a:rPr lang="en-US" sz="1400" b="1" dirty="0">
                <a:solidFill>
                  <a:srgbClr val="262F65"/>
                </a:solidFill>
                <a:latin typeface="Calibri" pitchFamily="34" charset="0"/>
                <a:ea typeface="Calibri" pitchFamily="34" charset="-122"/>
                <a:cs typeface="Calibri" pitchFamily="34" charset="-120"/>
              </a:rPr>
              <a:t>Federated auth + SSO gateway + conditional access</a:t>
            </a:r>
            <a:endParaRPr lang="en-US" sz="1400" dirty="0"/>
          </a:p>
        </p:txBody>
      </p:sp>
      <p:sp>
        <p:nvSpPr>
          <p:cNvPr id="15" name="Shape 10"/>
          <p:cNvSpPr/>
          <p:nvPr/>
        </p:nvSpPr>
        <p:spPr>
          <a:xfrm>
            <a:off x="640080" y="3493008"/>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868680" y="3639312"/>
            <a:ext cx="457200" cy="457200"/>
          </a:xfrm>
          <a:prstGeom prst="ellipse">
            <a:avLst/>
          </a:prstGeom>
          <a:solidFill>
            <a:srgbClr val="293E7B"/>
          </a:solidFill>
          <a:ln/>
        </p:spPr>
      </p:sp>
      <p:pic>
        <p:nvPicPr>
          <p:cNvPr id="17" name="Image 2" descr="preencoded.png">    </p:cNvPr>
          <p:cNvPicPr>
            <a:picLocks noChangeAspect="1"/>
          </p:cNvPicPr>
          <p:nvPr/>
        </p:nvPicPr>
        <p:blipFill>
          <a:blip r:embed="rId3"/>
          <a:stretch>
            <a:fillRect/>
          </a:stretch>
        </p:blipFill>
        <p:spPr>
          <a:xfrm>
            <a:off x="978408" y="3749040"/>
            <a:ext cx="237744" cy="237744"/>
          </a:xfrm>
          <a:prstGeom prst="rect">
            <a:avLst/>
          </a:prstGeom>
        </p:spPr>
      </p:pic>
      <p:sp>
        <p:nvSpPr>
          <p:cNvPr id="18" name="Text 12"/>
          <p:cNvSpPr/>
          <p:nvPr/>
        </p:nvSpPr>
        <p:spPr>
          <a:xfrm>
            <a:off x="1508760" y="3493008"/>
            <a:ext cx="9784080" cy="749808"/>
          </a:xfrm>
          <a:prstGeom prst="rect">
            <a:avLst/>
          </a:prstGeom>
          <a:noFill/>
          <a:ln/>
        </p:spPr>
        <p:txBody>
          <a:bodyPr wrap="square" lIns="0" tIns="0" rIns="0" bIns="0" rtlCol="0" anchor="ctr"/>
          <a:lstStyle/>
          <a:p>
            <a:pPr indent="0" marL="0">
              <a:buNone/>
            </a:pPr>
            <a:r>
              <a:rPr lang="en-US" sz="1400" b="1" dirty="0">
                <a:solidFill>
                  <a:srgbClr val="262F65"/>
                </a:solidFill>
                <a:latin typeface="Calibri" pitchFamily="34" charset="0"/>
                <a:ea typeface="Calibri" pitchFamily="34" charset="-122"/>
                <a:cs typeface="Calibri" pitchFamily="34" charset="-120"/>
              </a:rPr>
              <a:t>Segmented network — confine any breach</a:t>
            </a:r>
            <a:endParaRPr lang="en-US" sz="1400" dirty="0"/>
          </a:p>
        </p:txBody>
      </p:sp>
      <p:sp>
        <p:nvSpPr>
          <p:cNvPr id="19" name="Shape 13"/>
          <p:cNvSpPr/>
          <p:nvPr/>
        </p:nvSpPr>
        <p:spPr>
          <a:xfrm>
            <a:off x="640080" y="4370832"/>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20" name="Shape 14"/>
          <p:cNvSpPr/>
          <p:nvPr/>
        </p:nvSpPr>
        <p:spPr>
          <a:xfrm>
            <a:off x="868680" y="4517136"/>
            <a:ext cx="457200" cy="457200"/>
          </a:xfrm>
          <a:prstGeom prst="ellipse">
            <a:avLst/>
          </a:prstGeom>
          <a:solidFill>
            <a:srgbClr val="262F65"/>
          </a:solidFill>
          <a:ln/>
        </p:spPr>
      </p:sp>
      <p:pic>
        <p:nvPicPr>
          <p:cNvPr id="21" name="Image 3" descr="preencoded.png">    </p:cNvPr>
          <p:cNvPicPr>
            <a:picLocks noChangeAspect="1"/>
          </p:cNvPicPr>
          <p:nvPr/>
        </p:nvPicPr>
        <p:blipFill>
          <a:blip r:embed="rId4"/>
          <a:stretch>
            <a:fillRect/>
          </a:stretch>
        </p:blipFill>
        <p:spPr>
          <a:xfrm>
            <a:off x="978408" y="4626864"/>
            <a:ext cx="237744" cy="237744"/>
          </a:xfrm>
          <a:prstGeom prst="rect">
            <a:avLst/>
          </a:prstGeom>
        </p:spPr>
      </p:pic>
      <p:sp>
        <p:nvSpPr>
          <p:cNvPr id="22" name="Text 15"/>
          <p:cNvSpPr/>
          <p:nvPr/>
        </p:nvSpPr>
        <p:spPr>
          <a:xfrm>
            <a:off x="1508760" y="4370832"/>
            <a:ext cx="9784080" cy="749808"/>
          </a:xfrm>
          <a:prstGeom prst="rect">
            <a:avLst/>
          </a:prstGeom>
          <a:noFill/>
          <a:ln/>
        </p:spPr>
        <p:txBody>
          <a:bodyPr wrap="square" lIns="0" tIns="0" rIns="0" bIns="0" rtlCol="0" anchor="ctr"/>
          <a:lstStyle/>
          <a:p>
            <a:pPr indent="0" marL="0">
              <a:buNone/>
            </a:pPr>
            <a:r>
              <a:rPr lang="en-US" sz="1400" b="1" dirty="0">
                <a:solidFill>
                  <a:srgbClr val="262F65"/>
                </a:solidFill>
                <a:latin typeface="Calibri" pitchFamily="34" charset="0"/>
                <a:ea typeface="Calibri" pitchFamily="34" charset="-122"/>
                <a:cs typeface="Calibri" pitchFamily="34" charset="-120"/>
              </a:rPr>
              <a:t>Trusted platform + hypervisor protection + VM encryption</a:t>
            </a:r>
            <a:endParaRPr lang="en-US" sz="1400" dirty="0"/>
          </a:p>
        </p:txBody>
      </p:sp>
      <p:sp>
        <p:nvSpPr>
          <p:cNvPr id="23" name="Shape 16"/>
          <p:cNvSpPr/>
          <p:nvPr/>
        </p:nvSpPr>
        <p:spPr>
          <a:xfrm>
            <a:off x="640080" y="5248656"/>
            <a:ext cx="10881360" cy="749808"/>
          </a:xfrm>
          <a:prstGeom prst="roundRect">
            <a:avLst>
              <a:gd name="adj" fmla="val 10976"/>
            </a:avLst>
          </a:prstGeom>
          <a:solidFill>
            <a:srgbClr val="F4F6FB"/>
          </a:solidFill>
          <a:ln/>
          <a:effectLst>
            <a:outerShdw sx="100000" sy="100000" kx="0" ky="0" algn="bl" rotWithShape="0" blurRad="88900" dist="38100" dir="5400000">
              <a:srgbClr val="8894AD">
                <a:alpha val="28000"/>
              </a:srgbClr>
            </a:outerShdw>
          </a:effectLst>
        </p:spPr>
      </p:sp>
      <p:sp>
        <p:nvSpPr>
          <p:cNvPr id="24" name="Shape 17"/>
          <p:cNvSpPr/>
          <p:nvPr/>
        </p:nvSpPr>
        <p:spPr>
          <a:xfrm>
            <a:off x="868680" y="5394960"/>
            <a:ext cx="457200" cy="457200"/>
          </a:xfrm>
          <a:prstGeom prst="ellipse">
            <a:avLst/>
          </a:prstGeom>
          <a:solidFill>
            <a:srgbClr val="262F65"/>
          </a:solidFill>
          <a:ln/>
        </p:spPr>
      </p:sp>
      <p:pic>
        <p:nvPicPr>
          <p:cNvPr id="25" name="Image 4" descr="preencoded.png">    </p:cNvPr>
          <p:cNvPicPr>
            <a:picLocks noChangeAspect="1"/>
          </p:cNvPicPr>
          <p:nvPr/>
        </p:nvPicPr>
        <p:blipFill>
          <a:blip r:embed="rId5"/>
          <a:stretch>
            <a:fillRect/>
          </a:stretch>
        </p:blipFill>
        <p:spPr>
          <a:xfrm>
            <a:off x="978408" y="5504688"/>
            <a:ext cx="237744" cy="237744"/>
          </a:xfrm>
          <a:prstGeom prst="rect">
            <a:avLst/>
          </a:prstGeom>
        </p:spPr>
      </p:pic>
      <p:sp>
        <p:nvSpPr>
          <p:cNvPr id="26" name="Text 18"/>
          <p:cNvSpPr/>
          <p:nvPr/>
        </p:nvSpPr>
        <p:spPr>
          <a:xfrm>
            <a:off x="1508760" y="5248656"/>
            <a:ext cx="9784080" cy="749808"/>
          </a:xfrm>
          <a:prstGeom prst="rect">
            <a:avLst/>
          </a:prstGeom>
          <a:noFill/>
          <a:ln/>
        </p:spPr>
        <p:txBody>
          <a:bodyPr wrap="square" lIns="0" tIns="0" rIns="0" bIns="0" rtlCol="0" anchor="ctr"/>
          <a:lstStyle/>
          <a:p>
            <a:pPr indent="0" marL="0">
              <a:buNone/>
            </a:pPr>
            <a:r>
              <a:rPr lang="en-US" sz="1400" b="1" dirty="0">
                <a:solidFill>
                  <a:srgbClr val="262F65"/>
                </a:solidFill>
                <a:latin typeface="Calibri" pitchFamily="34" charset="0"/>
                <a:ea typeface="Calibri" pitchFamily="34" charset="-122"/>
                <a:cs typeface="Calibri" pitchFamily="34" charset="-120"/>
              </a:rPr>
              <a:t>KMS + envelope + per-tenant keys — trustworthy encryption</a:t>
            </a:r>
            <a:endParaRPr lang="en-US" sz="1400" dirty="0"/>
          </a:p>
        </p:txBody>
      </p:sp>
      <p:sp>
        <p:nvSpPr>
          <p:cNvPr id="27" name="Text 19"/>
          <p:cNvSpPr/>
          <p:nvPr/>
        </p:nvSpPr>
        <p:spPr>
          <a:xfrm>
            <a:off x="640080" y="6126480"/>
            <a:ext cx="10881360" cy="365760"/>
          </a:xfrm>
          <a:prstGeom prst="rect">
            <a:avLst/>
          </a:prstGeom>
          <a:noFill/>
          <a:ln/>
        </p:spPr>
        <p:txBody>
          <a:bodyPr wrap="square" lIns="0" tIns="0" rIns="0" bIns="0" rtlCol="0" anchor="ctr"/>
          <a:lstStyle/>
          <a:p>
            <a:pPr algn="ctr" indent="0" marL="0">
              <a:buNone/>
            </a:pPr>
            <a:r>
              <a:rPr lang="en-US" sz="1300" i="1" dirty="0">
                <a:solidFill>
                  <a:srgbClr val="262F65"/>
                </a:solidFill>
                <a:latin typeface="Calibri" pitchFamily="34" charset="0"/>
                <a:ea typeface="Calibri" pitchFamily="34" charset="-122"/>
                <a:cs typeface="Calibri" pitchFamily="34" charset="-120"/>
              </a:rPr>
              <a:t>Given a requirement, ask which patterns apply and how they compose — not which single product to buy.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APPLY IT</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Case study — a public-facing SaaS under attack</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640080" y="1691640"/>
            <a:ext cx="10881360" cy="1600200"/>
          </a:xfrm>
          <a:prstGeom prst="roundRect">
            <a:avLst>
              <a:gd name="adj" fmla="val 5143"/>
            </a:avLst>
          </a:prstGeom>
          <a:solidFill>
            <a:srgbClr val="262F65"/>
          </a:solidFill>
          <a:ln/>
          <a:effectLst>
            <a:outerShdw sx="100000" sy="100000" kx="0" ky="0" algn="bl" rotWithShape="0" blurRad="88900" dist="38100" dir="5400000">
              <a:srgbClr val="8894AD">
                <a:alpha val="28000"/>
              </a:srgbClr>
            </a:outerShdw>
          </a:effectLst>
        </p:spPr>
      </p:sp>
      <p:sp>
        <p:nvSpPr>
          <p:cNvPr id="8" name="Shape 5"/>
          <p:cNvSpPr/>
          <p:nvPr/>
        </p:nvSpPr>
        <p:spPr>
          <a:xfrm>
            <a:off x="960120" y="2011680"/>
            <a:ext cx="960120" cy="960120"/>
          </a:xfrm>
          <a:prstGeom prst="ellipse">
            <a:avLst/>
          </a:prstGeom>
          <a:solidFill>
            <a:srgbClr val="E8403A"/>
          </a:solidFill>
          <a:ln/>
        </p:spPr>
      </p:sp>
      <p:pic>
        <p:nvPicPr>
          <p:cNvPr id="9" name="Image 0" descr="preencoded.png">    </p:cNvPr>
          <p:cNvPicPr>
            <a:picLocks noChangeAspect="1"/>
          </p:cNvPicPr>
          <p:nvPr/>
        </p:nvPicPr>
        <p:blipFill>
          <a:blip r:embed="rId1"/>
          <a:stretch>
            <a:fillRect/>
          </a:stretch>
        </p:blipFill>
        <p:spPr>
          <a:xfrm>
            <a:off x="1190549" y="2242109"/>
            <a:ext cx="499262" cy="499262"/>
          </a:xfrm>
          <a:prstGeom prst="rect">
            <a:avLst/>
          </a:prstGeom>
        </p:spPr>
      </p:pic>
      <p:sp>
        <p:nvSpPr>
          <p:cNvPr id="10" name="Text 6"/>
          <p:cNvSpPr/>
          <p:nvPr/>
        </p:nvSpPr>
        <p:spPr>
          <a:xfrm>
            <a:off x="2194560" y="1874520"/>
            <a:ext cx="9052560" cy="12801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 startup's public SaaS faces a DDoS attack, is probed for weak logins, and must keep each customer's data encrypted and isolated — all at once.</a:t>
            </a:r>
            <a:endParaRPr lang="en-US" sz="1500" dirty="0"/>
          </a:p>
        </p:txBody>
      </p:sp>
      <p:sp>
        <p:nvSpPr>
          <p:cNvPr id="11" name="Shape 7"/>
          <p:cNvSpPr/>
          <p:nvPr/>
        </p:nvSpPr>
        <p:spPr>
          <a:xfrm>
            <a:off x="640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2" name="Text 8"/>
          <p:cNvSpPr/>
          <p:nvPr/>
        </p:nvSpPr>
        <p:spPr>
          <a:xfrm>
            <a:off x="914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Which patterns for the attacks?</a:t>
            </a:r>
            <a:endParaRPr lang="en-US" sz="1600" dirty="0"/>
          </a:p>
        </p:txBody>
      </p:sp>
      <p:sp>
        <p:nvSpPr>
          <p:cNvPr id="13" name="Text 9"/>
          <p:cNvSpPr/>
          <p:nvPr/>
        </p:nvSpPr>
        <p:spPr>
          <a:xfrm>
            <a:off x="914400" y="4206240"/>
            <a:ext cx="4800600" cy="1051560"/>
          </a:xfrm>
          <a:prstGeom prst="rect">
            <a:avLst/>
          </a:prstGeom>
          <a:noFill/>
          <a:ln/>
        </p:spPr>
        <p:txBody>
          <a:bodyPr wrap="square" lIns="0" tIns="0" rIns="0" bIns="0" rtlCol="0" anchor="t"/>
          <a:lstStyle/>
          <a:p>
            <a:pPr indent="0" marL="0">
              <a:buNone/>
            </a:pPr>
            <a:r>
              <a:rPr lang="en-US" sz="1300" dirty="0">
                <a:solidFill>
                  <a:srgbClr val="23283A"/>
                </a:solidFill>
                <a:latin typeface="Calibri" pitchFamily="34" charset="0"/>
                <a:ea typeface="Calibri" pitchFamily="34" charset="-122"/>
                <a:cs typeface="Calibri" pitchFamily="34" charset="-120"/>
              </a:rPr>
              <a:t>DoS pipeline (CDN, scrubbing, WAF, rate limiting, bounded scaling) · federated SSO + MFA + conditional access · segmentation.</a:t>
            </a:r>
            <a:endParaRPr lang="en-US" sz="1300" dirty="0"/>
          </a:p>
        </p:txBody>
      </p:sp>
      <p:sp>
        <p:nvSpPr>
          <p:cNvPr id="14" name="Shape 10"/>
          <p:cNvSpPr/>
          <p:nvPr/>
        </p:nvSpPr>
        <p:spPr>
          <a:xfrm>
            <a:off x="6355080" y="3566160"/>
            <a:ext cx="5349240" cy="1737360"/>
          </a:xfrm>
          <a:prstGeom prst="roundRect">
            <a:avLst>
              <a:gd name="adj" fmla="val 4737"/>
            </a:avLst>
          </a:prstGeom>
          <a:solidFill>
            <a:srgbClr val="F4F6FB"/>
          </a:solidFill>
          <a:ln/>
          <a:effectLst>
            <a:outerShdw sx="100000" sy="100000" kx="0" ky="0" algn="bl" rotWithShape="0" blurRad="88900" dist="38100" dir="5400000">
              <a:srgbClr val="8894AD">
                <a:alpha val="28000"/>
              </a:srgbClr>
            </a:outerShdw>
          </a:effectLst>
        </p:spPr>
      </p:sp>
      <p:sp>
        <p:nvSpPr>
          <p:cNvPr id="15" name="Text 11"/>
          <p:cNvSpPr/>
          <p:nvPr/>
        </p:nvSpPr>
        <p:spPr>
          <a:xfrm>
            <a:off x="6629400" y="3749040"/>
            <a:ext cx="4800600" cy="457200"/>
          </a:xfrm>
          <a:prstGeom prst="rect">
            <a:avLst/>
          </a:prstGeom>
          <a:noFill/>
          <a:ln/>
        </p:spPr>
        <p:txBody>
          <a:bodyPr wrap="square" lIns="0" tIns="0" rIns="0" bIns="0" rtlCol="0" anchor="t"/>
          <a:lstStyle/>
          <a:p>
            <a:pPr indent="0" marL="0">
              <a:buNone/>
            </a:pPr>
            <a:r>
              <a:rPr lang="en-US" sz="1600" b="1" dirty="0">
                <a:solidFill>
                  <a:srgbClr val="F2931F"/>
                </a:solidFill>
                <a:latin typeface="Calibri" pitchFamily="34" charset="0"/>
                <a:ea typeface="Calibri" pitchFamily="34" charset="-122"/>
                <a:cs typeface="Calibri" pitchFamily="34" charset="-120"/>
              </a:rPr>
              <a:t>Which patterns for the data?</a:t>
            </a:r>
            <a:endParaRPr lang="en-US" sz="1600" dirty="0"/>
          </a:p>
        </p:txBody>
      </p:sp>
      <p:sp>
        <p:nvSpPr>
          <p:cNvPr id="16" name="Text 12"/>
          <p:cNvSpPr/>
          <p:nvPr/>
        </p:nvSpPr>
        <p:spPr>
          <a:xfrm>
            <a:off x="6629400" y="4206240"/>
            <a:ext cx="4800600" cy="1051560"/>
          </a:xfrm>
          <a:prstGeom prst="rect">
            <a:avLst/>
          </a:prstGeom>
          <a:noFill/>
          <a:ln/>
        </p:spPr>
        <p:txBody>
          <a:bodyPr wrap="square" lIns="0" tIns="0" rIns="0" bIns="0" rtlCol="0" anchor="t"/>
          <a:lstStyle/>
          <a:p>
            <a:pPr indent="0" marL="0">
              <a:buNone/>
            </a:pPr>
            <a:r>
              <a:rPr lang="en-US" sz="1300" dirty="0">
                <a:solidFill>
                  <a:srgbClr val="23283A"/>
                </a:solidFill>
                <a:latin typeface="Calibri" pitchFamily="34" charset="0"/>
                <a:ea typeface="Calibri" pitchFamily="34" charset="-122"/>
                <a:cs typeface="Calibri" pitchFamily="34" charset="-120"/>
              </a:rPr>
              <a:t>KMS with envelope + per-tenant keys · VM encryption · monitoring across all layers.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BASELINE</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Best practices — pattern-based network &amp; crypto design</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64008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96112" y="2011680"/>
            <a:ext cx="685800" cy="68580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60704" y="2176272"/>
            <a:ext cx="356616" cy="356616"/>
          </a:xfrm>
          <a:prstGeom prst="rect">
            <a:avLst/>
          </a:prstGeom>
        </p:spPr>
      </p:pic>
      <p:sp>
        <p:nvSpPr>
          <p:cNvPr id="10" name="Text 6"/>
          <p:cNvSpPr/>
          <p:nvPr/>
        </p:nvSpPr>
        <p:spPr>
          <a:xfrm>
            <a:off x="178308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Encrypt every connection</a:t>
            </a:r>
            <a:endParaRPr lang="en-US" sz="1450" dirty="0"/>
          </a:p>
        </p:txBody>
      </p:sp>
      <p:sp>
        <p:nvSpPr>
          <p:cNvPr id="11" name="Text 7"/>
          <p:cNvSpPr/>
          <p:nvPr/>
        </p:nvSpPr>
        <p:spPr>
          <a:xfrm>
            <a:off x="178308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Rebuild the perimeter in software.</a:t>
            </a:r>
            <a:endParaRPr lang="en-US" sz="1200" dirty="0"/>
          </a:p>
        </p:txBody>
      </p:sp>
      <p:sp>
        <p:nvSpPr>
          <p:cNvPr id="12" name="Shape 8"/>
          <p:cNvSpPr/>
          <p:nvPr/>
        </p:nvSpPr>
        <p:spPr>
          <a:xfrm>
            <a:off x="6217920" y="1737360"/>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3" name="Shape 9"/>
          <p:cNvSpPr/>
          <p:nvPr/>
        </p:nvSpPr>
        <p:spPr>
          <a:xfrm>
            <a:off x="6473952" y="2011680"/>
            <a:ext cx="685800" cy="685800"/>
          </a:xfrm>
          <a:prstGeom prst="ellipse">
            <a:avLst/>
          </a:prstGeom>
          <a:solidFill>
            <a:srgbClr val="F2931F"/>
          </a:solidFill>
          <a:ln/>
        </p:spPr>
      </p:sp>
      <p:pic>
        <p:nvPicPr>
          <p:cNvPr id="14" name="Image 1" descr="preencoded.png">    </p:cNvPr>
          <p:cNvPicPr>
            <a:picLocks noChangeAspect="1"/>
          </p:cNvPicPr>
          <p:nvPr/>
        </p:nvPicPr>
        <p:blipFill>
          <a:blip r:embed="rId2"/>
          <a:stretch>
            <a:fillRect/>
          </a:stretch>
        </p:blipFill>
        <p:spPr>
          <a:xfrm>
            <a:off x="6638544" y="2176272"/>
            <a:ext cx="356616" cy="356616"/>
          </a:xfrm>
          <a:prstGeom prst="rect">
            <a:avLst/>
          </a:prstGeom>
        </p:spPr>
      </p:pic>
      <p:sp>
        <p:nvSpPr>
          <p:cNvPr id="15" name="Text 10"/>
          <p:cNvSpPr/>
          <p:nvPr/>
        </p:nvSpPr>
        <p:spPr>
          <a:xfrm>
            <a:off x="7360920" y="1938528"/>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Segment the network</a:t>
            </a:r>
            <a:endParaRPr lang="en-US" sz="1450" dirty="0"/>
          </a:p>
        </p:txBody>
      </p:sp>
      <p:sp>
        <p:nvSpPr>
          <p:cNvPr id="16" name="Text 11"/>
          <p:cNvSpPr/>
          <p:nvPr/>
        </p:nvSpPr>
        <p:spPr>
          <a:xfrm>
            <a:off x="7360920" y="2359152"/>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Connect by exception.</a:t>
            </a:r>
            <a:endParaRPr lang="en-US" sz="1200" dirty="0"/>
          </a:p>
        </p:txBody>
      </p:sp>
      <p:sp>
        <p:nvSpPr>
          <p:cNvPr id="17" name="Shape 12"/>
          <p:cNvSpPr/>
          <p:nvPr/>
        </p:nvSpPr>
        <p:spPr>
          <a:xfrm>
            <a:off x="64008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18" name="Shape 13"/>
          <p:cNvSpPr/>
          <p:nvPr/>
        </p:nvSpPr>
        <p:spPr>
          <a:xfrm>
            <a:off x="896112" y="3410712"/>
            <a:ext cx="685800" cy="685800"/>
          </a:xfrm>
          <a:prstGeom prst="ellipse">
            <a:avLst/>
          </a:prstGeom>
          <a:solidFill>
            <a:srgbClr val="293E7B"/>
          </a:solidFill>
          <a:ln/>
        </p:spPr>
      </p:sp>
      <p:pic>
        <p:nvPicPr>
          <p:cNvPr id="19" name="Image 2" descr="preencoded.png">    </p:cNvPr>
          <p:cNvPicPr>
            <a:picLocks noChangeAspect="1"/>
          </p:cNvPicPr>
          <p:nvPr/>
        </p:nvPicPr>
        <p:blipFill>
          <a:blip r:embed="rId3"/>
          <a:stretch>
            <a:fillRect/>
          </a:stretch>
        </p:blipFill>
        <p:spPr>
          <a:xfrm>
            <a:off x="1060704" y="3575304"/>
            <a:ext cx="356616" cy="356616"/>
          </a:xfrm>
          <a:prstGeom prst="rect">
            <a:avLst/>
          </a:prstGeom>
        </p:spPr>
      </p:pic>
      <p:sp>
        <p:nvSpPr>
          <p:cNvPr id="20" name="Text 14"/>
          <p:cNvSpPr/>
          <p:nvPr/>
        </p:nvSpPr>
        <p:spPr>
          <a:xfrm>
            <a:off x="178308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Layer DoS defences</a:t>
            </a:r>
            <a:endParaRPr lang="en-US" sz="1450" dirty="0"/>
          </a:p>
        </p:txBody>
      </p:sp>
      <p:sp>
        <p:nvSpPr>
          <p:cNvPr id="21" name="Text 15"/>
          <p:cNvSpPr/>
          <p:nvPr/>
        </p:nvSpPr>
        <p:spPr>
          <a:xfrm>
            <a:off x="178308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Filter, rate-limit, absorb; bound scaling.</a:t>
            </a:r>
            <a:endParaRPr lang="en-US" sz="1200" dirty="0"/>
          </a:p>
        </p:txBody>
      </p:sp>
      <p:sp>
        <p:nvSpPr>
          <p:cNvPr id="22" name="Shape 16"/>
          <p:cNvSpPr/>
          <p:nvPr/>
        </p:nvSpPr>
        <p:spPr>
          <a:xfrm>
            <a:off x="6217920" y="3136392"/>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3" name="Shape 17"/>
          <p:cNvSpPr/>
          <p:nvPr/>
        </p:nvSpPr>
        <p:spPr>
          <a:xfrm>
            <a:off x="6473952" y="3410712"/>
            <a:ext cx="685800" cy="685800"/>
          </a:xfrm>
          <a:prstGeom prst="ellipse">
            <a:avLst/>
          </a:prstGeom>
          <a:solidFill>
            <a:srgbClr val="262F65"/>
          </a:solidFill>
          <a:ln/>
        </p:spPr>
      </p:sp>
      <p:pic>
        <p:nvPicPr>
          <p:cNvPr id="24" name="Image 3" descr="preencoded.png">    </p:cNvPr>
          <p:cNvPicPr>
            <a:picLocks noChangeAspect="1"/>
          </p:cNvPicPr>
          <p:nvPr/>
        </p:nvPicPr>
        <p:blipFill>
          <a:blip r:embed="rId4"/>
          <a:stretch>
            <a:fillRect/>
          </a:stretch>
        </p:blipFill>
        <p:spPr>
          <a:xfrm>
            <a:off x="6638544" y="3575304"/>
            <a:ext cx="356616" cy="356616"/>
          </a:xfrm>
          <a:prstGeom prst="rect">
            <a:avLst/>
          </a:prstGeom>
        </p:spPr>
      </p:pic>
      <p:sp>
        <p:nvSpPr>
          <p:cNvPr id="25" name="Text 18"/>
          <p:cNvSpPr/>
          <p:nvPr/>
        </p:nvSpPr>
        <p:spPr>
          <a:xfrm>
            <a:off x="7360920" y="3337560"/>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Federate with a trust broker</a:t>
            </a:r>
            <a:endParaRPr lang="en-US" sz="1450" dirty="0"/>
          </a:p>
        </p:txBody>
      </p:sp>
      <p:sp>
        <p:nvSpPr>
          <p:cNvPr id="26" name="Text 19"/>
          <p:cNvSpPr/>
          <p:nvPr/>
        </p:nvSpPr>
        <p:spPr>
          <a:xfrm>
            <a:off x="7360920" y="3758184"/>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Plus conditional access.</a:t>
            </a:r>
            <a:endParaRPr lang="en-US" sz="1200" dirty="0"/>
          </a:p>
        </p:txBody>
      </p:sp>
      <p:sp>
        <p:nvSpPr>
          <p:cNvPr id="27" name="Shape 20"/>
          <p:cNvSpPr/>
          <p:nvPr/>
        </p:nvSpPr>
        <p:spPr>
          <a:xfrm>
            <a:off x="64008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28" name="Shape 21"/>
          <p:cNvSpPr/>
          <p:nvPr/>
        </p:nvSpPr>
        <p:spPr>
          <a:xfrm>
            <a:off x="896112" y="4809744"/>
            <a:ext cx="685800" cy="685800"/>
          </a:xfrm>
          <a:prstGeom prst="ellipse">
            <a:avLst/>
          </a:prstGeom>
          <a:solidFill>
            <a:srgbClr val="F2931F"/>
          </a:solidFill>
          <a:ln/>
        </p:spPr>
      </p:sp>
      <p:pic>
        <p:nvPicPr>
          <p:cNvPr id="29" name="Image 4" descr="preencoded.png">    </p:cNvPr>
          <p:cNvPicPr>
            <a:picLocks noChangeAspect="1"/>
          </p:cNvPicPr>
          <p:nvPr/>
        </p:nvPicPr>
        <p:blipFill>
          <a:blip r:embed="rId5"/>
          <a:stretch>
            <a:fillRect/>
          </a:stretch>
        </p:blipFill>
        <p:spPr>
          <a:xfrm>
            <a:off x="1060704" y="4974336"/>
            <a:ext cx="356616" cy="356616"/>
          </a:xfrm>
          <a:prstGeom prst="rect">
            <a:avLst/>
          </a:prstGeom>
        </p:spPr>
      </p:pic>
      <p:sp>
        <p:nvSpPr>
          <p:cNvPr id="30" name="Text 22"/>
          <p:cNvSpPr/>
          <p:nvPr/>
        </p:nvSpPr>
        <p:spPr>
          <a:xfrm>
            <a:off x="178308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Centralise keys (KMS/HSM)</a:t>
            </a:r>
            <a:endParaRPr lang="en-US" sz="1450" dirty="0"/>
          </a:p>
        </p:txBody>
      </p:sp>
      <p:sp>
        <p:nvSpPr>
          <p:cNvPr id="31" name="Text 23"/>
          <p:cNvSpPr/>
          <p:nvPr/>
        </p:nvSpPr>
        <p:spPr>
          <a:xfrm>
            <a:off x="178308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Envelope + per-tenant keys.</a:t>
            </a:r>
            <a:endParaRPr lang="en-US" sz="1200" dirty="0"/>
          </a:p>
        </p:txBody>
      </p:sp>
      <p:sp>
        <p:nvSpPr>
          <p:cNvPr id="32" name="Shape 24"/>
          <p:cNvSpPr/>
          <p:nvPr/>
        </p:nvSpPr>
        <p:spPr>
          <a:xfrm>
            <a:off x="6217920" y="4535424"/>
            <a:ext cx="5257800" cy="1234440"/>
          </a:xfrm>
          <a:prstGeom prst="roundRect">
            <a:avLst>
              <a:gd name="adj" fmla="val 6667"/>
            </a:avLst>
          </a:prstGeom>
          <a:solidFill>
            <a:srgbClr val="F4F6FB"/>
          </a:solidFill>
          <a:ln/>
          <a:effectLst>
            <a:outerShdw sx="100000" sy="100000" kx="0" ky="0" algn="bl" rotWithShape="0" blurRad="88900" dist="38100" dir="5400000">
              <a:srgbClr val="8894AD">
                <a:alpha val="28000"/>
              </a:srgbClr>
            </a:outerShdw>
          </a:effectLst>
        </p:spPr>
      </p:sp>
      <p:sp>
        <p:nvSpPr>
          <p:cNvPr id="33" name="Shape 25"/>
          <p:cNvSpPr/>
          <p:nvPr/>
        </p:nvSpPr>
        <p:spPr>
          <a:xfrm>
            <a:off x="6473952" y="4809744"/>
            <a:ext cx="685800" cy="685800"/>
          </a:xfrm>
          <a:prstGeom prst="ellipse">
            <a:avLst/>
          </a:prstGeom>
          <a:solidFill>
            <a:srgbClr val="293E7B"/>
          </a:solidFill>
          <a:ln/>
        </p:spPr>
      </p:sp>
      <p:pic>
        <p:nvPicPr>
          <p:cNvPr id="34" name="Image 5" descr="preencoded.png">    </p:cNvPr>
          <p:cNvPicPr>
            <a:picLocks noChangeAspect="1"/>
          </p:cNvPicPr>
          <p:nvPr/>
        </p:nvPicPr>
        <p:blipFill>
          <a:blip r:embed="rId6"/>
          <a:stretch>
            <a:fillRect/>
          </a:stretch>
        </p:blipFill>
        <p:spPr>
          <a:xfrm>
            <a:off x="6638544" y="4974336"/>
            <a:ext cx="356616" cy="356616"/>
          </a:xfrm>
          <a:prstGeom prst="rect">
            <a:avLst/>
          </a:prstGeom>
        </p:spPr>
      </p:pic>
      <p:sp>
        <p:nvSpPr>
          <p:cNvPr id="35" name="Text 26"/>
          <p:cNvSpPr/>
          <p:nvPr/>
        </p:nvSpPr>
        <p:spPr>
          <a:xfrm>
            <a:off x="7360920" y="4736592"/>
            <a:ext cx="3886200" cy="411480"/>
          </a:xfrm>
          <a:prstGeom prst="rect">
            <a:avLst/>
          </a:prstGeom>
          <a:noFill/>
          <a:ln/>
        </p:spPr>
        <p:txBody>
          <a:bodyPr wrap="square" lIns="0" tIns="0" rIns="0" bIns="0" rtlCol="0" anchor="t"/>
          <a:lstStyle/>
          <a:p>
            <a:pPr indent="0" marL="0">
              <a:buNone/>
            </a:pPr>
            <a:r>
              <a:rPr lang="en-US" sz="1450" b="1" dirty="0">
                <a:solidFill>
                  <a:srgbClr val="262F65"/>
                </a:solidFill>
                <a:latin typeface="Calibri" pitchFamily="34" charset="0"/>
                <a:ea typeface="Calibri" pitchFamily="34" charset="-122"/>
                <a:cs typeface="Calibri" pitchFamily="34" charset="-120"/>
              </a:rPr>
              <a:t>Compose across families</a:t>
            </a:r>
            <a:endParaRPr lang="en-US" sz="1450" dirty="0"/>
          </a:p>
        </p:txBody>
      </p:sp>
      <p:sp>
        <p:nvSpPr>
          <p:cNvPr id="36" name="Text 27"/>
          <p:cNvSpPr/>
          <p:nvPr/>
        </p:nvSpPr>
        <p:spPr>
          <a:xfrm>
            <a:off x="7360920" y="5157216"/>
            <a:ext cx="3886200" cy="5029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Defense in depth (SC8).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515600" cy="274320"/>
          </a:xfrm>
          <a:prstGeom prst="rect">
            <a:avLst/>
          </a:prstGeom>
          <a:noFill/>
          <a:ln/>
        </p:spPr>
        <p:txBody>
          <a:bodyPr wrap="square" lIns="0" tIns="0" rIns="0" bIns="0" rtlCol="0" anchor="ctr"/>
          <a:lstStyle/>
          <a:p>
            <a:pPr indent="0" marL="0">
              <a:buNone/>
            </a:pPr>
            <a:r>
              <a:rPr lang="en-US" sz="1150" b="1" spc="200" kern="0" dirty="0">
                <a:solidFill>
                  <a:srgbClr val="F2931F"/>
                </a:solidFill>
                <a:latin typeface="Calibri" pitchFamily="34" charset="0"/>
                <a:ea typeface="Calibri" pitchFamily="34" charset="-122"/>
                <a:cs typeface="Calibri" pitchFamily="34" charset="-120"/>
              </a:rPr>
              <a:t>RECAP</a:t>
            </a:r>
            <a:endParaRPr lang="en-US" sz="1150" dirty="0"/>
          </a:p>
        </p:txBody>
      </p:sp>
      <p:sp>
        <p:nvSpPr>
          <p:cNvPr id="3" name="Text 1"/>
          <p:cNvSpPr/>
          <p:nvPr/>
        </p:nvSpPr>
        <p:spPr>
          <a:xfrm>
            <a:off x="640080" y="658368"/>
            <a:ext cx="10972800" cy="777240"/>
          </a:xfrm>
          <a:prstGeom prst="rect">
            <a:avLst/>
          </a:prstGeom>
          <a:noFill/>
          <a:ln/>
        </p:spPr>
        <p:txBody>
          <a:bodyPr wrap="square" lIns="0" tIns="0" rIns="0" bIns="0" rtlCol="0" anchor="t"/>
          <a:lstStyle/>
          <a:p>
            <a:pPr indent="0" marL="0">
              <a:buNone/>
            </a:pPr>
            <a:r>
              <a:rPr lang="en-US" sz="2600" b="1" dirty="0">
                <a:solidFill>
                  <a:srgbClr val="262F65"/>
                </a:solidFill>
                <a:latin typeface="Cambria" pitchFamily="34" charset="0"/>
                <a:ea typeface="Cambria" pitchFamily="34" charset="-122"/>
                <a:cs typeface="Cambria" pitchFamily="34" charset="-120"/>
              </a:rPr>
              <a:t>Key takeaways</a:t>
            </a:r>
            <a:endParaRPr lang="en-US" sz="2600" dirty="0"/>
          </a:p>
        </p:txBody>
      </p:sp>
      <p:sp>
        <p:nvSpPr>
          <p:cNvPr id="4" name="Text 2"/>
          <p:cNvSpPr/>
          <p:nvPr/>
        </p:nvSpPr>
        <p:spPr>
          <a:xfrm>
            <a:off x="640080" y="6519672"/>
            <a:ext cx="7315200" cy="274320"/>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IKB42603 Cloud Computing Security Essentials</a:t>
            </a:r>
            <a:endParaRPr lang="en-US" sz="900" dirty="0"/>
          </a:p>
        </p:txBody>
      </p:sp>
      <p:sp>
        <p:nvSpPr>
          <p:cNvPr id="5" name="Text 3"/>
          <p:cNvSpPr/>
          <p:nvPr/>
        </p:nvSpPr>
        <p:spPr>
          <a:xfrm>
            <a:off x="11247120" y="6519672"/>
            <a:ext cx="64008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7" name="Shape 4"/>
          <p:cNvSpPr/>
          <p:nvPr/>
        </p:nvSpPr>
        <p:spPr>
          <a:xfrm>
            <a:off x="640080" y="1783080"/>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8" name="Shape 5"/>
          <p:cNvSpPr/>
          <p:nvPr/>
        </p:nvSpPr>
        <p:spPr>
          <a:xfrm>
            <a:off x="868680" y="1956816"/>
            <a:ext cx="548640" cy="548640"/>
          </a:xfrm>
          <a:prstGeom prst="ellipse">
            <a:avLst/>
          </a:prstGeom>
          <a:solidFill>
            <a:srgbClr val="262F65"/>
          </a:solidFill>
          <a:ln/>
        </p:spPr>
      </p:sp>
      <p:pic>
        <p:nvPicPr>
          <p:cNvPr id="9" name="Image 0" descr="preencoded.png">    </p:cNvPr>
          <p:cNvPicPr>
            <a:picLocks noChangeAspect="1"/>
          </p:cNvPicPr>
          <p:nvPr/>
        </p:nvPicPr>
        <p:blipFill>
          <a:blip r:embed="rId1"/>
          <a:stretch>
            <a:fillRect/>
          </a:stretch>
        </p:blipFill>
        <p:spPr>
          <a:xfrm>
            <a:off x="1000354" y="2088490"/>
            <a:ext cx="285293" cy="285293"/>
          </a:xfrm>
          <a:prstGeom prst="rect">
            <a:avLst/>
          </a:prstGeom>
        </p:spPr>
      </p:pic>
      <p:sp>
        <p:nvSpPr>
          <p:cNvPr id="10" name="Text 6"/>
          <p:cNvSpPr/>
          <p:nvPr/>
        </p:nvSpPr>
        <p:spPr>
          <a:xfrm>
            <a:off x="1600200" y="1856232"/>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1   </a:t>
            </a:r>
            <a:pPr indent="0" marL="0">
              <a:buNone/>
            </a:pPr>
            <a:r>
              <a:rPr lang="en-US" sz="1350" dirty="0">
                <a:solidFill>
                  <a:srgbClr val="23283A"/>
                </a:solidFill>
                <a:latin typeface="Calibri" pitchFamily="34" charset="0"/>
                <a:ea typeface="Calibri" pitchFamily="34" charset="-122"/>
                <a:cs typeface="Calibri" pitchFamily="34" charset="-120"/>
              </a:rPr>
              <a:t>Network patterns — secure connections, virtual perimeters, segmentation — protect traffic and confine breaches.</a:t>
            </a:r>
            <a:endParaRPr lang="en-US" sz="1350" dirty="0"/>
          </a:p>
        </p:txBody>
      </p:sp>
      <p:sp>
        <p:nvSpPr>
          <p:cNvPr id="11" name="Shape 7"/>
          <p:cNvSpPr/>
          <p:nvPr/>
        </p:nvSpPr>
        <p:spPr>
          <a:xfrm>
            <a:off x="640080" y="2807208"/>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2" name="Shape 8"/>
          <p:cNvSpPr/>
          <p:nvPr/>
        </p:nvSpPr>
        <p:spPr>
          <a:xfrm>
            <a:off x="868680" y="2980944"/>
            <a:ext cx="548640" cy="548640"/>
          </a:xfrm>
          <a:prstGeom prst="ellipse">
            <a:avLst/>
          </a:prstGeom>
          <a:solidFill>
            <a:srgbClr val="293E7B"/>
          </a:solidFill>
          <a:ln/>
        </p:spPr>
      </p:sp>
      <p:pic>
        <p:nvPicPr>
          <p:cNvPr id="13" name="Image 1" descr="preencoded.png">    </p:cNvPr>
          <p:cNvPicPr>
            <a:picLocks noChangeAspect="1"/>
          </p:cNvPicPr>
          <p:nvPr/>
        </p:nvPicPr>
        <p:blipFill>
          <a:blip r:embed="rId2"/>
          <a:stretch>
            <a:fillRect/>
          </a:stretch>
        </p:blipFill>
        <p:spPr>
          <a:xfrm>
            <a:off x="1000354" y="3112618"/>
            <a:ext cx="285293" cy="285293"/>
          </a:xfrm>
          <a:prstGeom prst="rect">
            <a:avLst/>
          </a:prstGeom>
        </p:spPr>
      </p:pic>
      <p:sp>
        <p:nvSpPr>
          <p:cNvPr id="14" name="Text 9"/>
          <p:cNvSpPr/>
          <p:nvPr/>
        </p:nvSpPr>
        <p:spPr>
          <a:xfrm>
            <a:off x="1600200" y="2880360"/>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2   </a:t>
            </a:r>
            <a:pPr indent="0" marL="0">
              <a:buNone/>
            </a:pPr>
            <a:r>
              <a:rPr lang="en-US" sz="1350" dirty="0">
                <a:solidFill>
                  <a:srgbClr val="23283A"/>
                </a:solidFill>
                <a:latin typeface="Calibri" pitchFamily="34" charset="0"/>
                <a:ea typeface="Calibri" pitchFamily="34" charset="-122"/>
                <a:cs typeface="Calibri" pitchFamily="34" charset="-120"/>
              </a:rPr>
              <a:t>DoS-protection patterns keep availability under attack — filter, rate-limit, absorb; bound the scaling.</a:t>
            </a:r>
            <a:endParaRPr lang="en-US" sz="1350" dirty="0"/>
          </a:p>
        </p:txBody>
      </p:sp>
      <p:sp>
        <p:nvSpPr>
          <p:cNvPr id="15" name="Shape 10"/>
          <p:cNvSpPr/>
          <p:nvPr/>
        </p:nvSpPr>
        <p:spPr>
          <a:xfrm>
            <a:off x="640080" y="3831336"/>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16" name="Shape 11"/>
          <p:cNvSpPr/>
          <p:nvPr/>
        </p:nvSpPr>
        <p:spPr>
          <a:xfrm>
            <a:off x="868680" y="4005072"/>
            <a:ext cx="548640" cy="548640"/>
          </a:xfrm>
          <a:prstGeom prst="ellipse">
            <a:avLst/>
          </a:prstGeom>
          <a:solidFill>
            <a:srgbClr val="F2931F"/>
          </a:solidFill>
          <a:ln/>
        </p:spPr>
      </p:sp>
      <p:pic>
        <p:nvPicPr>
          <p:cNvPr id="17" name="Image 2" descr="preencoded.png">    </p:cNvPr>
          <p:cNvPicPr>
            <a:picLocks noChangeAspect="1"/>
          </p:cNvPicPr>
          <p:nvPr/>
        </p:nvPicPr>
        <p:blipFill>
          <a:blip r:embed="rId3"/>
          <a:stretch>
            <a:fillRect/>
          </a:stretch>
        </p:blipFill>
        <p:spPr>
          <a:xfrm>
            <a:off x="1000354" y="4136746"/>
            <a:ext cx="285293" cy="285293"/>
          </a:xfrm>
          <a:prstGeom prst="rect">
            <a:avLst/>
          </a:prstGeom>
        </p:spPr>
      </p:pic>
      <p:sp>
        <p:nvSpPr>
          <p:cNvPr id="18" name="Text 12"/>
          <p:cNvSpPr/>
          <p:nvPr/>
        </p:nvSpPr>
        <p:spPr>
          <a:xfrm>
            <a:off x="1600200" y="3904488"/>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3   </a:t>
            </a:r>
            <a:pPr indent="0" marL="0">
              <a:buNone/>
            </a:pPr>
            <a:r>
              <a:rPr lang="en-US" sz="1350" dirty="0">
                <a:solidFill>
                  <a:srgbClr val="23283A"/>
                </a:solidFill>
                <a:latin typeface="Calibri" pitchFamily="34" charset="0"/>
                <a:ea typeface="Calibri" pitchFamily="34" charset="-122"/>
                <a:cs typeface="Calibri" pitchFamily="34" charset="-120"/>
              </a:rPr>
              <a:t>Federated auth patterns (trust broker, SSO gateway, conditional access) scale identity across boundaries.</a:t>
            </a:r>
            <a:endParaRPr lang="en-US" sz="1350" dirty="0"/>
          </a:p>
        </p:txBody>
      </p:sp>
      <p:sp>
        <p:nvSpPr>
          <p:cNvPr id="19" name="Shape 13"/>
          <p:cNvSpPr/>
          <p:nvPr/>
        </p:nvSpPr>
        <p:spPr>
          <a:xfrm>
            <a:off x="640080" y="4855464"/>
            <a:ext cx="10881360" cy="896112"/>
          </a:xfrm>
          <a:prstGeom prst="roundRect">
            <a:avLst>
              <a:gd name="adj" fmla="val 9184"/>
            </a:avLst>
          </a:prstGeom>
          <a:solidFill>
            <a:srgbClr val="F4F6FB"/>
          </a:solidFill>
          <a:ln/>
          <a:effectLst>
            <a:outerShdw sx="100000" sy="100000" kx="0" ky="0" algn="bl" rotWithShape="0" blurRad="88900" dist="38100" dir="5400000">
              <a:srgbClr val="8894AD">
                <a:alpha val="28000"/>
              </a:srgbClr>
            </a:outerShdw>
          </a:effectLst>
        </p:spPr>
      </p:sp>
      <p:sp>
        <p:nvSpPr>
          <p:cNvPr id="20" name="Shape 14"/>
          <p:cNvSpPr/>
          <p:nvPr/>
        </p:nvSpPr>
        <p:spPr>
          <a:xfrm>
            <a:off x="868680" y="5029200"/>
            <a:ext cx="548640" cy="548640"/>
          </a:xfrm>
          <a:prstGeom prst="ellipse">
            <a:avLst/>
          </a:prstGeom>
          <a:solidFill>
            <a:srgbClr val="FABA32"/>
          </a:solidFill>
          <a:ln/>
        </p:spPr>
      </p:sp>
      <p:pic>
        <p:nvPicPr>
          <p:cNvPr id="21" name="Image 3" descr="preencoded.png">    </p:cNvPr>
          <p:cNvPicPr>
            <a:picLocks noChangeAspect="1"/>
          </p:cNvPicPr>
          <p:nvPr/>
        </p:nvPicPr>
        <p:blipFill>
          <a:blip r:embed="rId4"/>
          <a:stretch>
            <a:fillRect/>
          </a:stretch>
        </p:blipFill>
        <p:spPr>
          <a:xfrm>
            <a:off x="1000354" y="5160874"/>
            <a:ext cx="285293" cy="285293"/>
          </a:xfrm>
          <a:prstGeom prst="rect">
            <a:avLst/>
          </a:prstGeom>
        </p:spPr>
      </p:pic>
      <p:sp>
        <p:nvSpPr>
          <p:cNvPr id="22" name="Text 15"/>
          <p:cNvSpPr/>
          <p:nvPr/>
        </p:nvSpPr>
        <p:spPr>
          <a:xfrm>
            <a:off x="1600200" y="4928616"/>
            <a:ext cx="9692640" cy="749808"/>
          </a:xfrm>
          <a:prstGeom prst="rect">
            <a:avLst/>
          </a:prstGeom>
          <a:noFill/>
          <a:ln/>
        </p:spPr>
        <p:txBody>
          <a:bodyPr wrap="square" lIns="0" tIns="0" rIns="0" bIns="0" rtlCol="0" anchor="ctr"/>
          <a:lstStyle/>
          <a:p>
            <a:pPr indent="0" marL="0">
              <a:buNone/>
            </a:pPr>
            <a:r>
              <a:rPr lang="en-US" sz="1600" b="1" dirty="0">
                <a:solidFill>
                  <a:srgbClr val="F2931F"/>
                </a:solidFill>
                <a:latin typeface="Calibri" pitchFamily="34" charset="0"/>
                <a:ea typeface="Calibri" pitchFamily="34" charset="-122"/>
                <a:cs typeface="Calibri" pitchFamily="34" charset="-120"/>
              </a:rPr>
              <a:t>4   </a:t>
            </a:r>
            <a:pPr indent="0" marL="0">
              <a:buNone/>
            </a:pPr>
            <a:r>
              <a:rPr lang="en-US" sz="1350" dirty="0">
                <a:solidFill>
                  <a:srgbClr val="23283A"/>
                </a:solidFill>
                <a:latin typeface="Calibri" pitchFamily="34" charset="0"/>
                <a:ea typeface="Calibri" pitchFamily="34" charset="-122"/>
                <a:cs typeface="Calibri" pitchFamily="34" charset="-120"/>
              </a:rPr>
              <a:t>Key-management patterns (KMS/HSM, envelope, per-tenant keys) make encryption trustworthy at scale.</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62F65"/>
        </a:solidFill>
      </p:bgPr>
    </p:bg>
    <p:spTree>
      <p:nvGrpSpPr>
        <p:cNvPr id="1" name=""/>
        <p:cNvGrpSpPr/>
        <p:nvPr/>
      </p:nvGrpSpPr>
      <p:grpSpPr>
        <a:xfrm>
          <a:off x="0" y="0"/>
          <a:ext cx="0" cy="0"/>
          <a:chOff x="0" y="0"/>
          <a:chExt cx="0" cy="0"/>
        </a:xfrm>
      </p:grpSpPr>
      <p:sp>
        <p:nvSpPr>
          <p:cNvPr id="2" name="Shape 0"/>
          <p:cNvSpPr/>
          <p:nvPr/>
        </p:nvSpPr>
        <p:spPr>
          <a:xfrm>
            <a:off x="9509760" y="4206240"/>
            <a:ext cx="4206240" cy="4206240"/>
          </a:xfrm>
          <a:prstGeom prst="ellipse">
            <a:avLst/>
          </a:prstGeom>
          <a:solidFill>
            <a:srgbClr val="293E7B">
              <a:alpha val="45000"/>
            </a:srgbClr>
          </a:solidFill>
          <a:ln/>
        </p:spPr>
      </p:sp>
      <p:sp>
        <p:nvSpPr>
          <p:cNvPr id="3" name="Shape 1"/>
          <p:cNvSpPr/>
          <p:nvPr/>
        </p:nvSpPr>
        <p:spPr>
          <a:xfrm>
            <a:off x="640080" y="1280160"/>
            <a:ext cx="1188720" cy="1188720"/>
          </a:xfrm>
          <a:prstGeom prst="ellipse">
            <a:avLst/>
          </a:prstGeom>
          <a:solidFill>
            <a:srgbClr val="FABA32"/>
          </a:solidFill>
          <a:ln/>
        </p:spPr>
      </p:sp>
      <p:pic>
        <p:nvPicPr>
          <p:cNvPr id="4" name="Image 0" descr="preencoded.png">    </p:cNvPr>
          <p:cNvPicPr>
            <a:picLocks noChangeAspect="1"/>
          </p:cNvPicPr>
          <p:nvPr/>
        </p:nvPicPr>
        <p:blipFill>
          <a:blip r:embed="rId1"/>
          <a:stretch>
            <a:fillRect/>
          </a:stretch>
        </p:blipFill>
        <p:spPr>
          <a:xfrm>
            <a:off x="925373" y="1565453"/>
            <a:ext cx="618134" cy="618134"/>
          </a:xfrm>
          <a:prstGeom prst="rect">
            <a:avLst/>
          </a:prstGeom>
        </p:spPr>
      </p:pic>
      <p:sp>
        <p:nvSpPr>
          <p:cNvPr id="5" name="Text 2"/>
          <p:cNvSpPr/>
          <p:nvPr/>
        </p:nvSpPr>
        <p:spPr>
          <a:xfrm>
            <a:off x="640080" y="265176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Discussion &amp; Q&amp;A</a:t>
            </a:r>
            <a:endParaRPr lang="en-US" sz="3600" dirty="0"/>
          </a:p>
        </p:txBody>
      </p:sp>
      <p:sp>
        <p:nvSpPr>
          <p:cNvPr id="6" name="Text 3"/>
          <p:cNvSpPr/>
          <p:nvPr/>
        </p:nvSpPr>
        <p:spPr>
          <a:xfrm>
            <a:off x="640080" y="3611880"/>
            <a:ext cx="10058400" cy="1463040"/>
          </a:xfrm>
          <a:prstGeom prst="rect">
            <a:avLst/>
          </a:prstGeom>
          <a:noFill/>
          <a:ln/>
        </p:spPr>
        <p:txBody>
          <a:bodyPr wrap="square" lIns="0" tIns="0" rIns="0" bIns="0" rtlCol="0" anchor="t"/>
          <a:lstStyle/>
          <a:p>
            <a:pPr marL="342900" indent="-342900">
              <a:lnSpc>
                <a:spcPct val="130000"/>
              </a:lnSpc>
              <a:buSzPct val="100000"/>
              <a:buChar char="•"/>
            </a:pPr>
            <a:r>
              <a:rPr lang="en-US" sz="1650" dirty="0">
                <a:solidFill>
                  <a:srgbClr val="B6E0F2"/>
                </a:solidFill>
                <a:latin typeface="Calibri" pitchFamily="34" charset="0"/>
                <a:ea typeface="Calibri" pitchFamily="34" charset="-122"/>
                <a:cs typeface="Calibri" pitchFamily="34" charset="-120"/>
              </a:rPr>
              <a:t>Why can't auto-scaling alone defend against a DDoS attack — what else is required?</a:t>
            </a:r>
            <a:endParaRPr lang="en-US" sz="1650" dirty="0"/>
          </a:p>
          <a:p>
            <a:pPr indent="0" marL="0">
              <a:lnSpc>
                <a:spcPct val="130000"/>
              </a:lnSpc>
              <a:buNone/>
            </a:pPr>
            <a:r>
              <a:rPr lang="en-US" sz="1650" dirty="0">
                <a:solidFill>
                  <a:srgbClr val="B6E0F2"/>
                </a:solidFill>
                <a:latin typeface="Calibri" pitchFamily="34" charset="0"/>
                <a:ea typeface="Calibri" pitchFamily="34" charset="-122"/>
                <a:cs typeface="Calibri" pitchFamily="34" charset="-120"/>
              </a:rPr>
              <a:t>Where would you place your strongest key-management controls, and why?</a:t>
            </a:r>
            <a:endParaRPr lang="en-US" sz="1650" dirty="0"/>
          </a:p>
        </p:txBody>
      </p:sp>
      <p:sp>
        <p:nvSpPr>
          <p:cNvPr id="7" name="Text 4"/>
          <p:cNvSpPr/>
          <p:nvPr/>
        </p:nvSpPr>
        <p:spPr>
          <a:xfrm>
            <a:off x="640080" y="5760720"/>
            <a:ext cx="10789920" cy="457200"/>
          </a:xfrm>
          <a:prstGeom prst="rect">
            <a:avLst/>
          </a:prstGeom>
          <a:noFill/>
          <a:ln/>
        </p:spPr>
        <p:txBody>
          <a:bodyPr wrap="square" lIns="0" tIns="0" rIns="0" bIns="0" rtlCol="0" anchor="ctr"/>
          <a:lstStyle/>
          <a:p>
            <a:pPr indent="0" marL="0">
              <a:buNone/>
            </a:pPr>
            <a:r>
              <a:rPr lang="en-US" sz="1300" i="1" dirty="0">
                <a:solidFill>
                  <a:srgbClr val="FABA32"/>
                </a:solidFill>
                <a:latin typeface="Calibri" pitchFamily="34" charset="0"/>
                <a:ea typeface="Calibri" pitchFamily="34" charset="-122"/>
                <a:cs typeface="Calibri" pitchFamily="34" charset="-120"/>
              </a:rPr>
              <a:t>Next week — Lesson 10:  Policy, Compliance &amp; Risk Management in Cloud Computing (ISO 27018 · CSA STAR · SLAs)</a:t>
            </a:r>
            <a:endParaRPr lang="en-US" sz="1300" dirty="0"/>
          </a:p>
        </p:txBody>
      </p:sp>
      <p:pic>
        <p:nvPicPr>
          <p:cNvPr id="8" name="Image 1" descr="/sessions/inspiring-busy-dijkstra/mnt/outputs/build/assets/logo_white_trim.png">    </p:cNvPr>
          <p:cNvPicPr>
            <a:picLocks noChangeAspect="1"/>
          </p:cNvPicPr>
          <p:nvPr/>
        </p:nvPicPr>
        <p:blipFill>
          <a:blip r:embed="rId2"/>
          <a:stretch>
            <a:fillRect/>
          </a:stretch>
        </p:blipFill>
        <p:spPr>
          <a:xfrm>
            <a:off x="10195560" y="502920"/>
            <a:ext cx="1417320" cy="6439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 — Cloud Computing Security Design Patterns II</dc:title>
  <dc:subject>PptxGenJS Presentation</dc:subject>
  <dc:creator>Prof. Dr. Shahrulniza Musa</dc:creator>
  <cp:lastModifiedBy>Prof. Dr. Shahrulniza Musa</cp:lastModifiedBy>
  <cp:revision>1</cp:revision>
  <dcterms:created xsi:type="dcterms:W3CDTF">2026-07-09T09:48:47Z</dcterms:created>
  <dcterms:modified xsi:type="dcterms:W3CDTF">2026-07-09T09:48:47Z</dcterms:modified>
</cp:coreProperties>
</file>