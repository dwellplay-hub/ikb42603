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10. The course now shifts from technical controls to governance — the policies, standards, risk decisions and contracts that make cloud security accountable and lawful. This is CLO3 territory, assessed by the assignment and the presentation, and it carries the VBE3 professional-integrity value. Frame it: technology answers 'can we secure it?'; governance answers 'are we managing it responsibly, legally, and to an agreed standard?' Walk the outcomes. Tell students that in professional practice, security and compliance are inseparable — a control that is not documented, assessed and contracted may as well not exist to an auditor or a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Constructive-alignment slide. Lesson 10 maps to CLO3 — presenting compliance with SLAs and data-privacy obligations with professional integrity — aligned to PLO9 (ethics and professionalism), MQF Level iii(f), and Bloom's affective level A2. It carries the VBE3 integrity value strongly (managing others' data and compliance honestly) and is assessed through the Assignment on SLA and data-privacy. Use it to show the shift from technical outcomes to the professional-integrity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how leadership directs and controls security to meet objectives and obligations; policy is how governance is expressed. Without them, security is ad hoc and unaccountable.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cloud governance is the framework of decision-making, policies and accountability that ensures cloud use aligns with the organisation's objectives, risk appetite and legal obligations. Contrast governance with management: management runs security day to day; governance sets the direction, assigns accountability, and checks that management is doing the right things. Stress the shared-responsibility connection from Lesson 1 — governance is where an organisation formally decides which controls are theirs versus the provider's, and holds someone accountable for each. Note the cloud twist on the slide: because self-service lets anyone spin up resources in seconds, governance must be embedded (guardrails, policy-as-code) rather than relying on manual gatekeeping. The message: governance turns scattered technical controls into a coherent, accountable program — it is what an auditor, a regulator or a board actually inspects.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Policies are how governance is written down and enforced. Explain the hierarchy on the slide. At the top sits the information security policy — the leadership-signed statement of how the security program is run and what it aims to protect; it should carry business-leadership sign-off to give it authority. Beneath it, topic-specific policies cover areas like acceptable use, access control, data classification, encryption and incident response. Below those, standards and procedures give the concrete, testable requirements — 'MFA is required for all admin access', 'data classified Confidential must be encrypted'. In the cloud, the most effective policies are enforced automatically as guardrails or policy-as-code, so violations are prevented or flagged rather than relying on people to remember. The teaching point: good policy is specific, owned, and enforced — vague policies no one can test are theatre. Policies are also the yardstick auditing (Lesson 6) checks against, tying governance to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means demonstrably meeting external obligations — laws, regulations and standards. We survey the frameworks that matter most in the cloud and the CSA STAR program that assesses providers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is demonstrably meeting the external obligations that apply to your data and industry — and 'demonstrably' is the operative word: you must be able to prove it with evidence, which is why the audit trail and documentation matter. Survey the standards on the slide, which students should recognise by name and purpose. ISO/IEC 27001 is the general information-security management standard; 27017 adds cloud-specific security controls; 27018 focuses on protecting personal data (PII) in the cloud — directly relevant to privacy. PCI DSS governs the handling of payment-card data, the subject of next week's case study. NIST SP 800-53 and the Risk Management Framework are the widely adopted US control catalogues. GDPR (and Malaysia's PDPA) are privacy laws with real penalties. The point: different data and industries trigger different obligations, and cloud adds the twist that responsibility is shared — the provider may be certified, but you must still configure and use the service compliantly. This sets up CSA STAR next, which is how you assess a provider's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Security Alliance provides the tools to assess and compare cloud providers, which students should know by name. The Cloud Controls Matrix (CCM) is a cloud-specific catalogue of security control objectives, mapped to many other standards — so meeting the CCM helps you meet ISO, PCI and others at once. The Consensus Assessments Initiative Questionnaire (CAIQ) is a standard questionnaire providers complete to document how they meet each CCM control — a transparency instrument. STAR, the Security Trust Assurance and Risk program, is the registry where providers publish their CAIQ self-assessments and third-party certifications, so customers can compare providers' security postures and make risk-aware choices. Explain the value: instead of trusting marketing, a customer can inspect a provider's STAR entry to see concrete evidence of controls. STAR has levels — self-assessment through independent third-party certification and continuous monitoring — giving increasing assurance. This is the practical answer to 'how do I know my provider is secure?' and it directly supports the shared-responsibility and compliance decisions governance must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sets a floor; risk management decides where to invest above it. It is the disciplined process of identifying what could go wrong, how bad it would be, and what to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risk cycle on the slide. Identify: find the assets, threats and vulnerabilities — in the cloud this starts with knowing where data lives and how it flows (threat modeling). Assess: estimate each risk's likelihood and impact, often combined into a risk rating, to prioritise — you cannot fix everything, so you rank. Treat: decide what to do about each risk (the four options on the next slide). Monitor: risks change as the environment and threats evolve, so review continuously — the cloud changes fast. Stress that risk is measured as likelihood times impact, and the goal is not zero risk (impossible) but reducing risk to an acceptable level defined by the organisation's risk appetite, a governance decision. Connect to earlier lessons: the controls we have studied are risk treatments, and monitoring (Lesson 6) feeds the ongoing risk picture. This process is how professionals justify what to secure first — exactly the reasoning the assignment expects.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risk is assessed, there are four standard treatment options — a framework students should memorise. Mitigate (reduce): apply controls to lower likelihood or impact — the most common choice and what most of this course has been about. Transfer (share): shift the financial impact to another party, for example through cyber-insurance or by contracting a provider to handle it — but note you can transfer financial impact, not accountability. Avoid: stop doing the risky activity altogether — for example, decide not to store a particularly sensitive data type in the cloud. Accept: consciously accept the risk when it is low or the cost of treatment exceeds the benefit — but acceptance must be a documented, authorised decision, not neglect. Add the key metrics on the slide that inform these choices — likelihood, impact, and residual risk (what remains after treatment). The teaching point: risk management is about deliberate, documented choices, not eliminating all risk — and 'accept' is a legitimate option only when explicitly owned. This is the professional-integrity (VBE3) discipline behind CLO3.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crosses borders, which raises hard legal questions about where data lives, who can compel access to it, and how you investigate incidents on infrastructure you don't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cloud, your data may physically reside in another country, which triggers legal complexity students must appreciate. Jurisdiction: the laws that apply to your data can depend on where it is stored, where your organisation is, and where your users are — potentially several regimes at once. Data sovereignty: many countries and sectors require that certain data stay within national borders, or forbid it leaving — Malaysia's regulatory environment and sectors like government and finance have such requirements. Cross-border transfer: laws like GDPR restrict moving personal data to countries without adequate protection. The practical consequence on the slide: you must know and control WHERE your data is stored, which is why providers offer region selection and why governance must set data-residency policy. Add the sobering point that a foreign government may be able to compel a provider to disclose data under its own laws, regardless of your wishes — a real consideration for sensitive data. The lesson: cloud is global, but law is territorial, and reconciling the two is a governance obligation.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law protects personal data — information about identifiable individuals — and non-compliance carries heavy penalties and reputational damage. Cover the essentials on the slide. Privacy principles: collect only what you need, use it only for stated purposes, keep it accurate and secure, and retain it only as long as necessary — echoing the data-protection lifecycle from Lesson 4. Individual rights: modern laws grant people rights over their data — access, correction, and erasure (the 'right to be forgotten', which is why provable deletion from Lesson 4 is a legal requirement). Key laws: GDPR in Europe, Malaysia's Personal Data Protection Act (PDPA), and sector rules like health-data protection. ISO 27018 gives cloud-specific PII controls. The cloud angle: when you use a cloud service to process personal data, you remain the data controller responsible for it, even though the provider processes it — shared responsibility applied to privacy. The message for future professionals: privacy is not optional or purely legal; it is a design and governance obligation, and the VBE3 integrity value expects you to protect people's data conscientiously. This directly sets up next week's PHI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incident or legal dispute occurs, you must be able to investigate and produce evidence — and the cloud makes this harder. Cloud forensics: gathering evidence about an incident is complicated by not owning the hardware, by data being spread across regions, and by resources being ephemeral (a compromised VM may be gone before you image it) — which is exactly why the tamper-proof, immutable logging from Lesson 6 is essential; those logs are often the only durable evidence. E-discovery: legal proceedings may require you to locate and produce specific data, which is difficult if you do not know where your data is or cannot search it — reinforcing the data-mapping and governance discipline. Chain of custody: evidence must be collected and handled so its integrity is provable in court, connecting back to integrity controls. The practical takeaways on the slide: log everything immutably in advance, know your data map, and agree forensic support and data access with your provider in the contract — because after an incident is too late to arrange it. This bridges the technical monitoring pillar to legal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service-level agreement is the contract that turns provider promises into measurable, enforceable obligations. It is where much of governance, compliance and risk becomes concrete — and it is central to CLO3.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SLA is the formal contract defining what the provider commits to and what happens if they fall short — the instrument that makes the shared-responsibility model legally concrete. Cover the components on the slide. Service commitments and metrics: measurable targets like uptime/availability (the famous 'number of nines'), performance and support response times — measurable, because a promise you cannot measure is unenforceable. Responsibilities: who is accountable for what, including security duties — the shared-responsibility matrix written into contract. Remedies: what the customer is owed if targets are missed, typically service credits — though note credits rarely cover the true cost of an outage, so critical workloads need their own resilience. Security &amp; compliance terms: data handling, breach notification timelines, audit rights, data location, and what happens to your data when the contract ends (exit and deletion). The teaching point that carries into CLO3: reading and negotiating an SLA is a core professional skill — it is where you verify the provider will actually meet your compliance and data-privacy obligations, and where you hold them accountable with professional integrity (VBE3). Students will assess SLAs against data-privacy obligations in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discussion. Scenario: a healthcare startup moved patient data to a cloud provider to save cost, but never checked the provider's compliance, set no data-residency policy, and signed the default SLA without reading the security and breach-notification terms. A breach at the provider exposed patient data; the startup learned of it weeks late and faced regulatory penalties because it could not show it had managed the risk. Ask the two questions. What failed? A governance failure — no compliance assessment (they could have checked the provider's STAR/CAIQ), no data-residency or privacy controls (ISO 27018/PDPA obligations ignored), and an unread SLA with weak breach-notification terms; the startup remained the data controller and accountable. How to prevent? Assess the provider against standards before adopting, set data-residency and privacy policy, negotiate SLA terms for breach notice and audit rights, and manage the risk explicitly. The teaching point: technical security alone would not have saved them — the failure was governance, compliance and contract, which is precisely CLO3. Let pairs report before consolidating; connect to VBE3 professional integrity — managing others' data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 the lesson. Establish governance with clear policies and named accountability. Map your obligations — which laws and standards apply to your data. Assess providers against standards using CSA STAR before adopting. Run the risk process continuously and document treatment decisions. Control data location and privacy to meet sovereignty and law. And read and negotiate SLAs so provider promises are measurable and enforceable. Tell students these are the CLO3 skills and the heart of the assignment and presentation. Preview: next week, Lesson 11 applies all of this to concrete compliance assessment and reporting — with the PCI DSS and patient-data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 One: governance and policy turn scattered controls into an accountable program — it is what auditors inspect. Two: compliance means demonstrably meeting standards and laws (ISO 27017/27018, PCI DSS, GDPR/PDPA), and CSA STAR lets you assess providers with evidence. Three: risk management is a continuous identify-assess-treat-monitor cycle, and treatment is a documented choice among mitigate, transfer, avoid, accept. Four: the cloud raises legal, sovereignty and privacy obligations, and the SLA is the contract that makes provider responsibilities enforceable. Ask students to name the four risk-treatment options and one standard for privacy. Preview Lesson 11: compliance assessment and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prompts. The first is the crucial shared-responsibility point: provider certification covers their layer; you must still configure and use the service compliantly and remain the data controller. The second draws out that 'accept' is often neglect in disguise — guard against it with documented, authorised acceptance. Preview Lesson 11. Remind students this lesson underpins the Assignment (CLO3) on SLA and data-privacy, and carries the VBE3 professional-integrity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149"/>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93E7B">
              <a:alpha val="45000"/>
            </a:srgbClr>
          </a:solidFill>
          <a:ln/>
        </p:spPr>
      </p:sp>
      <p:sp>
        <p:nvSpPr>
          <p:cNvPr id="3" name="Shape 1"/>
          <p:cNvSpPr/>
          <p:nvPr/>
        </p:nvSpPr>
        <p:spPr>
          <a:xfrm>
            <a:off x="10881360" y="4297680"/>
            <a:ext cx="3108960" cy="3108960"/>
          </a:xfrm>
          <a:prstGeom prst="ellipse">
            <a:avLst/>
          </a:prstGeom>
          <a:solidFill>
            <a:srgbClr val="FABA32">
              <a:alpha val="22000"/>
            </a:srgbClr>
          </a:solidFill>
          <a:ln/>
        </p:spPr>
      </p:sp>
      <p:pic>
        <p:nvPicPr>
          <p:cNvPr id="4" name="Image 0" descr="preencoded.png">    </p:cNvPr>
          <p:cNvPicPr>
            <a:picLocks noChangeAspect="1"/>
          </p:cNvPicPr>
          <p:nvPr/>
        </p:nvPicPr>
        <p:blipFill>
          <a:blip r:embed="rId1"/>
          <a:stretch>
            <a:fillRect/>
          </a:stretch>
        </p:blipFill>
        <p:spPr>
          <a:xfrm>
            <a:off x="7818120" y="502920"/>
            <a:ext cx="4114800" cy="3820886"/>
          </a:xfrm>
          <a:prstGeom prst="rect">
            <a:avLst/>
          </a:prstGeom>
        </p:spPr>
      </p:pic>
      <p:pic>
        <p:nvPicPr>
          <p:cNvPr id="5" name="Image 1" descr="/sessions/inspiring-busy-dijkstra/mnt/outputs/build/assets/logo_white_trim.png">    </p:cNvPr>
          <p:cNvPicPr>
            <a:picLocks noChangeAspect="1"/>
          </p:cNvPicPr>
          <p:nvPr/>
        </p:nvPicPr>
        <p:blipFill>
          <a:blip r:embed="rId2"/>
          <a:stretch>
            <a:fillRect/>
          </a:stretch>
        </p:blipFill>
        <p:spPr>
          <a:xfrm>
            <a:off x="640080" y="502920"/>
            <a:ext cx="2331720" cy="1059423"/>
          </a:xfrm>
          <a:prstGeom prst="rect">
            <a:avLst/>
          </a:prstGeom>
        </p:spPr>
      </p:pic>
      <p:sp>
        <p:nvSpPr>
          <p:cNvPr id="6" name="Shape 2"/>
          <p:cNvSpPr/>
          <p:nvPr/>
        </p:nvSpPr>
        <p:spPr>
          <a:xfrm>
            <a:off x="640080" y="2788920"/>
            <a:ext cx="3063240" cy="457200"/>
          </a:xfrm>
          <a:prstGeom prst="roundRect">
            <a:avLst>
              <a:gd name="adj" fmla="val 16000"/>
            </a:avLst>
          </a:prstGeom>
          <a:solidFill>
            <a:srgbClr val="FABA32"/>
          </a:solidFill>
          <a:ln/>
        </p:spPr>
      </p:sp>
      <p:sp>
        <p:nvSpPr>
          <p:cNvPr id="7" name="Text 3"/>
          <p:cNvSpPr/>
          <p:nvPr/>
        </p:nvSpPr>
        <p:spPr>
          <a:xfrm>
            <a:off x="640080" y="2788920"/>
            <a:ext cx="3063240" cy="457200"/>
          </a:xfrm>
          <a:prstGeom prst="rect">
            <a:avLst/>
          </a:prstGeom>
          <a:noFill/>
          <a:ln/>
        </p:spPr>
        <p:txBody>
          <a:bodyPr wrap="square" lIns="0" tIns="0" rIns="0" bIns="0" rtlCol="0" anchor="ctr"/>
          <a:lstStyle/>
          <a:p>
            <a:pPr algn="ctr" indent="0" marL="0">
              <a:buNone/>
            </a:pPr>
            <a:r>
              <a:rPr lang="en-US" sz="1200" b="1" dirty="0">
                <a:solidFill>
                  <a:srgbClr val="262F65"/>
                </a:solidFill>
                <a:latin typeface="Calibri" pitchFamily="34" charset="0"/>
                <a:ea typeface="Calibri" pitchFamily="34" charset="-122"/>
                <a:cs typeface="Calibri" pitchFamily="34" charset="-120"/>
              </a:rPr>
              <a:t>IKB42603  •  Cloud Security</a:t>
            </a:r>
            <a:endParaRPr lang="en-US" sz="1200" dirty="0"/>
          </a:p>
        </p:txBody>
      </p:sp>
      <p:sp>
        <p:nvSpPr>
          <p:cNvPr id="8" name="Text 4"/>
          <p:cNvSpPr/>
          <p:nvPr/>
        </p:nvSpPr>
        <p:spPr>
          <a:xfrm>
            <a:off x="640080" y="3566160"/>
            <a:ext cx="10058400" cy="36576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WEEK 10 · LESSON 10</a:t>
            </a:r>
            <a:endParaRPr lang="en-US" sz="1500" dirty="0"/>
          </a:p>
        </p:txBody>
      </p:sp>
      <p:sp>
        <p:nvSpPr>
          <p:cNvPr id="9" name="Text 5"/>
          <p:cNvSpPr/>
          <p:nvPr/>
        </p:nvSpPr>
        <p:spPr>
          <a:xfrm>
            <a:off x="640080" y="3931920"/>
            <a:ext cx="7040880" cy="1691640"/>
          </a:xfrm>
          <a:prstGeom prst="rect">
            <a:avLst/>
          </a:prstGeom>
          <a:noFill/>
          <a:ln/>
        </p:spPr>
        <p:txBody>
          <a:bodyPr wrap="square" lIns="0" tIns="0" rIns="0" bIns="0" rtlCol="0" anchor="t"/>
          <a:lstStyle/>
          <a:p>
            <a:pPr indent="0" marL="0">
              <a:lnSpc>
                <a:spcPct val="102000"/>
              </a:lnSpc>
              <a:buNone/>
            </a:pPr>
            <a:r>
              <a:rPr lang="en-US" sz="3700" b="1" dirty="0">
                <a:solidFill>
                  <a:srgbClr val="FFFFFF"/>
                </a:solidFill>
                <a:latin typeface="Cambria" pitchFamily="34" charset="0"/>
                <a:ea typeface="Cambria" pitchFamily="34" charset="-122"/>
                <a:cs typeface="Cambria" pitchFamily="34" charset="-120"/>
              </a:rPr>
              <a:t>Policy, Compliance &amp; Risk Management in Cloud Computing</a:t>
            </a:r>
            <a:endParaRPr lang="en-US" sz="3700" dirty="0"/>
          </a:p>
        </p:txBody>
      </p:sp>
      <p:sp>
        <p:nvSpPr>
          <p:cNvPr id="10" name="Text 6"/>
          <p:cNvSpPr/>
          <p:nvPr/>
        </p:nvSpPr>
        <p:spPr>
          <a:xfrm>
            <a:off x="640080" y="5623560"/>
            <a:ext cx="10424160" cy="640080"/>
          </a:xfrm>
          <a:prstGeom prst="rect">
            <a:avLst/>
          </a:prstGeom>
          <a:noFill/>
          <a:ln/>
        </p:spPr>
        <p:txBody>
          <a:bodyPr wrap="square" lIns="0" tIns="0" rIns="0" bIns="0" rtlCol="0" anchor="ctr"/>
          <a:lstStyle/>
          <a:p>
            <a:pPr indent="0" marL="0">
              <a:buNone/>
            </a:pPr>
            <a:r>
              <a:rPr lang="en-US" sz="1550" i="1" dirty="0">
                <a:solidFill>
                  <a:srgbClr val="B6E0F2"/>
                </a:solidFill>
                <a:latin typeface="Calibri" pitchFamily="34" charset="0"/>
                <a:ea typeface="Calibri" pitchFamily="34" charset="-122"/>
                <a:cs typeface="Calibri" pitchFamily="34" charset="-120"/>
              </a:rPr>
              <a:t>Governance · Standards (ISO · PCI DSS · CSA STAR) · Risk · Legal &amp; privacy · SLAs</a:t>
            </a:r>
            <a:endParaRPr lang="en-US" sz="1550" dirty="0"/>
          </a:p>
        </p:txBody>
      </p:sp>
      <p:sp>
        <p:nvSpPr>
          <p:cNvPr id="11" name="Text 7"/>
          <p:cNvSpPr/>
          <p:nvPr/>
        </p:nvSpPr>
        <p:spPr>
          <a:xfrm>
            <a:off x="640080" y="6355080"/>
            <a:ext cx="10972800" cy="320040"/>
          </a:xfrm>
          <a:prstGeom prst="rect">
            <a:avLst/>
          </a:prstGeom>
          <a:noFill/>
          <a:ln/>
        </p:spPr>
        <p:txBody>
          <a:bodyPr wrap="square" lIns="0" tIns="0" rIns="0" bIns="0" rtlCol="0" anchor="ctr"/>
          <a:lstStyle/>
          <a:p>
            <a:pPr indent="0" marL="0">
              <a:buNone/>
            </a:pPr>
            <a:r>
              <a:rPr lang="en-US" sz="1100" dirty="0">
                <a:solidFill>
                  <a:srgbClr val="9AA6C9"/>
                </a:solidFill>
                <a:latin typeface="Calibri" pitchFamily="34" charset="0"/>
                <a:ea typeface="Calibri" pitchFamily="34" charset="-122"/>
                <a:cs typeface="Calibri" pitchFamily="34" charset="-120"/>
              </a:rPr>
              <a:t>Universiti Kuala Lumpur  ·  UniKL MIIT   |   Prof. Dr. Shahrulniza Musa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LEARNING OUTCOMES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you will be able to do</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
        <p:nvSpPr>
          <p:cNvPr id="7" name="Shape 4"/>
          <p:cNvSpPr/>
          <p:nvPr/>
        </p:nvSpPr>
        <p:spPr>
          <a:xfrm>
            <a:off x="640080" y="1783080"/>
            <a:ext cx="868680" cy="868680"/>
          </a:xfrm>
          <a:prstGeom prst="ellipse">
            <a:avLst/>
          </a:prstGeom>
          <a:solidFill>
            <a:srgbClr val="FABA32"/>
          </a:solidFill>
          <a:ln/>
        </p:spPr>
      </p:sp>
      <p:pic>
        <p:nvPicPr>
          <p:cNvPr id="8" name="Image 0" descr="preencoded.png">    </p:cNvPr>
          <p:cNvPicPr>
            <a:picLocks noChangeAspect="1"/>
          </p:cNvPicPr>
          <p:nvPr/>
        </p:nvPicPr>
        <p:blipFill>
          <a:blip r:embed="rId1"/>
          <a:stretch>
            <a:fillRect/>
          </a:stretch>
        </p:blipFill>
        <p:spPr>
          <a:xfrm>
            <a:off x="848563" y="1991563"/>
            <a:ext cx="451714" cy="451714"/>
          </a:xfrm>
          <a:prstGeom prst="rect">
            <a:avLst/>
          </a:prstGeom>
        </p:spPr>
      </p:pic>
      <p:sp>
        <p:nvSpPr>
          <p:cNvPr id="9" name="Shape 5"/>
          <p:cNvSpPr/>
          <p:nvPr/>
        </p:nvSpPr>
        <p:spPr>
          <a:xfrm>
            <a:off x="173736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0" name="Text 6"/>
          <p:cNvSpPr/>
          <p:nvPr/>
        </p:nvSpPr>
        <p:spPr>
          <a:xfrm>
            <a:off x="196596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1.  </a:t>
            </a:r>
            <a:pPr indent="0" marL="0">
              <a:buNone/>
            </a:pPr>
            <a:r>
              <a:rPr lang="en-US" sz="1450" b="1" dirty="0">
                <a:solidFill>
                  <a:srgbClr val="262F65"/>
                </a:solidFill>
                <a:latin typeface="Calibri" pitchFamily="34" charset="0"/>
                <a:ea typeface="Calibri" pitchFamily="34" charset="-122"/>
                <a:cs typeface="Calibri" pitchFamily="34" charset="-120"/>
              </a:rPr>
              <a:t>Explain cloud governance &amp; policy</a:t>
            </a:r>
            <a:endParaRPr lang="en-US" sz="1450" dirty="0"/>
          </a:p>
        </p:txBody>
      </p:sp>
      <p:sp>
        <p:nvSpPr>
          <p:cNvPr id="11" name="Text 7"/>
          <p:cNvSpPr/>
          <p:nvPr/>
        </p:nvSpPr>
        <p:spPr>
          <a:xfrm>
            <a:off x="196596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How organisations direct and control security.</a:t>
            </a:r>
            <a:endParaRPr lang="en-US" sz="1200" dirty="0"/>
          </a:p>
        </p:txBody>
      </p:sp>
      <p:sp>
        <p:nvSpPr>
          <p:cNvPr id="12" name="Shape 8"/>
          <p:cNvSpPr/>
          <p:nvPr/>
        </p:nvSpPr>
        <p:spPr>
          <a:xfrm>
            <a:off x="731520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3" name="Text 9"/>
          <p:cNvSpPr/>
          <p:nvPr/>
        </p:nvSpPr>
        <p:spPr>
          <a:xfrm>
            <a:off x="754380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2.  </a:t>
            </a:r>
            <a:pPr indent="0" marL="0">
              <a:buNone/>
            </a:pPr>
            <a:r>
              <a:rPr lang="en-US" sz="1450" b="1" dirty="0">
                <a:solidFill>
                  <a:srgbClr val="262F65"/>
                </a:solidFill>
                <a:latin typeface="Calibri" pitchFamily="34" charset="0"/>
                <a:ea typeface="Calibri" pitchFamily="34" charset="-122"/>
                <a:cs typeface="Calibri" pitchFamily="34" charset="-120"/>
              </a:rPr>
              <a:t>Recognise key compliance standards</a:t>
            </a:r>
            <a:endParaRPr lang="en-US" sz="1450" dirty="0"/>
          </a:p>
        </p:txBody>
      </p:sp>
      <p:sp>
        <p:nvSpPr>
          <p:cNvPr id="14" name="Text 10"/>
          <p:cNvSpPr/>
          <p:nvPr/>
        </p:nvSpPr>
        <p:spPr>
          <a:xfrm>
            <a:off x="754380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ISO 27017/27018, PCI DSS, NIST, GDPR.</a:t>
            </a:r>
            <a:endParaRPr lang="en-US" sz="1200" dirty="0"/>
          </a:p>
        </p:txBody>
      </p:sp>
      <p:sp>
        <p:nvSpPr>
          <p:cNvPr id="15" name="Shape 11"/>
          <p:cNvSpPr/>
          <p:nvPr/>
        </p:nvSpPr>
        <p:spPr>
          <a:xfrm>
            <a:off x="173736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6" name="Text 12"/>
          <p:cNvSpPr/>
          <p:nvPr/>
        </p:nvSpPr>
        <p:spPr>
          <a:xfrm>
            <a:off x="196596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3.  </a:t>
            </a:r>
            <a:pPr indent="0" marL="0">
              <a:buNone/>
            </a:pPr>
            <a:r>
              <a:rPr lang="en-US" sz="1450" b="1" dirty="0">
                <a:solidFill>
                  <a:srgbClr val="262F65"/>
                </a:solidFill>
                <a:latin typeface="Calibri" pitchFamily="34" charset="0"/>
                <a:ea typeface="Calibri" pitchFamily="34" charset="-122"/>
                <a:cs typeface="Calibri" pitchFamily="34" charset="-120"/>
              </a:rPr>
              <a:t>Use the CSA STAR program</a:t>
            </a:r>
            <a:endParaRPr lang="en-US" sz="1450" dirty="0"/>
          </a:p>
        </p:txBody>
      </p:sp>
      <p:sp>
        <p:nvSpPr>
          <p:cNvPr id="17" name="Text 13"/>
          <p:cNvSpPr/>
          <p:nvPr/>
        </p:nvSpPr>
        <p:spPr>
          <a:xfrm>
            <a:off x="196596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CCM, CAIQ and provider transparency.</a:t>
            </a:r>
            <a:endParaRPr lang="en-US" sz="1200" dirty="0"/>
          </a:p>
        </p:txBody>
      </p:sp>
      <p:sp>
        <p:nvSpPr>
          <p:cNvPr id="18" name="Shape 14"/>
          <p:cNvSpPr/>
          <p:nvPr/>
        </p:nvSpPr>
        <p:spPr>
          <a:xfrm>
            <a:off x="731520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9" name="Text 15"/>
          <p:cNvSpPr/>
          <p:nvPr/>
        </p:nvSpPr>
        <p:spPr>
          <a:xfrm>
            <a:off x="754380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4.  </a:t>
            </a:r>
            <a:pPr indent="0" marL="0">
              <a:buNone/>
            </a:pPr>
            <a:r>
              <a:rPr lang="en-US" sz="1450" b="1" dirty="0">
                <a:solidFill>
                  <a:srgbClr val="262F65"/>
                </a:solidFill>
                <a:latin typeface="Calibri" pitchFamily="34" charset="0"/>
                <a:ea typeface="Calibri" pitchFamily="34" charset="-122"/>
                <a:cs typeface="Calibri" pitchFamily="34" charset="-120"/>
              </a:rPr>
              <a:t>Apply the risk-management process</a:t>
            </a:r>
            <a:endParaRPr lang="en-US" sz="1450" dirty="0"/>
          </a:p>
        </p:txBody>
      </p:sp>
      <p:sp>
        <p:nvSpPr>
          <p:cNvPr id="20" name="Text 16"/>
          <p:cNvSpPr/>
          <p:nvPr/>
        </p:nvSpPr>
        <p:spPr>
          <a:xfrm>
            <a:off x="754380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Identify, assess, treat, monitor.</a:t>
            </a:r>
            <a:endParaRPr lang="en-US" sz="1200" dirty="0"/>
          </a:p>
        </p:txBody>
      </p:sp>
      <p:sp>
        <p:nvSpPr>
          <p:cNvPr id="21" name="Shape 17"/>
          <p:cNvSpPr/>
          <p:nvPr/>
        </p:nvSpPr>
        <p:spPr>
          <a:xfrm>
            <a:off x="173736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2" name="Text 18"/>
          <p:cNvSpPr/>
          <p:nvPr/>
        </p:nvSpPr>
        <p:spPr>
          <a:xfrm>
            <a:off x="196596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5.  </a:t>
            </a:r>
            <a:pPr indent="0" marL="0">
              <a:buNone/>
            </a:pPr>
            <a:r>
              <a:rPr lang="en-US" sz="1450" b="1" dirty="0">
                <a:solidFill>
                  <a:srgbClr val="262F65"/>
                </a:solidFill>
                <a:latin typeface="Calibri" pitchFamily="34" charset="0"/>
                <a:ea typeface="Calibri" pitchFamily="34" charset="-122"/>
                <a:cs typeface="Calibri" pitchFamily="34" charset="-120"/>
              </a:rPr>
              <a:t>Understand legal, forensics &amp; privacy</a:t>
            </a:r>
            <a:endParaRPr lang="en-US" sz="1450" dirty="0"/>
          </a:p>
        </p:txBody>
      </p:sp>
      <p:sp>
        <p:nvSpPr>
          <p:cNvPr id="23" name="Text 19"/>
          <p:cNvSpPr/>
          <p:nvPr/>
        </p:nvSpPr>
        <p:spPr>
          <a:xfrm>
            <a:off x="196596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Jurisdiction, sovereignty, e-discovery.</a:t>
            </a:r>
            <a:endParaRPr lang="en-US" sz="1200" dirty="0"/>
          </a:p>
        </p:txBody>
      </p:sp>
      <p:sp>
        <p:nvSpPr>
          <p:cNvPr id="24" name="Shape 20"/>
          <p:cNvSpPr/>
          <p:nvPr/>
        </p:nvSpPr>
        <p:spPr>
          <a:xfrm>
            <a:off x="731520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5" name="Text 21"/>
          <p:cNvSpPr/>
          <p:nvPr/>
        </p:nvSpPr>
        <p:spPr>
          <a:xfrm>
            <a:off x="754380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6.  </a:t>
            </a:r>
            <a:pPr indent="0" marL="0">
              <a:buNone/>
            </a:pPr>
            <a:r>
              <a:rPr lang="en-US" sz="1450" b="1" dirty="0">
                <a:solidFill>
                  <a:srgbClr val="262F65"/>
                </a:solidFill>
                <a:latin typeface="Calibri" pitchFamily="34" charset="0"/>
                <a:ea typeface="Calibri" pitchFamily="34" charset="-122"/>
                <a:cs typeface="Calibri" pitchFamily="34" charset="-120"/>
              </a:rPr>
              <a:t>Evaluate SLAs</a:t>
            </a:r>
            <a:endParaRPr lang="en-US" sz="1450" dirty="0"/>
          </a:p>
        </p:txBody>
      </p:sp>
      <p:sp>
        <p:nvSpPr>
          <p:cNvPr id="26" name="Text 22"/>
          <p:cNvSpPr/>
          <p:nvPr/>
        </p:nvSpPr>
        <p:spPr>
          <a:xfrm>
            <a:off x="754380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Metrics, responsibilities and remedies.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CONSTRUCTIVE ALIGNMENT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Curriculum alignment — CLO · PLO · MQF · clusters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508760"/>
            <a:ext cx="10881360" cy="1325880"/>
          </a:xfrm>
          <a:prstGeom prst="roundRect">
            <a:avLst>
              <a:gd name="adj" fmla="val 6207"/>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1847088"/>
            <a:ext cx="1600200" cy="658368"/>
          </a:xfrm>
          <a:prstGeom prst="roundRect">
            <a:avLst>
              <a:gd name="adj" fmla="val 13889"/>
            </a:avLst>
          </a:prstGeom>
          <a:solidFill>
            <a:srgbClr val="FABA32"/>
          </a:solidFill>
          <a:ln/>
        </p:spPr>
      </p:sp>
      <p:sp>
        <p:nvSpPr>
          <p:cNvPr id="9" name="Text 6"/>
          <p:cNvSpPr/>
          <p:nvPr/>
        </p:nvSpPr>
        <p:spPr>
          <a:xfrm>
            <a:off x="960120" y="1847088"/>
            <a:ext cx="1600200" cy="658368"/>
          </a:xfrm>
          <a:prstGeom prst="rect">
            <a:avLst/>
          </a:prstGeom>
          <a:noFill/>
          <a:ln/>
        </p:spPr>
        <p:txBody>
          <a:bodyPr wrap="square" lIns="0" tIns="0" rIns="0" bIns="0" rtlCol="0" anchor="ctr"/>
          <a:lstStyle/>
          <a:p>
            <a:pPr algn="ctr" indent="0" marL="0">
              <a:buNone/>
            </a:pPr>
            <a:r>
              <a:rPr lang="en-US" sz="2100" b="1" dirty="0">
                <a:solidFill>
                  <a:srgbClr val="262F65"/>
                </a:solidFill>
                <a:latin typeface="Cambria" pitchFamily="34" charset="0"/>
                <a:ea typeface="Cambria" pitchFamily="34" charset="-122"/>
                <a:cs typeface="Cambria" pitchFamily="34" charset="-120"/>
              </a:rPr>
              <a:t>CLO 3</a:t>
            </a:r>
            <a:endParaRPr lang="en-US" sz="2100" dirty="0"/>
          </a:p>
        </p:txBody>
      </p:sp>
      <p:sp>
        <p:nvSpPr>
          <p:cNvPr id="10" name="Text 7"/>
          <p:cNvSpPr/>
          <p:nvPr/>
        </p:nvSpPr>
        <p:spPr>
          <a:xfrm>
            <a:off x="2788920" y="1691640"/>
            <a:ext cx="8366760" cy="96012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Present cloud services' compliance with SLAs and data-privacy obligations with professional integrity.</a:t>
            </a:r>
            <a:endParaRPr lang="en-US" sz="1550" dirty="0"/>
          </a:p>
        </p:txBody>
      </p:sp>
      <p:sp>
        <p:nvSpPr>
          <p:cNvPr id="11" name="Shape 8"/>
          <p:cNvSpPr/>
          <p:nvPr/>
        </p:nvSpPr>
        <p:spPr>
          <a:xfrm>
            <a:off x="640080"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2" name="Shape 9"/>
          <p:cNvSpPr/>
          <p:nvPr/>
        </p:nvSpPr>
        <p:spPr>
          <a:xfrm>
            <a:off x="2002536" y="3383280"/>
            <a:ext cx="731520" cy="731520"/>
          </a:xfrm>
          <a:prstGeom prst="ellipse">
            <a:avLst/>
          </a:prstGeom>
          <a:solidFill>
            <a:srgbClr val="262F65"/>
          </a:solidFill>
          <a:ln/>
        </p:spPr>
      </p:sp>
      <p:pic>
        <p:nvPicPr>
          <p:cNvPr id="13" name="Image 0" descr="preencoded.png">    </p:cNvPr>
          <p:cNvPicPr>
            <a:picLocks noChangeAspect="1"/>
          </p:cNvPicPr>
          <p:nvPr/>
        </p:nvPicPr>
        <p:blipFill>
          <a:blip r:embed="rId1"/>
          <a:stretch>
            <a:fillRect/>
          </a:stretch>
        </p:blipFill>
        <p:spPr>
          <a:xfrm>
            <a:off x="2178101" y="3558845"/>
            <a:ext cx="380390" cy="380390"/>
          </a:xfrm>
          <a:prstGeom prst="rect">
            <a:avLst/>
          </a:prstGeom>
        </p:spPr>
      </p:pic>
      <p:sp>
        <p:nvSpPr>
          <p:cNvPr id="14" name="Text 10"/>
          <p:cNvSpPr/>
          <p:nvPr/>
        </p:nvSpPr>
        <p:spPr>
          <a:xfrm>
            <a:off x="731520"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Programme outcome</a:t>
            </a:r>
            <a:endParaRPr lang="en-US" sz="1300" dirty="0"/>
          </a:p>
        </p:txBody>
      </p:sp>
      <p:sp>
        <p:nvSpPr>
          <p:cNvPr id="15" name="Text 11"/>
          <p:cNvSpPr/>
          <p:nvPr/>
        </p:nvSpPr>
        <p:spPr>
          <a:xfrm>
            <a:off x="749808"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PLO9 · Ethics &amp; Professionalism</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MQF Level iii(f)</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Bloom A2 (Respond)</a:t>
            </a:r>
            <a:endParaRPr lang="en-US" sz="1100" dirty="0"/>
          </a:p>
        </p:txBody>
      </p:sp>
      <p:sp>
        <p:nvSpPr>
          <p:cNvPr id="16" name="Shape 12"/>
          <p:cNvSpPr/>
          <p:nvPr/>
        </p:nvSpPr>
        <p:spPr>
          <a:xfrm>
            <a:off x="4352544"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7" name="Shape 13"/>
          <p:cNvSpPr/>
          <p:nvPr/>
        </p:nvSpPr>
        <p:spPr>
          <a:xfrm>
            <a:off x="5715000" y="3383280"/>
            <a:ext cx="731520" cy="731520"/>
          </a:xfrm>
          <a:prstGeom prst="ellipse">
            <a:avLst/>
          </a:prstGeom>
          <a:solidFill>
            <a:srgbClr val="F2931F"/>
          </a:solidFill>
          <a:ln/>
        </p:spPr>
      </p:sp>
      <p:pic>
        <p:nvPicPr>
          <p:cNvPr id="18" name="Image 1" descr="preencoded.png">    </p:cNvPr>
          <p:cNvPicPr>
            <a:picLocks noChangeAspect="1"/>
          </p:cNvPicPr>
          <p:nvPr/>
        </p:nvPicPr>
        <p:blipFill>
          <a:blip r:embed="rId2"/>
          <a:stretch>
            <a:fillRect/>
          </a:stretch>
        </p:blipFill>
        <p:spPr>
          <a:xfrm>
            <a:off x="5890565" y="3558845"/>
            <a:ext cx="380390" cy="380390"/>
          </a:xfrm>
          <a:prstGeom prst="rect">
            <a:avLst/>
          </a:prstGeom>
        </p:spPr>
      </p:pic>
      <p:sp>
        <p:nvSpPr>
          <p:cNvPr id="19" name="Text 14"/>
          <p:cNvSpPr/>
          <p:nvPr/>
        </p:nvSpPr>
        <p:spPr>
          <a:xfrm>
            <a:off x="4443984"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Values &amp; skills</a:t>
            </a:r>
            <a:endParaRPr lang="en-US" sz="1300" dirty="0"/>
          </a:p>
        </p:txBody>
      </p:sp>
      <p:sp>
        <p:nvSpPr>
          <p:cNvPr id="20" name="Text 15"/>
          <p:cNvSpPr/>
          <p:nvPr/>
        </p:nvSpPr>
        <p:spPr>
          <a:xfrm>
            <a:off x="4462272"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VBE3 · Integrity</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A2 · Professionalism</a:t>
            </a:r>
            <a:endParaRPr lang="en-US" sz="1100" dirty="0"/>
          </a:p>
        </p:txBody>
      </p:sp>
      <p:sp>
        <p:nvSpPr>
          <p:cNvPr id="21" name="Shape 16"/>
          <p:cNvSpPr/>
          <p:nvPr/>
        </p:nvSpPr>
        <p:spPr>
          <a:xfrm>
            <a:off x="8065008"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22" name="Shape 17"/>
          <p:cNvSpPr/>
          <p:nvPr/>
        </p:nvSpPr>
        <p:spPr>
          <a:xfrm>
            <a:off x="9427464" y="3383280"/>
            <a:ext cx="731520" cy="731520"/>
          </a:xfrm>
          <a:prstGeom prst="ellipse">
            <a:avLst/>
          </a:prstGeom>
          <a:solidFill>
            <a:srgbClr val="262F65"/>
          </a:solidFill>
          <a:ln/>
        </p:spPr>
      </p:sp>
      <p:pic>
        <p:nvPicPr>
          <p:cNvPr id="23" name="Image 2" descr="preencoded.png">    </p:cNvPr>
          <p:cNvPicPr>
            <a:picLocks noChangeAspect="1"/>
          </p:cNvPicPr>
          <p:nvPr/>
        </p:nvPicPr>
        <p:blipFill>
          <a:blip r:embed="rId3"/>
          <a:stretch>
            <a:fillRect/>
          </a:stretch>
        </p:blipFill>
        <p:spPr>
          <a:xfrm>
            <a:off x="9603029" y="3558845"/>
            <a:ext cx="380390" cy="380390"/>
          </a:xfrm>
          <a:prstGeom prst="rect">
            <a:avLst/>
          </a:prstGeom>
        </p:spPr>
      </p:pic>
      <p:sp>
        <p:nvSpPr>
          <p:cNvPr id="24" name="Text 18"/>
          <p:cNvSpPr/>
          <p:nvPr/>
        </p:nvSpPr>
        <p:spPr>
          <a:xfrm>
            <a:off x="8156448"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Assessment</a:t>
            </a:r>
            <a:endParaRPr lang="en-US" sz="1300" dirty="0"/>
          </a:p>
        </p:txBody>
      </p:sp>
      <p:sp>
        <p:nvSpPr>
          <p:cNvPr id="25" name="Text 19"/>
          <p:cNvSpPr/>
          <p:nvPr/>
        </p:nvSpPr>
        <p:spPr>
          <a:xfrm>
            <a:off x="8174736"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Assignment (CLO3)</a:t>
            </a:r>
            <a:endParaRPr lang="en-US" sz="1100" dirty="0"/>
          </a:p>
        </p:txBody>
      </p:sp>
      <p:sp>
        <p:nvSpPr>
          <p:cNvPr id="26" name="Text 20"/>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Constructive alignment: CLO → PLO → MQF, with VBE (values) and SC (skills) clusters, assessed as shown.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01</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1</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Governance &amp; Policy</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DEFINITION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is cloud governance?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7" name="Text 4"/>
          <p:cNvSpPr/>
          <p:nvPr/>
        </p:nvSpPr>
        <p:spPr>
          <a:xfrm>
            <a:off x="640080" y="1645920"/>
            <a:ext cx="5760720" cy="1371600"/>
          </a:xfrm>
          <a:prstGeom prst="rect">
            <a:avLst/>
          </a:prstGeom>
          <a:noFill/>
          <a:ln/>
        </p:spPr>
        <p:txBody>
          <a:bodyPr wrap="square" lIns="0" tIns="0" rIns="0" bIns="0" rtlCol="0" anchor="t"/>
          <a:lstStyle/>
          <a:p>
            <a:pPr indent="0" marL="0">
              <a:buNone/>
            </a:pPr>
            <a:r>
              <a:rPr lang="en-US" sz="1650" dirty="0">
                <a:solidFill>
                  <a:srgbClr val="23283A"/>
                </a:solidFill>
                <a:latin typeface="Calibri" pitchFamily="34" charset="0"/>
                <a:ea typeface="Calibri" pitchFamily="34" charset="-122"/>
                <a:cs typeface="Calibri" pitchFamily="34" charset="-120"/>
              </a:rPr>
              <a:t>The framework of decisions, policies and accountability that aligns cloud use with objectives, risk appetite and the law.</a:t>
            </a:r>
            <a:endParaRPr lang="en-US" sz="1650" dirty="0"/>
          </a:p>
        </p:txBody>
      </p:sp>
      <p:sp>
        <p:nvSpPr>
          <p:cNvPr id="8" name="Shape 5"/>
          <p:cNvSpPr/>
          <p:nvPr/>
        </p:nvSpPr>
        <p:spPr>
          <a:xfrm>
            <a:off x="640080" y="3246120"/>
            <a:ext cx="146304" cy="146304"/>
          </a:xfrm>
          <a:prstGeom prst="ellipse">
            <a:avLst/>
          </a:prstGeom>
          <a:solidFill>
            <a:srgbClr val="F2931F"/>
          </a:solidFill>
          <a:ln/>
        </p:spPr>
      </p:sp>
      <p:sp>
        <p:nvSpPr>
          <p:cNvPr id="9" name="Text 6"/>
          <p:cNvSpPr/>
          <p:nvPr/>
        </p:nvSpPr>
        <p:spPr>
          <a:xfrm>
            <a:off x="932688" y="320040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Governance directs; management runs</a:t>
            </a:r>
            <a:endParaRPr lang="en-US" sz="1400" dirty="0"/>
          </a:p>
        </p:txBody>
      </p:sp>
      <p:sp>
        <p:nvSpPr>
          <p:cNvPr id="10" name="Shape 7"/>
          <p:cNvSpPr/>
          <p:nvPr/>
        </p:nvSpPr>
        <p:spPr>
          <a:xfrm>
            <a:off x="640080" y="3794760"/>
            <a:ext cx="146304" cy="146304"/>
          </a:xfrm>
          <a:prstGeom prst="ellipse">
            <a:avLst/>
          </a:prstGeom>
          <a:solidFill>
            <a:srgbClr val="F2931F"/>
          </a:solidFill>
          <a:ln/>
        </p:spPr>
      </p:sp>
      <p:sp>
        <p:nvSpPr>
          <p:cNvPr id="11" name="Text 8"/>
          <p:cNvSpPr/>
          <p:nvPr/>
        </p:nvSpPr>
        <p:spPr>
          <a:xfrm>
            <a:off x="932688" y="374904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Assigns accountability for each control</a:t>
            </a:r>
            <a:endParaRPr lang="en-US" sz="1400" dirty="0"/>
          </a:p>
        </p:txBody>
      </p:sp>
      <p:sp>
        <p:nvSpPr>
          <p:cNvPr id="12" name="Shape 9"/>
          <p:cNvSpPr/>
          <p:nvPr/>
        </p:nvSpPr>
        <p:spPr>
          <a:xfrm>
            <a:off x="640080" y="4343400"/>
            <a:ext cx="146304" cy="146304"/>
          </a:xfrm>
          <a:prstGeom prst="ellipse">
            <a:avLst/>
          </a:prstGeom>
          <a:solidFill>
            <a:srgbClr val="F2931F"/>
          </a:solidFill>
          <a:ln/>
        </p:spPr>
      </p:sp>
      <p:sp>
        <p:nvSpPr>
          <p:cNvPr id="13" name="Text 10"/>
          <p:cNvSpPr/>
          <p:nvPr/>
        </p:nvSpPr>
        <p:spPr>
          <a:xfrm>
            <a:off x="932688" y="429768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Must be embedded — self-service moves fast</a:t>
            </a:r>
            <a:endParaRPr lang="en-US" sz="1400" dirty="0"/>
          </a:p>
        </p:txBody>
      </p:sp>
      <p:sp>
        <p:nvSpPr>
          <p:cNvPr id="14" name="Shape 11"/>
          <p:cNvSpPr/>
          <p:nvPr/>
        </p:nvSpPr>
        <p:spPr>
          <a:xfrm>
            <a:off x="6720840" y="1600200"/>
            <a:ext cx="4800600" cy="3108960"/>
          </a:xfrm>
          <a:prstGeom prst="roundRect">
            <a:avLst>
              <a:gd name="adj" fmla="val 2647"/>
            </a:avLst>
          </a:prstGeom>
          <a:solidFill>
            <a:srgbClr val="262F65"/>
          </a:solidFill>
          <a:ln/>
          <a:effectLst>
            <a:outerShdw sx="100000" sy="100000" kx="0" ky="0" algn="bl" rotWithShape="0" blurRad="88900" dist="38100" dir="5400000">
              <a:srgbClr val="8894AD">
                <a:alpha val="28000"/>
              </a:srgbClr>
            </a:outerShdw>
          </a:effectLst>
        </p:spPr>
      </p:sp>
      <p:sp>
        <p:nvSpPr>
          <p:cNvPr id="15" name="Shape 12"/>
          <p:cNvSpPr/>
          <p:nvPr/>
        </p:nvSpPr>
        <p:spPr>
          <a:xfrm>
            <a:off x="7086600" y="1920240"/>
            <a:ext cx="868680" cy="868680"/>
          </a:xfrm>
          <a:prstGeom prst="ellipse">
            <a:avLst/>
          </a:prstGeom>
          <a:solidFill>
            <a:srgbClr val="FABA32"/>
          </a:solidFill>
          <a:ln/>
        </p:spPr>
      </p:sp>
      <p:pic>
        <p:nvPicPr>
          <p:cNvPr id="16" name="Image 0" descr="preencoded.png">    </p:cNvPr>
          <p:cNvPicPr>
            <a:picLocks noChangeAspect="1"/>
          </p:cNvPicPr>
          <p:nvPr/>
        </p:nvPicPr>
        <p:blipFill>
          <a:blip r:embed="rId1"/>
          <a:stretch>
            <a:fillRect/>
          </a:stretch>
        </p:blipFill>
        <p:spPr>
          <a:xfrm>
            <a:off x="7295083" y="2128723"/>
            <a:ext cx="451714" cy="451714"/>
          </a:xfrm>
          <a:prstGeom prst="rect">
            <a:avLst/>
          </a:prstGeom>
        </p:spPr>
      </p:pic>
      <p:sp>
        <p:nvSpPr>
          <p:cNvPr id="17" name="Text 13"/>
          <p:cNvSpPr/>
          <p:nvPr/>
        </p:nvSpPr>
        <p:spPr>
          <a:xfrm>
            <a:off x="7086600" y="2880360"/>
            <a:ext cx="4114800" cy="73152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Governance is what auditors inspect.</a:t>
            </a:r>
            <a:endParaRPr lang="en-US" sz="1900" dirty="0"/>
          </a:p>
        </p:txBody>
      </p:sp>
      <p:sp>
        <p:nvSpPr>
          <p:cNvPr id="18" name="Text 14"/>
          <p:cNvSpPr/>
          <p:nvPr/>
        </p:nvSpPr>
        <p:spPr>
          <a:xfrm>
            <a:off x="7086600" y="3611880"/>
            <a:ext cx="4114800" cy="1005840"/>
          </a:xfrm>
          <a:prstGeom prst="rect">
            <a:avLst/>
          </a:prstGeom>
          <a:noFill/>
          <a:ln/>
        </p:spPr>
        <p:txBody>
          <a:bodyPr wrap="square" lIns="0" tIns="0" rIns="0" bIns="0" rtlCol="0" anchor="t"/>
          <a:lstStyle/>
          <a:p>
            <a:pPr indent="0" marL="0">
              <a:buNone/>
            </a:pPr>
            <a:r>
              <a:rPr lang="en-US" sz="1300" i="1" dirty="0">
                <a:solidFill>
                  <a:srgbClr val="B6E0F2"/>
                </a:solidFill>
                <a:latin typeface="Calibri" pitchFamily="34" charset="0"/>
                <a:ea typeface="Calibri" pitchFamily="34" charset="-122"/>
                <a:cs typeface="Calibri" pitchFamily="34" charset="-120"/>
              </a:rPr>
              <a:t>A control that isn't documented, owned and assessed may as well not exist to a regulator or a court.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EXPRESSING GOVERNANCE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Security policies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Information security policy</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Top-level, leadership-signed — how the program runs and what it protects.</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Topic policies</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Acceptable use, access, data classification, encryption, incident response.</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Standards &amp; procedures</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Concrete, testable requirements — often enforced as policy-as-code.</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400" i="1" dirty="0">
                <a:solidFill>
                  <a:srgbClr val="262F65"/>
                </a:solidFill>
                <a:latin typeface="Calibri" pitchFamily="34" charset="0"/>
                <a:ea typeface="Calibri" pitchFamily="34" charset="-122"/>
                <a:cs typeface="Calibri" pitchFamily="34" charset="-120"/>
              </a:rPr>
              <a:t>Good policy is specific, owned and enforced — and it's the yardstick auditing checks against.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02</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2</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Compliance &amp; Standards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WHY IT MATTERS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Compliance &amp; key standards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Security &amp; cloud standards</a:t>
            </a:r>
            <a:endParaRPr lang="en-US" sz="1550" dirty="0"/>
          </a:p>
        </p:txBody>
      </p:sp>
      <p:sp>
        <p:nvSpPr>
          <p:cNvPr id="11" name="Shape 7"/>
          <p:cNvSpPr/>
          <p:nvPr/>
        </p:nvSpPr>
        <p:spPr>
          <a:xfrm>
            <a:off x="1005840" y="3127248"/>
            <a:ext cx="128016" cy="128016"/>
          </a:xfrm>
          <a:prstGeom prst="ellipse">
            <a:avLst/>
          </a:prstGeom>
          <a:solidFill>
            <a:srgbClr val="262F65"/>
          </a:solidFill>
          <a:ln/>
        </p:spPr>
      </p:sp>
      <p:sp>
        <p:nvSpPr>
          <p:cNvPr id="12" name="Text 8"/>
          <p:cNvSpPr/>
          <p:nvPr/>
        </p:nvSpPr>
        <p:spPr>
          <a:xfrm>
            <a:off x="1280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ISO/IEC 27001 — </a:t>
            </a:r>
            <a:pPr indent="0" marL="0">
              <a:buNone/>
            </a:pPr>
            <a:r>
              <a:rPr lang="en-US" sz="1250" dirty="0">
                <a:solidFill>
                  <a:srgbClr val="5B6472"/>
                </a:solidFill>
                <a:latin typeface="Calibri" pitchFamily="34" charset="0"/>
                <a:ea typeface="Calibri" pitchFamily="34" charset="-122"/>
                <a:cs typeface="Calibri" pitchFamily="34" charset="-120"/>
              </a:rPr>
              <a:t>information security management</a:t>
            </a:r>
            <a:endParaRPr lang="en-US" sz="1250" dirty="0"/>
          </a:p>
        </p:txBody>
      </p:sp>
      <p:sp>
        <p:nvSpPr>
          <p:cNvPr id="13" name="Shape 9"/>
          <p:cNvSpPr/>
          <p:nvPr/>
        </p:nvSpPr>
        <p:spPr>
          <a:xfrm>
            <a:off x="1005840" y="3694176"/>
            <a:ext cx="128016" cy="128016"/>
          </a:xfrm>
          <a:prstGeom prst="ellipse">
            <a:avLst/>
          </a:prstGeom>
          <a:solidFill>
            <a:srgbClr val="262F65"/>
          </a:solidFill>
          <a:ln/>
        </p:spPr>
      </p:sp>
      <p:sp>
        <p:nvSpPr>
          <p:cNvPr id="14" name="Text 10"/>
          <p:cNvSpPr/>
          <p:nvPr/>
        </p:nvSpPr>
        <p:spPr>
          <a:xfrm>
            <a:off x="1280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ISO/IEC 27017 — </a:t>
            </a:r>
            <a:pPr indent="0" marL="0">
              <a:buNone/>
            </a:pPr>
            <a:r>
              <a:rPr lang="en-US" sz="1250" dirty="0">
                <a:solidFill>
                  <a:srgbClr val="5B6472"/>
                </a:solidFill>
                <a:latin typeface="Calibri" pitchFamily="34" charset="0"/>
                <a:ea typeface="Calibri" pitchFamily="34" charset="-122"/>
                <a:cs typeface="Calibri" pitchFamily="34" charset="-120"/>
              </a:rPr>
              <a:t>cloud-specific controls</a:t>
            </a:r>
            <a:endParaRPr lang="en-US" sz="1250" dirty="0"/>
          </a:p>
        </p:txBody>
      </p:sp>
      <p:sp>
        <p:nvSpPr>
          <p:cNvPr id="15" name="Shape 11"/>
          <p:cNvSpPr/>
          <p:nvPr/>
        </p:nvSpPr>
        <p:spPr>
          <a:xfrm>
            <a:off x="1005840" y="4261104"/>
            <a:ext cx="128016" cy="128016"/>
          </a:xfrm>
          <a:prstGeom prst="ellipse">
            <a:avLst/>
          </a:prstGeom>
          <a:solidFill>
            <a:srgbClr val="262F65"/>
          </a:solidFill>
          <a:ln/>
        </p:spPr>
      </p:sp>
      <p:sp>
        <p:nvSpPr>
          <p:cNvPr id="16" name="Text 12"/>
          <p:cNvSpPr/>
          <p:nvPr/>
        </p:nvSpPr>
        <p:spPr>
          <a:xfrm>
            <a:off x="1280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NIST SP 800-53 / RMF — </a:t>
            </a:r>
            <a:pPr indent="0" marL="0">
              <a:buNone/>
            </a:pPr>
            <a:r>
              <a:rPr lang="en-US" sz="1250" dirty="0">
                <a:solidFill>
                  <a:srgbClr val="5B6472"/>
                </a:solidFill>
                <a:latin typeface="Calibri" pitchFamily="34" charset="0"/>
                <a:ea typeface="Calibri" pitchFamily="34" charset="-122"/>
                <a:cs typeface="Calibri" pitchFamily="34" charset="-120"/>
              </a:rPr>
              <a:t>control catalogue &amp; risk</a:t>
            </a:r>
            <a:endParaRPr lang="en-US" sz="1250" dirty="0"/>
          </a:p>
        </p:txBody>
      </p:sp>
      <p:sp>
        <p:nvSpPr>
          <p:cNvPr id="17" name="Shape 13"/>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8" name="Shape 14"/>
          <p:cNvSpPr/>
          <p:nvPr/>
        </p:nvSpPr>
        <p:spPr>
          <a:xfrm>
            <a:off x="6675120" y="2057400"/>
            <a:ext cx="868680" cy="868680"/>
          </a:xfrm>
          <a:prstGeom prst="ellipse">
            <a:avLst/>
          </a:prstGeom>
          <a:solidFill>
            <a:srgbClr val="F2931F"/>
          </a:solidFill>
          <a:ln/>
        </p:spPr>
      </p:sp>
      <p:pic>
        <p:nvPicPr>
          <p:cNvPr id="19"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0" name="Text 15"/>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Data &amp; industry rules</a:t>
            </a:r>
            <a:endParaRPr lang="en-US" sz="1550" dirty="0"/>
          </a:p>
        </p:txBody>
      </p:sp>
      <p:sp>
        <p:nvSpPr>
          <p:cNvPr id="21" name="Shape 16"/>
          <p:cNvSpPr/>
          <p:nvPr/>
        </p:nvSpPr>
        <p:spPr>
          <a:xfrm>
            <a:off x="6720840" y="3127248"/>
            <a:ext cx="128016" cy="128016"/>
          </a:xfrm>
          <a:prstGeom prst="ellipse">
            <a:avLst/>
          </a:prstGeom>
          <a:solidFill>
            <a:srgbClr val="F2931F"/>
          </a:solidFill>
          <a:ln/>
        </p:spPr>
      </p:sp>
      <p:sp>
        <p:nvSpPr>
          <p:cNvPr id="22" name="Text 17"/>
          <p:cNvSpPr/>
          <p:nvPr/>
        </p:nvSpPr>
        <p:spPr>
          <a:xfrm>
            <a:off x="6995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ISO/IEC 27018 — </a:t>
            </a:r>
            <a:pPr indent="0" marL="0">
              <a:buNone/>
            </a:pPr>
            <a:r>
              <a:rPr lang="en-US" sz="1250" dirty="0">
                <a:solidFill>
                  <a:srgbClr val="5B6472"/>
                </a:solidFill>
                <a:latin typeface="Calibri" pitchFamily="34" charset="0"/>
                <a:ea typeface="Calibri" pitchFamily="34" charset="-122"/>
                <a:cs typeface="Calibri" pitchFamily="34" charset="-120"/>
              </a:rPr>
              <a:t>protecting PII in the cloud</a:t>
            </a:r>
            <a:endParaRPr lang="en-US" sz="1250" dirty="0"/>
          </a:p>
        </p:txBody>
      </p:sp>
      <p:sp>
        <p:nvSpPr>
          <p:cNvPr id="23" name="Shape 18"/>
          <p:cNvSpPr/>
          <p:nvPr/>
        </p:nvSpPr>
        <p:spPr>
          <a:xfrm>
            <a:off x="6720840" y="3694176"/>
            <a:ext cx="128016" cy="128016"/>
          </a:xfrm>
          <a:prstGeom prst="ellipse">
            <a:avLst/>
          </a:prstGeom>
          <a:solidFill>
            <a:srgbClr val="F2931F"/>
          </a:solidFill>
          <a:ln/>
        </p:spPr>
      </p:sp>
      <p:sp>
        <p:nvSpPr>
          <p:cNvPr id="24" name="Text 19"/>
          <p:cNvSpPr/>
          <p:nvPr/>
        </p:nvSpPr>
        <p:spPr>
          <a:xfrm>
            <a:off x="6995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PCI DSS — </a:t>
            </a:r>
            <a:pPr indent="0" marL="0">
              <a:buNone/>
            </a:pPr>
            <a:r>
              <a:rPr lang="en-US" sz="1250" dirty="0">
                <a:solidFill>
                  <a:srgbClr val="5B6472"/>
                </a:solidFill>
                <a:latin typeface="Calibri" pitchFamily="34" charset="0"/>
                <a:ea typeface="Calibri" pitchFamily="34" charset="-122"/>
                <a:cs typeface="Calibri" pitchFamily="34" charset="-120"/>
              </a:rPr>
              <a:t>payment-card data (Lesson 11)</a:t>
            </a:r>
            <a:endParaRPr lang="en-US" sz="1250" dirty="0"/>
          </a:p>
        </p:txBody>
      </p:sp>
      <p:sp>
        <p:nvSpPr>
          <p:cNvPr id="25" name="Shape 20"/>
          <p:cNvSpPr/>
          <p:nvPr/>
        </p:nvSpPr>
        <p:spPr>
          <a:xfrm>
            <a:off x="6720840" y="4261104"/>
            <a:ext cx="128016" cy="128016"/>
          </a:xfrm>
          <a:prstGeom prst="ellipse">
            <a:avLst/>
          </a:prstGeom>
          <a:solidFill>
            <a:srgbClr val="F2931F"/>
          </a:solidFill>
          <a:ln/>
        </p:spPr>
      </p:sp>
      <p:sp>
        <p:nvSpPr>
          <p:cNvPr id="26" name="Text 21"/>
          <p:cNvSpPr/>
          <p:nvPr/>
        </p:nvSpPr>
        <p:spPr>
          <a:xfrm>
            <a:off x="6995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GDPR / PDPA — </a:t>
            </a:r>
            <a:pPr indent="0" marL="0">
              <a:buNone/>
            </a:pPr>
            <a:r>
              <a:rPr lang="en-US" sz="1250" dirty="0">
                <a:solidFill>
                  <a:srgbClr val="5B6472"/>
                </a:solidFill>
                <a:latin typeface="Calibri" pitchFamily="34" charset="0"/>
                <a:ea typeface="Calibri" pitchFamily="34" charset="-122"/>
                <a:cs typeface="Calibri" pitchFamily="34" charset="-120"/>
              </a:rPr>
              <a:t>privacy law with real penalties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ASSESSING PROVIDERS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CSA STAR, CCM &amp; CAIQ</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Cloud Controls Matrix</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Cloud control catalogue mapped to ISO, PCI &amp; more — meet many at once.</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CAIQ</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Standard questionnaire providers complete to document each control.</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STAR registry</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Providers publish assessments &amp; certifications — compare postures.</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b="1" dirty="0">
                <a:solidFill>
                  <a:srgbClr val="F2931F"/>
                </a:solidFill>
                <a:latin typeface="Calibri" pitchFamily="34" charset="0"/>
                <a:ea typeface="Calibri" pitchFamily="34" charset="-122"/>
                <a:cs typeface="Calibri" pitchFamily="34" charset="-120"/>
              </a:rPr>
              <a:t>STAR answers:  </a:t>
            </a:r>
            <a:pPr algn="ctr" indent="0" marL="0">
              <a:buNone/>
            </a:pPr>
            <a:r>
              <a:rPr lang="en-US" sz="1350" i="1" dirty="0">
                <a:solidFill>
                  <a:srgbClr val="262F65"/>
                </a:solidFill>
                <a:latin typeface="Calibri" pitchFamily="34" charset="0"/>
                <a:ea typeface="Calibri" pitchFamily="34" charset="-122"/>
                <a:cs typeface="Calibri" pitchFamily="34" charset="-120"/>
              </a:rPr>
              <a:t>'how do I know my provider is secure?' — with evidence, not marketing.</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03</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3</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Risk Management</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PROCESS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The risk-management process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640080" y="2194560"/>
            <a:ext cx="260604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531620" y="2450592"/>
            <a:ext cx="822960" cy="82296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729130" y="2648102"/>
            <a:ext cx="427939" cy="427939"/>
          </a:xfrm>
          <a:prstGeom prst="rect">
            <a:avLst/>
          </a:prstGeom>
        </p:spPr>
      </p:pic>
      <p:sp>
        <p:nvSpPr>
          <p:cNvPr id="10" name="Text 6"/>
          <p:cNvSpPr/>
          <p:nvPr/>
        </p:nvSpPr>
        <p:spPr>
          <a:xfrm>
            <a:off x="640080" y="3337560"/>
            <a:ext cx="2606040" cy="411480"/>
          </a:xfrm>
          <a:prstGeom prst="rect">
            <a:avLst/>
          </a:prstGeom>
          <a:noFill/>
          <a:ln/>
        </p:spPr>
        <p:txBody>
          <a:bodyPr wrap="square" lIns="0" tIns="0" rIns="0" bIns="0" rtlCol="0" anchor="ctr"/>
          <a:lstStyle/>
          <a:p>
            <a:pPr algn="ctr" indent="0" marL="0">
              <a:buNone/>
            </a:pPr>
            <a:r>
              <a:rPr lang="en-US" sz="1500" b="1" dirty="0">
                <a:solidFill>
                  <a:srgbClr val="262F65"/>
                </a:solidFill>
                <a:latin typeface="Calibri" pitchFamily="34" charset="0"/>
                <a:ea typeface="Calibri" pitchFamily="34" charset="-122"/>
                <a:cs typeface="Calibri" pitchFamily="34" charset="-120"/>
              </a:rPr>
              <a:t>Identify</a:t>
            </a:r>
            <a:endParaRPr lang="en-US" sz="1500" dirty="0"/>
          </a:p>
        </p:txBody>
      </p:sp>
      <p:sp>
        <p:nvSpPr>
          <p:cNvPr id="11" name="Text 7"/>
          <p:cNvSpPr/>
          <p:nvPr/>
        </p:nvSpPr>
        <p:spPr>
          <a:xfrm>
            <a:off x="3227832" y="2697480"/>
            <a:ext cx="219456" cy="548640"/>
          </a:xfrm>
          <a:prstGeom prst="rect">
            <a:avLst/>
          </a:prstGeom>
          <a:noFill/>
          <a:ln/>
        </p:spPr>
        <p:txBody>
          <a:bodyPr wrap="square" lIns="0" tIns="0" rIns="0" bIns="0" rtlCol="0" anchor="ctr"/>
          <a:lstStyle/>
          <a:p>
            <a:pPr algn="ctr" indent="0" marL="0">
              <a:buNone/>
            </a:pPr>
            <a:r>
              <a:rPr lang="en-US" sz="2200" b="1" dirty="0">
                <a:solidFill>
                  <a:srgbClr val="5B6472"/>
                </a:solidFill>
                <a:latin typeface="Calibri" pitchFamily="34" charset="0"/>
                <a:ea typeface="Calibri" pitchFamily="34" charset="-122"/>
                <a:cs typeface="Calibri" pitchFamily="34" charset="-120"/>
              </a:rPr>
              <a:t>→</a:t>
            </a:r>
            <a:endParaRPr lang="en-US" sz="2200" dirty="0"/>
          </a:p>
        </p:txBody>
      </p:sp>
      <p:sp>
        <p:nvSpPr>
          <p:cNvPr id="12" name="Shape 8"/>
          <p:cNvSpPr/>
          <p:nvPr/>
        </p:nvSpPr>
        <p:spPr>
          <a:xfrm>
            <a:off x="3502152" y="2194560"/>
            <a:ext cx="260604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4393692" y="2450592"/>
            <a:ext cx="822960" cy="822960"/>
          </a:xfrm>
          <a:prstGeom prst="ellipse">
            <a:avLst/>
          </a:prstGeom>
          <a:solidFill>
            <a:srgbClr val="293E7B"/>
          </a:solidFill>
          <a:ln/>
        </p:spPr>
      </p:sp>
      <p:pic>
        <p:nvPicPr>
          <p:cNvPr id="14" name="Image 1" descr="preencoded.png">    </p:cNvPr>
          <p:cNvPicPr>
            <a:picLocks noChangeAspect="1"/>
          </p:cNvPicPr>
          <p:nvPr/>
        </p:nvPicPr>
        <p:blipFill>
          <a:blip r:embed="rId2"/>
          <a:stretch>
            <a:fillRect/>
          </a:stretch>
        </p:blipFill>
        <p:spPr>
          <a:xfrm>
            <a:off x="4591202" y="2648102"/>
            <a:ext cx="427939" cy="427939"/>
          </a:xfrm>
          <a:prstGeom prst="rect">
            <a:avLst/>
          </a:prstGeom>
        </p:spPr>
      </p:pic>
      <p:sp>
        <p:nvSpPr>
          <p:cNvPr id="15" name="Text 10"/>
          <p:cNvSpPr/>
          <p:nvPr/>
        </p:nvSpPr>
        <p:spPr>
          <a:xfrm>
            <a:off x="3502152" y="3337560"/>
            <a:ext cx="2606040" cy="411480"/>
          </a:xfrm>
          <a:prstGeom prst="rect">
            <a:avLst/>
          </a:prstGeom>
          <a:noFill/>
          <a:ln/>
        </p:spPr>
        <p:txBody>
          <a:bodyPr wrap="square" lIns="0" tIns="0" rIns="0" bIns="0" rtlCol="0" anchor="ctr"/>
          <a:lstStyle/>
          <a:p>
            <a:pPr algn="ctr" indent="0" marL="0">
              <a:buNone/>
            </a:pPr>
            <a:r>
              <a:rPr lang="en-US" sz="1500" b="1" dirty="0">
                <a:solidFill>
                  <a:srgbClr val="262F65"/>
                </a:solidFill>
                <a:latin typeface="Calibri" pitchFamily="34" charset="0"/>
                <a:ea typeface="Calibri" pitchFamily="34" charset="-122"/>
                <a:cs typeface="Calibri" pitchFamily="34" charset="-120"/>
              </a:rPr>
              <a:t>Assess</a:t>
            </a:r>
            <a:endParaRPr lang="en-US" sz="1500" dirty="0"/>
          </a:p>
        </p:txBody>
      </p:sp>
      <p:sp>
        <p:nvSpPr>
          <p:cNvPr id="16" name="Text 11"/>
          <p:cNvSpPr/>
          <p:nvPr/>
        </p:nvSpPr>
        <p:spPr>
          <a:xfrm>
            <a:off x="6089904" y="2697480"/>
            <a:ext cx="219456" cy="548640"/>
          </a:xfrm>
          <a:prstGeom prst="rect">
            <a:avLst/>
          </a:prstGeom>
          <a:noFill/>
          <a:ln/>
        </p:spPr>
        <p:txBody>
          <a:bodyPr wrap="square" lIns="0" tIns="0" rIns="0" bIns="0" rtlCol="0" anchor="ctr"/>
          <a:lstStyle/>
          <a:p>
            <a:pPr algn="ctr" indent="0" marL="0">
              <a:buNone/>
            </a:pPr>
            <a:r>
              <a:rPr lang="en-US" sz="2200" b="1" dirty="0">
                <a:solidFill>
                  <a:srgbClr val="5B6472"/>
                </a:solidFill>
                <a:latin typeface="Calibri" pitchFamily="34" charset="0"/>
                <a:ea typeface="Calibri" pitchFamily="34" charset="-122"/>
                <a:cs typeface="Calibri" pitchFamily="34" charset="-120"/>
              </a:rPr>
              <a:t>→</a:t>
            </a:r>
            <a:endParaRPr lang="en-US" sz="2200" dirty="0"/>
          </a:p>
        </p:txBody>
      </p:sp>
      <p:sp>
        <p:nvSpPr>
          <p:cNvPr id="17" name="Shape 12"/>
          <p:cNvSpPr/>
          <p:nvPr/>
        </p:nvSpPr>
        <p:spPr>
          <a:xfrm>
            <a:off x="6364224" y="2194560"/>
            <a:ext cx="260604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7255764" y="2450592"/>
            <a:ext cx="822960" cy="822960"/>
          </a:xfrm>
          <a:prstGeom prst="ellipse">
            <a:avLst/>
          </a:prstGeom>
          <a:solidFill>
            <a:srgbClr val="F2931F"/>
          </a:solidFill>
          <a:ln/>
        </p:spPr>
      </p:sp>
      <p:pic>
        <p:nvPicPr>
          <p:cNvPr id="19" name="Image 2" descr="preencoded.png">    </p:cNvPr>
          <p:cNvPicPr>
            <a:picLocks noChangeAspect="1"/>
          </p:cNvPicPr>
          <p:nvPr/>
        </p:nvPicPr>
        <p:blipFill>
          <a:blip r:embed="rId3"/>
          <a:stretch>
            <a:fillRect/>
          </a:stretch>
        </p:blipFill>
        <p:spPr>
          <a:xfrm>
            <a:off x="7453274" y="2648102"/>
            <a:ext cx="427939" cy="427939"/>
          </a:xfrm>
          <a:prstGeom prst="rect">
            <a:avLst/>
          </a:prstGeom>
        </p:spPr>
      </p:pic>
      <p:sp>
        <p:nvSpPr>
          <p:cNvPr id="20" name="Text 14"/>
          <p:cNvSpPr/>
          <p:nvPr/>
        </p:nvSpPr>
        <p:spPr>
          <a:xfrm>
            <a:off x="6364224" y="3337560"/>
            <a:ext cx="2606040" cy="411480"/>
          </a:xfrm>
          <a:prstGeom prst="rect">
            <a:avLst/>
          </a:prstGeom>
          <a:noFill/>
          <a:ln/>
        </p:spPr>
        <p:txBody>
          <a:bodyPr wrap="square" lIns="0" tIns="0" rIns="0" bIns="0" rtlCol="0" anchor="ctr"/>
          <a:lstStyle/>
          <a:p>
            <a:pPr algn="ctr" indent="0" marL="0">
              <a:buNone/>
            </a:pPr>
            <a:r>
              <a:rPr lang="en-US" sz="1500" b="1" dirty="0">
                <a:solidFill>
                  <a:srgbClr val="262F65"/>
                </a:solidFill>
                <a:latin typeface="Calibri" pitchFamily="34" charset="0"/>
                <a:ea typeface="Calibri" pitchFamily="34" charset="-122"/>
                <a:cs typeface="Calibri" pitchFamily="34" charset="-120"/>
              </a:rPr>
              <a:t>Treat</a:t>
            </a:r>
            <a:endParaRPr lang="en-US" sz="1500" dirty="0"/>
          </a:p>
        </p:txBody>
      </p:sp>
      <p:sp>
        <p:nvSpPr>
          <p:cNvPr id="21" name="Text 15"/>
          <p:cNvSpPr/>
          <p:nvPr/>
        </p:nvSpPr>
        <p:spPr>
          <a:xfrm>
            <a:off x="8951976" y="2697480"/>
            <a:ext cx="219456" cy="548640"/>
          </a:xfrm>
          <a:prstGeom prst="rect">
            <a:avLst/>
          </a:prstGeom>
          <a:noFill/>
          <a:ln/>
        </p:spPr>
        <p:txBody>
          <a:bodyPr wrap="square" lIns="0" tIns="0" rIns="0" bIns="0" rtlCol="0" anchor="ctr"/>
          <a:lstStyle/>
          <a:p>
            <a:pPr algn="ctr" indent="0" marL="0">
              <a:buNone/>
            </a:pPr>
            <a:r>
              <a:rPr lang="en-US" sz="2200" b="1" dirty="0">
                <a:solidFill>
                  <a:srgbClr val="5B6472"/>
                </a:solidFill>
                <a:latin typeface="Calibri" pitchFamily="34" charset="0"/>
                <a:ea typeface="Calibri" pitchFamily="34" charset="-122"/>
                <a:cs typeface="Calibri" pitchFamily="34" charset="-120"/>
              </a:rPr>
              <a:t>→</a:t>
            </a:r>
            <a:endParaRPr lang="en-US" sz="2200" dirty="0"/>
          </a:p>
        </p:txBody>
      </p:sp>
      <p:sp>
        <p:nvSpPr>
          <p:cNvPr id="22" name="Shape 16"/>
          <p:cNvSpPr/>
          <p:nvPr/>
        </p:nvSpPr>
        <p:spPr>
          <a:xfrm>
            <a:off x="9226296" y="2194560"/>
            <a:ext cx="260604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10117836" y="2450592"/>
            <a:ext cx="822960" cy="82296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10315346" y="2648102"/>
            <a:ext cx="427939" cy="427939"/>
          </a:xfrm>
          <a:prstGeom prst="rect">
            <a:avLst/>
          </a:prstGeom>
        </p:spPr>
      </p:pic>
      <p:sp>
        <p:nvSpPr>
          <p:cNvPr id="25" name="Text 18"/>
          <p:cNvSpPr/>
          <p:nvPr/>
        </p:nvSpPr>
        <p:spPr>
          <a:xfrm>
            <a:off x="9226296" y="3337560"/>
            <a:ext cx="2606040" cy="411480"/>
          </a:xfrm>
          <a:prstGeom prst="rect">
            <a:avLst/>
          </a:prstGeom>
          <a:noFill/>
          <a:ln/>
        </p:spPr>
        <p:txBody>
          <a:bodyPr wrap="square" lIns="0" tIns="0" rIns="0" bIns="0" rtlCol="0" anchor="ctr"/>
          <a:lstStyle/>
          <a:p>
            <a:pPr algn="ctr" indent="0" marL="0">
              <a:buNone/>
            </a:pPr>
            <a:r>
              <a:rPr lang="en-US" sz="1500" b="1" dirty="0">
                <a:solidFill>
                  <a:srgbClr val="262F65"/>
                </a:solidFill>
                <a:latin typeface="Calibri" pitchFamily="34" charset="0"/>
                <a:ea typeface="Calibri" pitchFamily="34" charset="-122"/>
                <a:cs typeface="Calibri" pitchFamily="34" charset="-120"/>
              </a:rPr>
              <a:t>Monitor</a:t>
            </a:r>
            <a:endParaRPr lang="en-US" sz="1500" dirty="0"/>
          </a:p>
        </p:txBody>
      </p:sp>
      <p:sp>
        <p:nvSpPr>
          <p:cNvPr id="26" name="Text 19"/>
          <p:cNvSpPr/>
          <p:nvPr/>
        </p:nvSpPr>
        <p:spPr>
          <a:xfrm>
            <a:off x="640080" y="4572000"/>
            <a:ext cx="10881360" cy="64008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Risk = likelihood × impact.  </a:t>
            </a:r>
            <a:pPr indent="0" marL="0">
              <a:buNone/>
            </a:pPr>
            <a:r>
              <a:rPr lang="en-US" sz="1450" i="1" dirty="0">
                <a:solidFill>
                  <a:srgbClr val="262F65"/>
                </a:solidFill>
                <a:latin typeface="Calibri" pitchFamily="34" charset="0"/>
                <a:ea typeface="Calibri" pitchFamily="34" charset="-122"/>
                <a:cs typeface="Calibri" pitchFamily="34" charset="-120"/>
              </a:rPr>
              <a:t>The goal is not zero risk but reducing it to an acceptable level (risk appetite).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DECIDING WHAT TO DO</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Risk treatment options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640080" y="1783080"/>
            <a:ext cx="2535860" cy="3108960"/>
          </a:xfrm>
          <a:prstGeom prst="roundRect">
            <a:avLst>
              <a:gd name="adj" fmla="val 3245"/>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450810"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670266" y="2322576"/>
            <a:ext cx="475488" cy="475488"/>
          </a:xfrm>
          <a:prstGeom prst="rect">
            <a:avLst/>
          </a:prstGeom>
        </p:spPr>
      </p:pic>
      <p:sp>
        <p:nvSpPr>
          <p:cNvPr id="10" name="Text 6"/>
          <p:cNvSpPr/>
          <p:nvPr/>
        </p:nvSpPr>
        <p:spPr>
          <a:xfrm>
            <a:off x="749808" y="3154680"/>
            <a:ext cx="231640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Mitigate</a:t>
            </a:r>
            <a:endParaRPr lang="en-US" sz="1700" dirty="0"/>
          </a:p>
        </p:txBody>
      </p:sp>
      <p:sp>
        <p:nvSpPr>
          <p:cNvPr id="11" name="Text 7"/>
          <p:cNvSpPr/>
          <p:nvPr/>
        </p:nvSpPr>
        <p:spPr>
          <a:xfrm>
            <a:off x="804672" y="3794760"/>
            <a:ext cx="220667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Apply controls to reduce likelihood or impact.</a:t>
            </a:r>
            <a:endParaRPr lang="en-US" sz="1250" dirty="0"/>
          </a:p>
        </p:txBody>
      </p:sp>
      <p:sp>
        <p:nvSpPr>
          <p:cNvPr id="12" name="Shape 8"/>
          <p:cNvSpPr/>
          <p:nvPr/>
        </p:nvSpPr>
        <p:spPr>
          <a:xfrm>
            <a:off x="3431972" y="1783080"/>
            <a:ext cx="2535860" cy="3108960"/>
          </a:xfrm>
          <a:prstGeom prst="roundRect">
            <a:avLst>
              <a:gd name="adj" fmla="val 3245"/>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4242702"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4462158" y="2322576"/>
            <a:ext cx="475488" cy="475488"/>
          </a:xfrm>
          <a:prstGeom prst="rect">
            <a:avLst/>
          </a:prstGeom>
        </p:spPr>
      </p:pic>
      <p:sp>
        <p:nvSpPr>
          <p:cNvPr id="15" name="Text 10"/>
          <p:cNvSpPr/>
          <p:nvPr/>
        </p:nvSpPr>
        <p:spPr>
          <a:xfrm>
            <a:off x="3541700" y="3154680"/>
            <a:ext cx="231640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Transfer</a:t>
            </a:r>
            <a:endParaRPr lang="en-US" sz="1700" dirty="0"/>
          </a:p>
        </p:txBody>
      </p:sp>
      <p:sp>
        <p:nvSpPr>
          <p:cNvPr id="16" name="Text 11"/>
          <p:cNvSpPr/>
          <p:nvPr/>
        </p:nvSpPr>
        <p:spPr>
          <a:xfrm>
            <a:off x="3596564" y="3794760"/>
            <a:ext cx="220667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Share financial impact — insurance, contracts. Not accountability.</a:t>
            </a:r>
            <a:endParaRPr lang="en-US" sz="1250" dirty="0"/>
          </a:p>
        </p:txBody>
      </p:sp>
      <p:sp>
        <p:nvSpPr>
          <p:cNvPr id="17" name="Shape 12"/>
          <p:cNvSpPr/>
          <p:nvPr/>
        </p:nvSpPr>
        <p:spPr>
          <a:xfrm>
            <a:off x="6223864" y="1783080"/>
            <a:ext cx="2535860" cy="3108960"/>
          </a:xfrm>
          <a:prstGeom prst="roundRect">
            <a:avLst>
              <a:gd name="adj" fmla="val 3245"/>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7034594"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7254050" y="2322576"/>
            <a:ext cx="475488" cy="475488"/>
          </a:xfrm>
          <a:prstGeom prst="rect">
            <a:avLst/>
          </a:prstGeom>
        </p:spPr>
      </p:pic>
      <p:sp>
        <p:nvSpPr>
          <p:cNvPr id="20" name="Text 14"/>
          <p:cNvSpPr/>
          <p:nvPr/>
        </p:nvSpPr>
        <p:spPr>
          <a:xfrm>
            <a:off x="6333592" y="3154680"/>
            <a:ext cx="231640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Avoid</a:t>
            </a:r>
            <a:endParaRPr lang="en-US" sz="1700" dirty="0"/>
          </a:p>
        </p:txBody>
      </p:sp>
      <p:sp>
        <p:nvSpPr>
          <p:cNvPr id="21" name="Text 15"/>
          <p:cNvSpPr/>
          <p:nvPr/>
        </p:nvSpPr>
        <p:spPr>
          <a:xfrm>
            <a:off x="6388456" y="3794760"/>
            <a:ext cx="220667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Stop the risky activity altogether.</a:t>
            </a:r>
            <a:endParaRPr lang="en-US" sz="1250" dirty="0"/>
          </a:p>
        </p:txBody>
      </p:sp>
      <p:sp>
        <p:nvSpPr>
          <p:cNvPr id="22" name="Shape 16"/>
          <p:cNvSpPr/>
          <p:nvPr/>
        </p:nvSpPr>
        <p:spPr>
          <a:xfrm>
            <a:off x="9015755" y="1783080"/>
            <a:ext cx="2535860" cy="3108960"/>
          </a:xfrm>
          <a:prstGeom prst="roundRect">
            <a:avLst>
              <a:gd name="adj" fmla="val 3245"/>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9826485" y="2103120"/>
            <a:ext cx="914400" cy="91440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10045941" y="2322576"/>
            <a:ext cx="475488" cy="475488"/>
          </a:xfrm>
          <a:prstGeom prst="rect">
            <a:avLst/>
          </a:prstGeom>
        </p:spPr>
      </p:pic>
      <p:sp>
        <p:nvSpPr>
          <p:cNvPr id="25" name="Text 18"/>
          <p:cNvSpPr/>
          <p:nvPr/>
        </p:nvSpPr>
        <p:spPr>
          <a:xfrm>
            <a:off x="9125483" y="3154680"/>
            <a:ext cx="231640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Accept</a:t>
            </a:r>
            <a:endParaRPr lang="en-US" sz="1700" dirty="0"/>
          </a:p>
        </p:txBody>
      </p:sp>
      <p:sp>
        <p:nvSpPr>
          <p:cNvPr id="26" name="Text 19"/>
          <p:cNvSpPr/>
          <p:nvPr/>
        </p:nvSpPr>
        <p:spPr>
          <a:xfrm>
            <a:off x="9180347" y="3794760"/>
            <a:ext cx="220667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Consciously accept low risk — documented &amp; authorised.</a:t>
            </a:r>
            <a:endParaRPr lang="en-US" sz="1250" dirty="0"/>
          </a:p>
        </p:txBody>
      </p:sp>
      <p:sp>
        <p:nvSpPr>
          <p:cNvPr id="27" name="Text 20"/>
          <p:cNvSpPr/>
          <p:nvPr/>
        </p:nvSpPr>
        <p:spPr>
          <a:xfrm>
            <a:off x="640080" y="5074920"/>
            <a:ext cx="10881360" cy="457200"/>
          </a:xfrm>
          <a:prstGeom prst="rect">
            <a:avLst/>
          </a:prstGeom>
          <a:noFill/>
          <a:ln/>
        </p:spPr>
        <p:txBody>
          <a:bodyPr wrap="square" lIns="0" tIns="0" rIns="0" bIns="0" rtlCol="0" anchor="ctr"/>
          <a:lstStyle/>
          <a:p>
            <a:pPr algn="ctr" indent="0" marL="0">
              <a:buNone/>
            </a:pPr>
            <a:r>
              <a:rPr lang="en-US" sz="1400" i="1" dirty="0">
                <a:solidFill>
                  <a:srgbClr val="262F65"/>
                </a:solidFill>
                <a:latin typeface="Calibri" pitchFamily="34" charset="0"/>
                <a:ea typeface="Calibri" pitchFamily="34" charset="-122"/>
                <a:cs typeface="Calibri" pitchFamily="34" charset="-120"/>
              </a:rPr>
              <a:t>Deliberate, documented choices — 'accept' is legitimate only when explicitly owned (VBE3).</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04</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4</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Legal, Forensics &amp; Privacy</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WHERE DATA LIVES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Jurisdiction &amp; data sovereignty</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Jurisdiction</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Which country's laws apply to your data?</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Depends on storage, org &amp; user location — </a:t>
            </a:r>
            <a:pPr indent="0" marL="0">
              <a:buNone/>
            </a:pP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Possibly several regimes at once — </a:t>
            </a:r>
            <a:pPr indent="0" marL="0">
              <a:buNone/>
            </a:pP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Foreign governments may compel access — </a:t>
            </a:r>
            <a:pPr indent="0" marL="0">
              <a:buNone/>
            </a:pP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Data sovereignty</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Some data must stay within borders.</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Residency requirements — </a:t>
            </a:r>
            <a:pPr indent="0" marL="0">
              <a:buNone/>
            </a:pPr>
            <a:r>
              <a:rPr lang="en-US" sz="1250" dirty="0">
                <a:solidFill>
                  <a:srgbClr val="5B6472"/>
                </a:solidFill>
                <a:latin typeface="Calibri" pitchFamily="34" charset="0"/>
                <a:ea typeface="Calibri" pitchFamily="34" charset="-122"/>
                <a:cs typeface="Calibri" pitchFamily="34" charset="-120"/>
              </a:rPr>
              <a:t>gov, finance, health</a:t>
            </a: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Cross-border transfer limits — </a:t>
            </a:r>
            <a:pPr indent="0" marL="0">
              <a:buNone/>
            </a:pPr>
            <a:r>
              <a:rPr lang="en-US" sz="1250" dirty="0">
                <a:solidFill>
                  <a:srgbClr val="5B6472"/>
                </a:solidFill>
                <a:latin typeface="Calibri" pitchFamily="34" charset="0"/>
                <a:ea typeface="Calibri" pitchFamily="34" charset="-122"/>
                <a:cs typeface="Calibri" pitchFamily="34" charset="-120"/>
              </a:rPr>
              <a:t>e.g. GDPR</a:t>
            </a: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Control where data is stored — </a:t>
            </a:r>
            <a:pPr indent="0" marL="0">
              <a:buNone/>
            </a:pPr>
            <a:r>
              <a:rPr lang="en-US" sz="1250" dirty="0">
                <a:solidFill>
                  <a:srgbClr val="5B6472"/>
                </a:solidFill>
                <a:latin typeface="Calibri" pitchFamily="34" charset="0"/>
                <a:ea typeface="Calibri" pitchFamily="34" charset="-122"/>
                <a:cs typeface="Calibri" pitchFamily="34" charset="-120"/>
              </a:rPr>
              <a:t>region selection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PROTECTING PEOPLE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Privacy &amp; data protection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Privacy principles</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Collect minimally, use for stated purposes, keep secure, retain briefly.</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Individual rights</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Access, correction, erasure — the 'right to be forgotten'.</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Key laws</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GDPR · Malaysia PDPA · ISO 27018 · sector health rules.</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i="1" dirty="0">
                <a:solidFill>
                  <a:srgbClr val="262F65"/>
                </a:solidFill>
                <a:latin typeface="Calibri" pitchFamily="34" charset="0"/>
                <a:ea typeface="Calibri" pitchFamily="34" charset="-122"/>
                <a:cs typeface="Calibri" pitchFamily="34" charset="-120"/>
              </a:rPr>
              <a:t>You remain the data controller — accountable for personal data even when the provider processes it.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AFTER AN INCIDENT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Cloud forensics &amp; e-discovery</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Cloud forensics</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Hard: no owned hardware, ephemeral resources — immutable logs are key evidence.</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E-discovery</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Locate &amp; produce specific data — needs a known data map.</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Chain of custody</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Handle evidence so its integrity is provable in court.</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i="1" dirty="0">
                <a:solidFill>
                  <a:srgbClr val="262F65"/>
                </a:solidFill>
                <a:latin typeface="Calibri" pitchFamily="34" charset="0"/>
                <a:ea typeface="Calibri" pitchFamily="34" charset="-122"/>
                <a:cs typeface="Calibri" pitchFamily="34" charset="-120"/>
              </a:rPr>
              <a:t>Arrange forensic support &amp; data access in the contract — after an incident is too late.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05</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5</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SLAs, Case Study &amp; Practice</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CONTRACT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Service Level Agreements (SLAs)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Commitments &amp; metrics</a:t>
            </a:r>
            <a:endParaRPr lang="en-US" sz="1550" dirty="0"/>
          </a:p>
        </p:txBody>
      </p:sp>
      <p:sp>
        <p:nvSpPr>
          <p:cNvPr id="11" name="Shape 7"/>
          <p:cNvSpPr/>
          <p:nvPr/>
        </p:nvSpPr>
        <p:spPr>
          <a:xfrm>
            <a:off x="1005840" y="3127248"/>
            <a:ext cx="128016" cy="128016"/>
          </a:xfrm>
          <a:prstGeom prst="ellipse">
            <a:avLst/>
          </a:prstGeom>
          <a:solidFill>
            <a:srgbClr val="262F65"/>
          </a:solidFill>
          <a:ln/>
        </p:spPr>
      </p:sp>
      <p:sp>
        <p:nvSpPr>
          <p:cNvPr id="12" name="Text 8"/>
          <p:cNvSpPr/>
          <p:nvPr/>
        </p:nvSpPr>
        <p:spPr>
          <a:xfrm>
            <a:off x="1280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Availability (the 'nines') — </a:t>
            </a:r>
            <a:pPr indent="0" marL="0">
              <a:buNone/>
            </a:pPr>
            <a:r>
              <a:rPr lang="en-US" sz="1250" dirty="0">
                <a:solidFill>
                  <a:srgbClr val="5B6472"/>
                </a:solidFill>
                <a:latin typeface="Calibri" pitchFamily="34" charset="0"/>
                <a:ea typeface="Calibri" pitchFamily="34" charset="-122"/>
                <a:cs typeface="Calibri" pitchFamily="34" charset="-120"/>
              </a:rPr>
              <a:t>measurable uptime</a:t>
            </a:r>
            <a:endParaRPr lang="en-US" sz="1250" dirty="0"/>
          </a:p>
        </p:txBody>
      </p:sp>
      <p:sp>
        <p:nvSpPr>
          <p:cNvPr id="13" name="Shape 9"/>
          <p:cNvSpPr/>
          <p:nvPr/>
        </p:nvSpPr>
        <p:spPr>
          <a:xfrm>
            <a:off x="1005840" y="3694176"/>
            <a:ext cx="128016" cy="128016"/>
          </a:xfrm>
          <a:prstGeom prst="ellipse">
            <a:avLst/>
          </a:prstGeom>
          <a:solidFill>
            <a:srgbClr val="262F65"/>
          </a:solidFill>
          <a:ln/>
        </p:spPr>
      </p:sp>
      <p:sp>
        <p:nvSpPr>
          <p:cNvPr id="14" name="Text 10"/>
          <p:cNvSpPr/>
          <p:nvPr/>
        </p:nvSpPr>
        <p:spPr>
          <a:xfrm>
            <a:off x="1280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Performance &amp; support times — </a:t>
            </a:r>
            <a:pPr indent="0" marL="0">
              <a:buNone/>
            </a:pPr>
            <a:endParaRPr lang="en-US" sz="1250" dirty="0"/>
          </a:p>
        </p:txBody>
      </p:sp>
      <p:sp>
        <p:nvSpPr>
          <p:cNvPr id="15" name="Shape 11"/>
          <p:cNvSpPr/>
          <p:nvPr/>
        </p:nvSpPr>
        <p:spPr>
          <a:xfrm>
            <a:off x="1005840" y="4261104"/>
            <a:ext cx="128016" cy="128016"/>
          </a:xfrm>
          <a:prstGeom prst="ellipse">
            <a:avLst/>
          </a:prstGeom>
          <a:solidFill>
            <a:srgbClr val="262F65"/>
          </a:solidFill>
          <a:ln/>
        </p:spPr>
      </p:sp>
      <p:sp>
        <p:nvSpPr>
          <p:cNvPr id="16" name="Text 12"/>
          <p:cNvSpPr/>
          <p:nvPr/>
        </p:nvSpPr>
        <p:spPr>
          <a:xfrm>
            <a:off x="1280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Measurable = enforceable — </a:t>
            </a:r>
            <a:pPr indent="0" marL="0">
              <a:buNone/>
            </a:pPr>
            <a:endParaRPr lang="en-US" sz="1250" dirty="0"/>
          </a:p>
        </p:txBody>
      </p:sp>
      <p:sp>
        <p:nvSpPr>
          <p:cNvPr id="17" name="Shape 13"/>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8" name="Shape 14"/>
          <p:cNvSpPr/>
          <p:nvPr/>
        </p:nvSpPr>
        <p:spPr>
          <a:xfrm>
            <a:off x="6675120" y="2057400"/>
            <a:ext cx="868680" cy="868680"/>
          </a:xfrm>
          <a:prstGeom prst="ellipse">
            <a:avLst/>
          </a:prstGeom>
          <a:solidFill>
            <a:srgbClr val="F2931F"/>
          </a:solidFill>
          <a:ln/>
        </p:spPr>
      </p:sp>
      <p:pic>
        <p:nvPicPr>
          <p:cNvPr id="19"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0" name="Text 15"/>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Terms &amp; remedies</a:t>
            </a:r>
            <a:endParaRPr lang="en-US" sz="1550" dirty="0"/>
          </a:p>
        </p:txBody>
      </p:sp>
      <p:sp>
        <p:nvSpPr>
          <p:cNvPr id="21" name="Shape 16"/>
          <p:cNvSpPr/>
          <p:nvPr/>
        </p:nvSpPr>
        <p:spPr>
          <a:xfrm>
            <a:off x="6720840" y="3127248"/>
            <a:ext cx="128016" cy="128016"/>
          </a:xfrm>
          <a:prstGeom prst="ellipse">
            <a:avLst/>
          </a:prstGeom>
          <a:solidFill>
            <a:srgbClr val="F2931F"/>
          </a:solidFill>
          <a:ln/>
        </p:spPr>
      </p:sp>
      <p:sp>
        <p:nvSpPr>
          <p:cNvPr id="22" name="Text 17"/>
          <p:cNvSpPr/>
          <p:nvPr/>
        </p:nvSpPr>
        <p:spPr>
          <a:xfrm>
            <a:off x="6995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Responsibilities matrix — </a:t>
            </a:r>
            <a:pPr indent="0" marL="0">
              <a:buNone/>
            </a:pPr>
            <a:r>
              <a:rPr lang="en-US" sz="1250" dirty="0">
                <a:solidFill>
                  <a:srgbClr val="5B6472"/>
                </a:solidFill>
                <a:latin typeface="Calibri" pitchFamily="34" charset="0"/>
                <a:ea typeface="Calibri" pitchFamily="34" charset="-122"/>
                <a:cs typeface="Calibri" pitchFamily="34" charset="-120"/>
              </a:rPr>
              <a:t>who secures what</a:t>
            </a:r>
            <a:endParaRPr lang="en-US" sz="1250" dirty="0"/>
          </a:p>
        </p:txBody>
      </p:sp>
      <p:sp>
        <p:nvSpPr>
          <p:cNvPr id="23" name="Shape 18"/>
          <p:cNvSpPr/>
          <p:nvPr/>
        </p:nvSpPr>
        <p:spPr>
          <a:xfrm>
            <a:off x="6720840" y="3694176"/>
            <a:ext cx="128016" cy="128016"/>
          </a:xfrm>
          <a:prstGeom prst="ellipse">
            <a:avLst/>
          </a:prstGeom>
          <a:solidFill>
            <a:srgbClr val="F2931F"/>
          </a:solidFill>
          <a:ln/>
        </p:spPr>
      </p:sp>
      <p:sp>
        <p:nvSpPr>
          <p:cNvPr id="24" name="Text 19"/>
          <p:cNvSpPr/>
          <p:nvPr/>
        </p:nvSpPr>
        <p:spPr>
          <a:xfrm>
            <a:off x="6995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Remedies — </a:t>
            </a:r>
            <a:pPr indent="0" marL="0">
              <a:buNone/>
            </a:pPr>
            <a:r>
              <a:rPr lang="en-US" sz="1250" dirty="0">
                <a:solidFill>
                  <a:srgbClr val="5B6472"/>
                </a:solidFill>
                <a:latin typeface="Calibri" pitchFamily="34" charset="0"/>
                <a:ea typeface="Calibri" pitchFamily="34" charset="-122"/>
                <a:cs typeface="Calibri" pitchFamily="34" charset="-120"/>
              </a:rPr>
              <a:t>service credits if missed</a:t>
            </a:r>
            <a:endParaRPr lang="en-US" sz="1250" dirty="0"/>
          </a:p>
        </p:txBody>
      </p:sp>
      <p:sp>
        <p:nvSpPr>
          <p:cNvPr id="25" name="Shape 20"/>
          <p:cNvSpPr/>
          <p:nvPr/>
        </p:nvSpPr>
        <p:spPr>
          <a:xfrm>
            <a:off x="6720840" y="4261104"/>
            <a:ext cx="128016" cy="128016"/>
          </a:xfrm>
          <a:prstGeom prst="ellipse">
            <a:avLst/>
          </a:prstGeom>
          <a:solidFill>
            <a:srgbClr val="F2931F"/>
          </a:solidFill>
          <a:ln/>
        </p:spPr>
      </p:sp>
      <p:sp>
        <p:nvSpPr>
          <p:cNvPr id="26" name="Text 21"/>
          <p:cNvSpPr/>
          <p:nvPr/>
        </p:nvSpPr>
        <p:spPr>
          <a:xfrm>
            <a:off x="6995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Breach notice, audit rights, exit — </a:t>
            </a:r>
            <a:pPr indent="0" marL="0">
              <a:buNone/>
            </a:pPr>
            <a:r>
              <a:rPr lang="en-US" sz="1250" dirty="0">
                <a:solidFill>
                  <a:srgbClr val="5B6472"/>
                </a:solidFill>
                <a:latin typeface="Calibri" pitchFamily="34" charset="0"/>
                <a:ea typeface="Calibri" pitchFamily="34" charset="-122"/>
                <a:cs typeface="Calibri" pitchFamily="34" charset="-120"/>
              </a:rPr>
              <a:t>data location &amp; deletion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APPLY IT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Case study — the compliance gap</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640080" y="1691640"/>
            <a:ext cx="10881360" cy="1600200"/>
          </a:xfrm>
          <a:prstGeom prst="roundRect">
            <a:avLst>
              <a:gd name="adj" fmla="val 5143"/>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11680"/>
            <a:ext cx="960120" cy="960120"/>
          </a:xfrm>
          <a:prstGeom prst="ellipse">
            <a:avLst/>
          </a:prstGeom>
          <a:solidFill>
            <a:srgbClr val="E8403A"/>
          </a:solidFill>
          <a:ln/>
        </p:spPr>
      </p:sp>
      <p:pic>
        <p:nvPicPr>
          <p:cNvPr id="9" name="Image 0" descr="preencoded.png">    </p:cNvPr>
          <p:cNvPicPr>
            <a:picLocks noChangeAspect="1"/>
          </p:cNvPicPr>
          <p:nvPr/>
        </p:nvPicPr>
        <p:blipFill>
          <a:blip r:embed="rId1"/>
          <a:stretch>
            <a:fillRect/>
          </a:stretch>
        </p:blipFill>
        <p:spPr>
          <a:xfrm>
            <a:off x="1190549" y="2242109"/>
            <a:ext cx="499262" cy="499262"/>
          </a:xfrm>
          <a:prstGeom prst="rect">
            <a:avLst/>
          </a:prstGeom>
        </p:spPr>
      </p:pic>
      <p:sp>
        <p:nvSpPr>
          <p:cNvPr id="10" name="Text 6"/>
          <p:cNvSpPr/>
          <p:nvPr/>
        </p:nvSpPr>
        <p:spPr>
          <a:xfrm>
            <a:off x="2194560" y="1874520"/>
            <a:ext cx="9052560" cy="12801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health startup moved patient data to the cloud to save cost — without checking the provider's compliance, setting data-residency, or reading the SLA. A provider breach exposed the data; penalties followed.</a:t>
            </a:r>
            <a:endParaRPr lang="en-US" sz="1500" dirty="0"/>
          </a:p>
        </p:txBody>
      </p:sp>
      <p:sp>
        <p:nvSpPr>
          <p:cNvPr id="11" name="Shape 7"/>
          <p:cNvSpPr/>
          <p:nvPr/>
        </p:nvSpPr>
        <p:spPr>
          <a:xfrm>
            <a:off x="640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2" name="Text 8"/>
          <p:cNvSpPr/>
          <p:nvPr/>
        </p:nvSpPr>
        <p:spPr>
          <a:xfrm>
            <a:off x="914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What failed?</a:t>
            </a:r>
            <a:endParaRPr lang="en-US" sz="1600" dirty="0"/>
          </a:p>
        </p:txBody>
      </p:sp>
      <p:sp>
        <p:nvSpPr>
          <p:cNvPr id="13" name="Text 9"/>
          <p:cNvSpPr/>
          <p:nvPr/>
        </p:nvSpPr>
        <p:spPr>
          <a:xfrm>
            <a:off x="914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Governance: no compliance assessment (STAR/CAIQ) · no residency/privacy controls · unread SLA · still the data controller.</a:t>
            </a:r>
            <a:endParaRPr lang="en-US" sz="1300" dirty="0"/>
          </a:p>
        </p:txBody>
      </p:sp>
      <p:sp>
        <p:nvSpPr>
          <p:cNvPr id="14" name="Shape 10"/>
          <p:cNvSpPr/>
          <p:nvPr/>
        </p:nvSpPr>
        <p:spPr>
          <a:xfrm>
            <a:off x="6355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5" name="Text 11"/>
          <p:cNvSpPr/>
          <p:nvPr/>
        </p:nvSpPr>
        <p:spPr>
          <a:xfrm>
            <a:off x="6629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How to prevent?</a:t>
            </a:r>
            <a:endParaRPr lang="en-US" sz="1600" dirty="0"/>
          </a:p>
        </p:txBody>
      </p:sp>
      <p:sp>
        <p:nvSpPr>
          <p:cNvPr id="16" name="Text 12"/>
          <p:cNvSpPr/>
          <p:nvPr/>
        </p:nvSpPr>
        <p:spPr>
          <a:xfrm>
            <a:off x="6629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Assess provider vs standards first · set residency &amp; privacy policy · negotiate SLA (breach notice, audit) · manage risk explicitly.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BASELINE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Best practices — governance &amp; compliance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64008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96112" y="2011680"/>
            <a:ext cx="685800" cy="6858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60704" y="2176272"/>
            <a:ext cx="356616" cy="356616"/>
          </a:xfrm>
          <a:prstGeom prst="rect">
            <a:avLst/>
          </a:prstGeom>
        </p:spPr>
      </p:pic>
      <p:sp>
        <p:nvSpPr>
          <p:cNvPr id="10" name="Text 6"/>
          <p:cNvSpPr/>
          <p:nvPr/>
        </p:nvSpPr>
        <p:spPr>
          <a:xfrm>
            <a:off x="178308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Establish governance</a:t>
            </a:r>
            <a:endParaRPr lang="en-US" sz="1450" dirty="0"/>
          </a:p>
        </p:txBody>
      </p:sp>
      <p:sp>
        <p:nvSpPr>
          <p:cNvPr id="11" name="Text 7"/>
          <p:cNvSpPr/>
          <p:nvPr/>
        </p:nvSpPr>
        <p:spPr>
          <a:xfrm>
            <a:off x="178308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Clear policies, named accountability.</a:t>
            </a:r>
            <a:endParaRPr lang="en-US" sz="1200" dirty="0"/>
          </a:p>
        </p:txBody>
      </p:sp>
      <p:sp>
        <p:nvSpPr>
          <p:cNvPr id="12" name="Shape 8"/>
          <p:cNvSpPr/>
          <p:nvPr/>
        </p:nvSpPr>
        <p:spPr>
          <a:xfrm>
            <a:off x="621792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6473952" y="2011680"/>
            <a:ext cx="685800" cy="6858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6638544" y="2176272"/>
            <a:ext cx="356616" cy="356616"/>
          </a:xfrm>
          <a:prstGeom prst="rect">
            <a:avLst/>
          </a:prstGeom>
        </p:spPr>
      </p:pic>
      <p:sp>
        <p:nvSpPr>
          <p:cNvPr id="15" name="Text 10"/>
          <p:cNvSpPr/>
          <p:nvPr/>
        </p:nvSpPr>
        <p:spPr>
          <a:xfrm>
            <a:off x="736092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Map your obligations</a:t>
            </a:r>
            <a:endParaRPr lang="en-US" sz="1450" dirty="0"/>
          </a:p>
        </p:txBody>
      </p:sp>
      <p:sp>
        <p:nvSpPr>
          <p:cNvPr id="16" name="Text 11"/>
          <p:cNvSpPr/>
          <p:nvPr/>
        </p:nvSpPr>
        <p:spPr>
          <a:xfrm>
            <a:off x="736092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Which laws &amp; standards apply.</a:t>
            </a:r>
            <a:endParaRPr lang="en-US" sz="1200" dirty="0"/>
          </a:p>
        </p:txBody>
      </p:sp>
      <p:sp>
        <p:nvSpPr>
          <p:cNvPr id="17" name="Shape 12"/>
          <p:cNvSpPr/>
          <p:nvPr/>
        </p:nvSpPr>
        <p:spPr>
          <a:xfrm>
            <a:off x="64008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896112" y="3410712"/>
            <a:ext cx="685800" cy="6858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1060704" y="3575304"/>
            <a:ext cx="356616" cy="356616"/>
          </a:xfrm>
          <a:prstGeom prst="rect">
            <a:avLst/>
          </a:prstGeom>
        </p:spPr>
      </p:pic>
      <p:sp>
        <p:nvSpPr>
          <p:cNvPr id="20" name="Text 14"/>
          <p:cNvSpPr/>
          <p:nvPr/>
        </p:nvSpPr>
        <p:spPr>
          <a:xfrm>
            <a:off x="178308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Assess providers (STAR)</a:t>
            </a:r>
            <a:endParaRPr lang="en-US" sz="1450" dirty="0"/>
          </a:p>
        </p:txBody>
      </p:sp>
      <p:sp>
        <p:nvSpPr>
          <p:cNvPr id="21" name="Text 15"/>
          <p:cNvSpPr/>
          <p:nvPr/>
        </p:nvSpPr>
        <p:spPr>
          <a:xfrm>
            <a:off x="178308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Evidence before adoption.</a:t>
            </a:r>
            <a:endParaRPr lang="en-US" sz="1200" dirty="0"/>
          </a:p>
        </p:txBody>
      </p:sp>
      <p:sp>
        <p:nvSpPr>
          <p:cNvPr id="22" name="Shape 16"/>
          <p:cNvSpPr/>
          <p:nvPr/>
        </p:nvSpPr>
        <p:spPr>
          <a:xfrm>
            <a:off x="621792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6473952" y="3410712"/>
            <a:ext cx="685800" cy="68580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6638544" y="3575304"/>
            <a:ext cx="356616" cy="356616"/>
          </a:xfrm>
          <a:prstGeom prst="rect">
            <a:avLst/>
          </a:prstGeom>
        </p:spPr>
      </p:pic>
      <p:sp>
        <p:nvSpPr>
          <p:cNvPr id="25" name="Text 18"/>
          <p:cNvSpPr/>
          <p:nvPr/>
        </p:nvSpPr>
        <p:spPr>
          <a:xfrm>
            <a:off x="736092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Run risk continuously</a:t>
            </a:r>
            <a:endParaRPr lang="en-US" sz="1450" dirty="0"/>
          </a:p>
        </p:txBody>
      </p:sp>
      <p:sp>
        <p:nvSpPr>
          <p:cNvPr id="26" name="Text 19"/>
          <p:cNvSpPr/>
          <p:nvPr/>
        </p:nvSpPr>
        <p:spPr>
          <a:xfrm>
            <a:off x="736092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Document treatment decisions.</a:t>
            </a:r>
            <a:endParaRPr lang="en-US" sz="1200" dirty="0"/>
          </a:p>
        </p:txBody>
      </p:sp>
      <p:sp>
        <p:nvSpPr>
          <p:cNvPr id="27" name="Shape 20"/>
          <p:cNvSpPr/>
          <p:nvPr/>
        </p:nvSpPr>
        <p:spPr>
          <a:xfrm>
            <a:off x="64008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896112" y="4809744"/>
            <a:ext cx="685800" cy="685800"/>
          </a:xfrm>
          <a:prstGeom prst="ellipse">
            <a:avLst/>
          </a:prstGeom>
          <a:solidFill>
            <a:srgbClr val="F2931F"/>
          </a:solidFill>
          <a:ln/>
        </p:spPr>
      </p:sp>
      <p:pic>
        <p:nvPicPr>
          <p:cNvPr id="29" name="Image 4" descr="preencoded.png">    </p:cNvPr>
          <p:cNvPicPr>
            <a:picLocks noChangeAspect="1"/>
          </p:cNvPicPr>
          <p:nvPr/>
        </p:nvPicPr>
        <p:blipFill>
          <a:blip r:embed="rId5"/>
          <a:stretch>
            <a:fillRect/>
          </a:stretch>
        </p:blipFill>
        <p:spPr>
          <a:xfrm>
            <a:off x="1060704" y="4974336"/>
            <a:ext cx="356616" cy="356616"/>
          </a:xfrm>
          <a:prstGeom prst="rect">
            <a:avLst/>
          </a:prstGeom>
        </p:spPr>
      </p:pic>
      <p:sp>
        <p:nvSpPr>
          <p:cNvPr id="30" name="Text 22"/>
          <p:cNvSpPr/>
          <p:nvPr/>
        </p:nvSpPr>
        <p:spPr>
          <a:xfrm>
            <a:off x="178308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Control data location &amp; privacy</a:t>
            </a:r>
            <a:endParaRPr lang="en-US" sz="1450" dirty="0"/>
          </a:p>
        </p:txBody>
      </p:sp>
      <p:sp>
        <p:nvSpPr>
          <p:cNvPr id="31" name="Text 23"/>
          <p:cNvSpPr/>
          <p:nvPr/>
        </p:nvSpPr>
        <p:spPr>
          <a:xfrm>
            <a:off x="178308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Meet sovereignty and law.</a:t>
            </a:r>
            <a:endParaRPr lang="en-US" sz="1200" dirty="0"/>
          </a:p>
        </p:txBody>
      </p:sp>
      <p:sp>
        <p:nvSpPr>
          <p:cNvPr id="32" name="Shape 24"/>
          <p:cNvSpPr/>
          <p:nvPr/>
        </p:nvSpPr>
        <p:spPr>
          <a:xfrm>
            <a:off x="621792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33" name="Shape 25"/>
          <p:cNvSpPr/>
          <p:nvPr/>
        </p:nvSpPr>
        <p:spPr>
          <a:xfrm>
            <a:off x="6473952" y="4809744"/>
            <a:ext cx="685800" cy="685800"/>
          </a:xfrm>
          <a:prstGeom prst="ellipse">
            <a:avLst/>
          </a:prstGeom>
          <a:solidFill>
            <a:srgbClr val="293E7B"/>
          </a:solidFill>
          <a:ln/>
        </p:spPr>
      </p:sp>
      <p:pic>
        <p:nvPicPr>
          <p:cNvPr id="34" name="Image 5" descr="preencoded.png">    </p:cNvPr>
          <p:cNvPicPr>
            <a:picLocks noChangeAspect="1"/>
          </p:cNvPicPr>
          <p:nvPr/>
        </p:nvPicPr>
        <p:blipFill>
          <a:blip r:embed="rId6"/>
          <a:stretch>
            <a:fillRect/>
          </a:stretch>
        </p:blipFill>
        <p:spPr>
          <a:xfrm>
            <a:off x="6638544" y="4974336"/>
            <a:ext cx="356616" cy="356616"/>
          </a:xfrm>
          <a:prstGeom prst="rect">
            <a:avLst/>
          </a:prstGeom>
        </p:spPr>
      </p:pic>
      <p:sp>
        <p:nvSpPr>
          <p:cNvPr id="35" name="Text 26"/>
          <p:cNvSpPr/>
          <p:nvPr/>
        </p:nvSpPr>
        <p:spPr>
          <a:xfrm>
            <a:off x="736092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Read &amp; negotiate SLAs</a:t>
            </a:r>
            <a:endParaRPr lang="en-US" sz="1450" dirty="0"/>
          </a:p>
        </p:txBody>
      </p:sp>
      <p:sp>
        <p:nvSpPr>
          <p:cNvPr id="36" name="Text 27"/>
          <p:cNvSpPr/>
          <p:nvPr/>
        </p:nvSpPr>
        <p:spPr>
          <a:xfrm>
            <a:off x="736092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Measurable, enforceable terms.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Key takeaways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640080" y="1783080"/>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956816"/>
            <a:ext cx="548640" cy="5486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00354" y="2088490"/>
            <a:ext cx="285293" cy="285293"/>
          </a:xfrm>
          <a:prstGeom prst="rect">
            <a:avLst/>
          </a:prstGeom>
        </p:spPr>
      </p:pic>
      <p:sp>
        <p:nvSpPr>
          <p:cNvPr id="10" name="Text 6"/>
          <p:cNvSpPr/>
          <p:nvPr/>
        </p:nvSpPr>
        <p:spPr>
          <a:xfrm>
            <a:off x="1600200" y="1856232"/>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1   </a:t>
            </a:r>
            <a:pPr indent="0" marL="0">
              <a:buNone/>
            </a:pPr>
            <a:r>
              <a:rPr lang="en-US" sz="1350" dirty="0">
                <a:solidFill>
                  <a:srgbClr val="23283A"/>
                </a:solidFill>
                <a:latin typeface="Calibri" pitchFamily="34" charset="0"/>
                <a:ea typeface="Calibri" pitchFamily="34" charset="-122"/>
                <a:cs typeface="Calibri" pitchFamily="34" charset="-120"/>
              </a:rPr>
              <a:t>Governance and policy turn scattered controls into an accountable program — what auditors inspect.</a:t>
            </a:r>
            <a:endParaRPr lang="en-US" sz="1350" dirty="0"/>
          </a:p>
        </p:txBody>
      </p:sp>
      <p:sp>
        <p:nvSpPr>
          <p:cNvPr id="11" name="Shape 7"/>
          <p:cNvSpPr/>
          <p:nvPr/>
        </p:nvSpPr>
        <p:spPr>
          <a:xfrm>
            <a:off x="640080" y="2807208"/>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980944"/>
            <a:ext cx="548640" cy="548640"/>
          </a:xfrm>
          <a:prstGeom prst="ellipse">
            <a:avLst/>
          </a:prstGeom>
          <a:solidFill>
            <a:srgbClr val="293E7B"/>
          </a:solidFill>
          <a:ln/>
        </p:spPr>
      </p:sp>
      <p:pic>
        <p:nvPicPr>
          <p:cNvPr id="13" name="Image 1" descr="preencoded.png">    </p:cNvPr>
          <p:cNvPicPr>
            <a:picLocks noChangeAspect="1"/>
          </p:cNvPicPr>
          <p:nvPr/>
        </p:nvPicPr>
        <p:blipFill>
          <a:blip r:embed="rId2"/>
          <a:stretch>
            <a:fillRect/>
          </a:stretch>
        </p:blipFill>
        <p:spPr>
          <a:xfrm>
            <a:off x="1000354" y="3112618"/>
            <a:ext cx="285293" cy="285293"/>
          </a:xfrm>
          <a:prstGeom prst="rect">
            <a:avLst/>
          </a:prstGeom>
        </p:spPr>
      </p:pic>
      <p:sp>
        <p:nvSpPr>
          <p:cNvPr id="14" name="Text 9"/>
          <p:cNvSpPr/>
          <p:nvPr/>
        </p:nvSpPr>
        <p:spPr>
          <a:xfrm>
            <a:off x="1600200" y="2880360"/>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2   </a:t>
            </a:r>
            <a:pPr indent="0" marL="0">
              <a:buNone/>
            </a:pPr>
            <a:r>
              <a:rPr lang="en-US" sz="1350" dirty="0">
                <a:solidFill>
                  <a:srgbClr val="23283A"/>
                </a:solidFill>
                <a:latin typeface="Calibri" pitchFamily="34" charset="0"/>
                <a:ea typeface="Calibri" pitchFamily="34" charset="-122"/>
                <a:cs typeface="Calibri" pitchFamily="34" charset="-120"/>
              </a:rPr>
              <a:t>Compliance = demonstrably meeting standards &amp; laws; CSA STAR assesses providers with evidence.</a:t>
            </a:r>
            <a:endParaRPr lang="en-US" sz="1350" dirty="0"/>
          </a:p>
        </p:txBody>
      </p:sp>
      <p:sp>
        <p:nvSpPr>
          <p:cNvPr id="15" name="Shape 10"/>
          <p:cNvSpPr/>
          <p:nvPr/>
        </p:nvSpPr>
        <p:spPr>
          <a:xfrm>
            <a:off x="640080" y="3831336"/>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4005072"/>
            <a:ext cx="548640" cy="54864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1000354" y="4136746"/>
            <a:ext cx="285293" cy="285293"/>
          </a:xfrm>
          <a:prstGeom prst="rect">
            <a:avLst/>
          </a:prstGeom>
        </p:spPr>
      </p:pic>
      <p:sp>
        <p:nvSpPr>
          <p:cNvPr id="18" name="Text 12"/>
          <p:cNvSpPr/>
          <p:nvPr/>
        </p:nvSpPr>
        <p:spPr>
          <a:xfrm>
            <a:off x="1600200" y="3904488"/>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3   </a:t>
            </a:r>
            <a:pPr indent="0" marL="0">
              <a:buNone/>
            </a:pPr>
            <a:r>
              <a:rPr lang="en-US" sz="1350" dirty="0">
                <a:solidFill>
                  <a:srgbClr val="23283A"/>
                </a:solidFill>
                <a:latin typeface="Calibri" pitchFamily="34" charset="0"/>
                <a:ea typeface="Calibri" pitchFamily="34" charset="-122"/>
                <a:cs typeface="Calibri" pitchFamily="34" charset="-120"/>
              </a:rPr>
              <a:t>Risk management is continuous — identify, assess, treat (mitigate/transfer/avoid/accept), monitor.</a:t>
            </a:r>
            <a:endParaRPr lang="en-US" sz="1350" dirty="0"/>
          </a:p>
        </p:txBody>
      </p:sp>
      <p:sp>
        <p:nvSpPr>
          <p:cNvPr id="19" name="Shape 13"/>
          <p:cNvSpPr/>
          <p:nvPr/>
        </p:nvSpPr>
        <p:spPr>
          <a:xfrm>
            <a:off x="640080" y="4855464"/>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5029200"/>
            <a:ext cx="548640" cy="548640"/>
          </a:xfrm>
          <a:prstGeom prst="ellipse">
            <a:avLst/>
          </a:prstGeom>
          <a:solidFill>
            <a:srgbClr val="FABA32"/>
          </a:solidFill>
          <a:ln/>
        </p:spPr>
      </p:sp>
      <p:pic>
        <p:nvPicPr>
          <p:cNvPr id="21" name="Image 3" descr="preencoded.png">    </p:cNvPr>
          <p:cNvPicPr>
            <a:picLocks noChangeAspect="1"/>
          </p:cNvPicPr>
          <p:nvPr/>
        </p:nvPicPr>
        <p:blipFill>
          <a:blip r:embed="rId4"/>
          <a:stretch>
            <a:fillRect/>
          </a:stretch>
        </p:blipFill>
        <p:spPr>
          <a:xfrm>
            <a:off x="1000354" y="5160874"/>
            <a:ext cx="285293" cy="285293"/>
          </a:xfrm>
          <a:prstGeom prst="rect">
            <a:avLst/>
          </a:prstGeom>
        </p:spPr>
      </p:pic>
      <p:sp>
        <p:nvSpPr>
          <p:cNvPr id="22" name="Text 15"/>
          <p:cNvSpPr/>
          <p:nvPr/>
        </p:nvSpPr>
        <p:spPr>
          <a:xfrm>
            <a:off x="1600200" y="4928616"/>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4   </a:t>
            </a:r>
            <a:pPr indent="0" marL="0">
              <a:buNone/>
            </a:pPr>
            <a:r>
              <a:rPr lang="en-US" sz="1350" dirty="0">
                <a:solidFill>
                  <a:srgbClr val="23283A"/>
                </a:solidFill>
                <a:latin typeface="Calibri" pitchFamily="34" charset="0"/>
                <a:ea typeface="Calibri" pitchFamily="34" charset="-122"/>
                <a:cs typeface="Calibri" pitchFamily="34" charset="-120"/>
              </a:rPr>
              <a:t>The cloud raises legal, sovereignty &amp; privacy duties — the SLA makes provider responsibilities enforceable.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9509760" y="4206240"/>
            <a:ext cx="4206240" cy="4206240"/>
          </a:xfrm>
          <a:prstGeom prst="ellipse">
            <a:avLst/>
          </a:prstGeom>
          <a:solidFill>
            <a:srgbClr val="293E7B">
              <a:alpha val="45000"/>
            </a:srgbClr>
          </a:solidFill>
          <a:ln/>
        </p:spPr>
      </p:sp>
      <p:sp>
        <p:nvSpPr>
          <p:cNvPr id="3" name="Shape 1"/>
          <p:cNvSpPr/>
          <p:nvPr/>
        </p:nvSpPr>
        <p:spPr>
          <a:xfrm>
            <a:off x="640080" y="1280160"/>
            <a:ext cx="1188720" cy="1188720"/>
          </a:xfrm>
          <a:prstGeom prst="ellipse">
            <a:avLst/>
          </a:prstGeom>
          <a:solidFill>
            <a:srgbClr val="FABA32"/>
          </a:solidFill>
          <a:ln/>
        </p:spPr>
      </p:sp>
      <p:pic>
        <p:nvPicPr>
          <p:cNvPr id="4" name="Image 0" descr="preencoded.png">    </p:cNvPr>
          <p:cNvPicPr>
            <a:picLocks noChangeAspect="1"/>
          </p:cNvPicPr>
          <p:nvPr/>
        </p:nvPicPr>
        <p:blipFill>
          <a:blip r:embed="rId1"/>
          <a:stretch>
            <a:fillRect/>
          </a:stretch>
        </p:blipFill>
        <p:spPr>
          <a:xfrm>
            <a:off x="925373" y="1565453"/>
            <a:ext cx="618134" cy="618134"/>
          </a:xfrm>
          <a:prstGeom prst="rect">
            <a:avLst/>
          </a:prstGeom>
        </p:spPr>
      </p:pic>
      <p:sp>
        <p:nvSpPr>
          <p:cNvPr id="5" name="Text 2"/>
          <p:cNvSpPr/>
          <p:nvPr/>
        </p:nvSpPr>
        <p:spPr>
          <a:xfrm>
            <a:off x="640080" y="265176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Discussion &amp; Q&amp;A</a:t>
            </a:r>
            <a:endParaRPr lang="en-US" sz="3600" dirty="0"/>
          </a:p>
        </p:txBody>
      </p:sp>
      <p:sp>
        <p:nvSpPr>
          <p:cNvPr id="6" name="Text 3"/>
          <p:cNvSpPr/>
          <p:nvPr/>
        </p:nvSpPr>
        <p:spPr>
          <a:xfrm>
            <a:off x="640080" y="3611880"/>
            <a:ext cx="10058400" cy="1463040"/>
          </a:xfrm>
          <a:prstGeom prst="rect">
            <a:avLst/>
          </a:prstGeom>
          <a:noFill/>
          <a:ln/>
        </p:spPr>
        <p:txBody>
          <a:bodyPr wrap="square" lIns="0" tIns="0" rIns="0" bIns="0" rtlCol="0" anchor="t"/>
          <a:lstStyle/>
          <a:p>
            <a:pPr marL="342900" indent="-342900">
              <a:lnSpc>
                <a:spcPct val="130000"/>
              </a:lnSpc>
              <a:buSzPct val="100000"/>
              <a:buChar char="•"/>
            </a:pPr>
            <a:r>
              <a:rPr lang="en-US" sz="1650" dirty="0">
                <a:solidFill>
                  <a:srgbClr val="B6E0F2"/>
                </a:solidFill>
                <a:latin typeface="Calibri" pitchFamily="34" charset="0"/>
                <a:ea typeface="Calibri" pitchFamily="34" charset="-122"/>
                <a:cs typeface="Calibri" pitchFamily="34" charset="-120"/>
              </a:rPr>
              <a:t>If your provider is certified compliant, are you compliant? Why or why not?</a:t>
            </a:r>
            <a:endParaRPr lang="en-US" sz="1650" dirty="0"/>
          </a:p>
          <a:p>
            <a:pPr indent="0" marL="0">
              <a:lnSpc>
                <a:spcPct val="130000"/>
              </a:lnSpc>
              <a:buNone/>
            </a:pPr>
            <a:r>
              <a:rPr lang="en-US" sz="1650" dirty="0">
                <a:solidFill>
                  <a:srgbClr val="B6E0F2"/>
                </a:solidFill>
                <a:latin typeface="Calibri" pitchFamily="34" charset="0"/>
                <a:ea typeface="Calibri" pitchFamily="34" charset="-122"/>
                <a:cs typeface="Calibri" pitchFamily="34" charset="-120"/>
              </a:rPr>
              <a:t>Which risk-treatment option is most often misused as an excuse for inaction — and how would you guard against it?</a:t>
            </a:r>
            <a:endParaRPr lang="en-US" sz="1650" dirty="0"/>
          </a:p>
        </p:txBody>
      </p:sp>
      <p:sp>
        <p:nvSpPr>
          <p:cNvPr id="7" name="Text 4"/>
          <p:cNvSpPr/>
          <p:nvPr/>
        </p:nvSpPr>
        <p:spPr>
          <a:xfrm>
            <a:off x="640080" y="5760720"/>
            <a:ext cx="10789920" cy="457200"/>
          </a:xfrm>
          <a:prstGeom prst="rect">
            <a:avLst/>
          </a:prstGeom>
          <a:noFill/>
          <a:ln/>
        </p:spPr>
        <p:txBody>
          <a:bodyPr wrap="square" lIns="0" tIns="0" rIns="0" bIns="0" rtlCol="0" anchor="ctr"/>
          <a:lstStyle/>
          <a:p>
            <a:pPr indent="0" marL="0">
              <a:buNone/>
            </a:pPr>
            <a:r>
              <a:rPr lang="en-US" sz="1300" i="1" dirty="0">
                <a:solidFill>
                  <a:srgbClr val="FABA32"/>
                </a:solidFill>
                <a:latin typeface="Calibri" pitchFamily="34" charset="0"/>
                <a:ea typeface="Calibri" pitchFamily="34" charset="-122"/>
                <a:cs typeface="Calibri" pitchFamily="34" charset="-120"/>
              </a:rPr>
              <a:t>Next week — Lesson 11:  Cloud Compliance Assessment &amp; Reporting (PCI DSS · protecting health information · SLAs)</a:t>
            </a:r>
            <a:endParaRPr lang="en-US" sz="1300" dirty="0"/>
          </a:p>
        </p:txBody>
      </p:sp>
      <p:pic>
        <p:nvPicPr>
          <p:cNvPr id="8" name="Image 1" descr="/sessions/inspiring-busy-dijkstra/mnt/outputs/build/assets/logo_white_trim.png">    </p:cNvPr>
          <p:cNvPicPr>
            <a:picLocks noChangeAspect="1"/>
          </p:cNvPicPr>
          <p:nvPr/>
        </p:nvPicPr>
        <p:blipFill>
          <a:blip r:embed="rId2"/>
          <a:stretch>
            <a:fillRect/>
          </a:stretch>
        </p:blipFill>
        <p:spPr>
          <a:xfrm>
            <a:off x="10195560" y="502920"/>
            <a:ext cx="1417320" cy="643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 — Policy, Compliance &amp; Risk Management in Cloud Computing</dc:title>
  <dc:subject>PptxGenJS Presentation</dc:subject>
  <dc:creator>Prof. Dr. Shahrulniza Musa</dc:creator>
  <cp:lastModifiedBy>Prof. Dr. Shahrulniza Musa</cp:lastModifiedBy>
  <cp:revision>1</cp:revision>
  <dcterms:created xsi:type="dcterms:W3CDTF">2026-07-09T09:48:48Z</dcterms:created>
  <dcterms:modified xsi:type="dcterms:W3CDTF">2026-07-09T09:48:48Z</dcterms:modified>
</cp:coreProperties>
</file>