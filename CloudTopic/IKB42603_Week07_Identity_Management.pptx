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Lesson 7. Last week's access control decided what identities may do; today we look at the identities themselves — how they are created, proven, connected across systems, and retired. In the cloud, identity is the perimeter, so managing it well is foundational. Walk the six outcomes. This maps to CLO2. Note it deepens the IAM material from Lessons 2 and 5 and sets up the federated-authentication design patterns in Lesson 9. Give the framing: identity management answers 'who is in our systems, and how do we keep that trustworthy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Constructive-alignment slide for the external examiner and MQF accreditation. Lesson 7 maps to CLO2 — secure cloud operations safeguarding data integrity — aligned to PLO2, MQF Level iii(a), Bloom P3, with the VBE3 integrity value and SC8 problem-solving skill, assessed through the Lab Assignment. Identity management is a core operational control behind CLO2.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Establish what identity management is and its lifecycle. An identity is a digital representation of a user, service or device; managing it well over its whole life is what keeps authentication and access control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it: identity and access management, IAM, is the discipline of creating, maintaining and retiring digital identities and governing what they can access. An identity is a digital representation of a user, service or device — increasingly, machine identities outnumber human ones in the cloud. Stress the lifecycle framing on the slide: an identity is provisioned (created), managed (updated as roles change, credentials rotated), and eventually deprovisioned (removed when no longer needed). The security stakes: stale or orphaned identities are a top attack vector — the departed employee's account that was never disabled. Good identity management is therefore both a security control and an operational discipline, and it is the foundation the authentication and authorization from Lesson 5 stand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lifecycle as a flow. Provisioning creates the identity and grants initial access when someone joins or a service is deployed — ideally least-privilege from day one. Authentication proves the identity at each use (Lesson 5). Authorization governs what it may do. Management maintains it — updating roles as jobs change, rotating credentials, enforcing policy. Deprovisioning removes access promptly when the person leaves or the service is retired — the step most often neglected, leaving orphaned accounts. The teaching point: security depends on the WHOLE loop, not just the login. The most common identity failures are at the ends — over-privileged provisioning and forgotten deprovisioning. Automating this lifecycle, which we cover next, is how organisations keep it correct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bookends of the identity lifecycle, and where most identity risk lives. We cover how to create identities with the right access and — crucially — how to remove them cleanly, and how automation makes both reliable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Provisioning is granting a new identity its accounts and access — the goal is least privilege from the start, giving only what the role needs, so you never have to claw back excess later. Deprovisioning is removing access when it is no longer needed — an employee leaves, a contractor's project ends, a service is decommissioned. Deprovisioning is the step organisations most often get wrong, and the cost is orphaned accounts: still-valid credentials with no owner, invisible and perfect for an attacker. Emphasise timeliness — access should be revoked the moment it is no longer needed, ideally automatically on an HR trigger. The pairing to remember: provision least-privilege, deprovision promptly and completely. Manual processes fail here at scale, which motivates automation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identity management cannot keep up with cloud scale, so we automate it. Automated provisioning connects identity to authoritative sources — the HR system, a directory — so that joining, moving or leaving automatically creates, updates or removes access; the SCIM standard is the common protocol for syncing identities between systems. Just-in-time provisioning grants access only at the moment it is needed and for a limited time, rather than standing access that sits idle waiting to be abused — this shrinks the attack surface dramatically and enforces least privilege in time as well as scope. Add the governance layer: periodic access reviews (recertification) confirm that existing access is still warranted. The message: automation makes the lifecycle correct, timely and auditable — humans forget to deprovision; a well-designed system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valuable identity technologies: letting a user authenticate once and reach many services. It improves both security and usability — fewer passwords, one strong authentication to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 sign-on lets a user authenticate once and then access many applications without logging in again. Explain the security case, which students sometimes doubt: fewer separate passwords means fewer weak and reused passwords, and one central authentication point is where you concentrate strong controls like MFA — you protect one strong door instead of twenty weak ones. The usability case is obvious — less friction, fewer password resets. The trade-off to acknowledge: that central point is also a high-value target, so it must be very well protected; if SSO is compromised, many services are exposed at once, which is exactly why MFA and monitoring on the identity provider are essential. Preview the mechanics next: SSO works by issuing a trusted token after the single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on the slide so the mechanism is concrete. Step one: the user tries to reach an application (the service provider) and is redirected to the central identity provider. Step two: the identity provider authenticates the user — password plus MFA — once. Step three: it issues a signed security token asserting the user's identity. Step four: the application trusts that token (because it trusts the identity provider's signature) and grants access — no second login. For further apps, the existing session means the token is reissued silently. The key concepts: the identity provider is the single authenticator, the token is the portable proof, and trust in the token's signature is what makes it work. This same token-and-trust mechanism, extended across organisational boundaries, is federation — the next part. Note the token is time-limited and signed, connecting to PKI from Lesson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Federation extends single sign-on across organisational boundaries — letting users from one trust domain access resources in another. It is how you log into a third-party service with your work or Google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Federation is an arrangement in which one organisation trusts another's authentication, so users authenticated in their home domain can access resources in a partner domain without a separate account. Two roles: the identity provider (IdP) authenticates users and vouches for them; the service provider (SP), or relying party, hosts the resource and trusts the IdP's assertion. Give the everyday example on the slide — logging into a third-party app 'with Google' or with your corporate account: Google is the IdP, the app is the SP. The benefit is huge in the cloud, where organisations use dozens of external SaaS services — federation means one home identity, centrally managed and deprovisioned, works everywhere, instead of dozens of separate accounts. The foundation is trust, established through exchanged cryptographic keys/certificates (PKI again). Protocols make this interoperable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protocols make federation interoperable, and students should know what each is for. SAML — Security Assertion Markup Language — is the established enterprise standard for SSO, exchanging XML assertions between IdP and SP; it is what most corporate and university SSO uses. OAuth 2.0 is an authorization framework — it lets a user grant an application limited access to their resources on another service without sharing their password (the 'allow this app to access your calendar' flow); note it is about delegated authorization, not authentication. OpenID Connect (OIDC) is an authentication layer built on top of OAuth 2.0 — it adds identity, issuing an ID token, and is the modern choice for web and mobile sign-in. The distinction to land: SAML and OIDC authenticate (prove who you are); OAuth 2.0 authorizes (grants scoped access). Modern cloud identity typically uses OIDC for login and OAuth for delegated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finish with the highest-risk identities — privileged accounts — the threats identity systems face, and a case study applying the whole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all identities are equal — privileged accounts (administrators, root, service accounts with broad rights) are the crown jewels, because compromising one hands over the environment. Privileged access management applies extra controls to them: vault and rotate their credentials, grant privilege just-in-time rather than standing, require MFA and approval, and record their sessions for audit. On the right, the threats identity systems face: phishing and credential theft (defeated by MFA), account takeover, privilege escalation (an attacker turning a normal account into an admin one — why least privilege matters), and orphaned or stale accounts (the forgotten deprovisioning from Part 2). The message: manage all identities well, but wrap your strongest controls around the privileged few — and monitor them closely, tying to Lesson 6. This directly enforces least privilege and separation of duties from Lesson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think-pair-share. Scenario: an employee left the company months ago, but their cloud account was never disabled. It still had broad access. An attacker obtained the old credentials (reused on a breached site) and, with no MFA and no one watching a 'former employee' account, quietly used it to access company data. Ask the two questions. What failed? Deprovisioning was never done (orphaned account), the account had over-broad privilege, there was no MFA, and no monitoring flagged the dormant account waking up. How to prevent? Automate deprovisioning on HR triggers so leaving disables access immediately; apply least privilege; enforce MFA (which blocks reused credentials); and monitor for anomalous use of dormant accounts. The teaching point: this breach needed no clever hack — just a lifecycle gap. Identity management is security. Connect to shared responsibility — disabling the account was the customer's job. Let pairs report before consolidating.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Distil the lesson. Automate the identity lifecycle so provisioning and, critically, deprovisioning happen reliably. Enforce MFA and SSO to concentrate and strengthen authentication. Apply least privilege and just-in-time access so identities hold minimal, time-boxed rights. Protect privileged accounts with PAM. Federate with trusted partners using standard protocols rather than creating separate accounts everywhere. And review access regularly to catch drift and orphaned accounts. Tell students these map to CLO2. Preview: Lessons 8 and 9 assemble the controls from Lessons 3–7 into reusable security design patterns, starting with trusted platforms and VM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Consolidate. One: identity management governs the whole identity lifecycle — the biggest risks are over-privileged provisioning and forgotten deprovisioning. Two: SSO gives one strong login across many services — protect that one door well. Three: federation extends trust across organisations via SAML, OAuth 2.0 and OIDC — SAML/OIDC authenticate, OAuth authorizes. Four: privileged accounts need the strongest controls (PAM), and automation keeps the whole system correct at scale. Ask students to name the lifecycle stages and which protocol authenticates vs authorizes. Preview Lesson 8: cloud security design patterns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prompts. The first is a genuine trade-off: SSO concentrates risk on one point but lets you defend that point strongly and reduces password sprawl — a strong answer weighs both. The second surfaces the human/process gap and points to automation on HR triggers. Preview Lesson 8. Remind students this lesson maps to CLO2 and connects to the federated-authentication patterns in Lesson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149"/>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93E7B">
              <a:alpha val="45000"/>
            </a:srgbClr>
          </a:solidFill>
          <a:ln/>
        </p:spPr>
      </p:sp>
      <p:sp>
        <p:nvSpPr>
          <p:cNvPr id="3" name="Shape 1"/>
          <p:cNvSpPr/>
          <p:nvPr/>
        </p:nvSpPr>
        <p:spPr>
          <a:xfrm>
            <a:off x="10881360" y="4297680"/>
            <a:ext cx="3108960" cy="3108960"/>
          </a:xfrm>
          <a:prstGeom prst="ellipse">
            <a:avLst/>
          </a:prstGeom>
          <a:solidFill>
            <a:srgbClr val="FABA32">
              <a:alpha val="22000"/>
            </a:srgbClr>
          </a:solidFill>
          <a:ln/>
        </p:spPr>
      </p:sp>
      <p:pic>
        <p:nvPicPr>
          <p:cNvPr id="4" name="Image 0" descr="preencoded.png">    </p:cNvPr>
          <p:cNvPicPr>
            <a:picLocks noChangeAspect="1"/>
          </p:cNvPicPr>
          <p:nvPr/>
        </p:nvPicPr>
        <p:blipFill>
          <a:blip r:embed="rId1"/>
          <a:stretch>
            <a:fillRect/>
          </a:stretch>
        </p:blipFill>
        <p:spPr>
          <a:xfrm>
            <a:off x="7818120" y="502920"/>
            <a:ext cx="4114800" cy="3820886"/>
          </a:xfrm>
          <a:prstGeom prst="rect">
            <a:avLst/>
          </a:prstGeom>
        </p:spPr>
      </p:pic>
      <p:pic>
        <p:nvPicPr>
          <p:cNvPr id="5" name="Image 1" descr="/sessions/inspiring-busy-dijkstra/mnt/outputs/build/assets/logo_white_trim.png">    </p:cNvPr>
          <p:cNvPicPr>
            <a:picLocks noChangeAspect="1"/>
          </p:cNvPicPr>
          <p:nvPr/>
        </p:nvPicPr>
        <p:blipFill>
          <a:blip r:embed="rId2"/>
          <a:stretch>
            <a:fillRect/>
          </a:stretch>
        </p:blipFill>
        <p:spPr>
          <a:xfrm>
            <a:off x="640080" y="502920"/>
            <a:ext cx="2331720" cy="1059423"/>
          </a:xfrm>
          <a:prstGeom prst="rect">
            <a:avLst/>
          </a:prstGeom>
        </p:spPr>
      </p:pic>
      <p:sp>
        <p:nvSpPr>
          <p:cNvPr id="6" name="Shape 2"/>
          <p:cNvSpPr/>
          <p:nvPr/>
        </p:nvSpPr>
        <p:spPr>
          <a:xfrm>
            <a:off x="640080" y="2788920"/>
            <a:ext cx="3063240" cy="457200"/>
          </a:xfrm>
          <a:prstGeom prst="roundRect">
            <a:avLst>
              <a:gd name="adj" fmla="val 16000"/>
            </a:avLst>
          </a:prstGeom>
          <a:solidFill>
            <a:srgbClr val="FABA32"/>
          </a:solidFill>
          <a:ln/>
        </p:spPr>
      </p:sp>
      <p:sp>
        <p:nvSpPr>
          <p:cNvPr id="7" name="Text 3"/>
          <p:cNvSpPr/>
          <p:nvPr/>
        </p:nvSpPr>
        <p:spPr>
          <a:xfrm>
            <a:off x="640080" y="2788920"/>
            <a:ext cx="3063240" cy="457200"/>
          </a:xfrm>
          <a:prstGeom prst="rect">
            <a:avLst/>
          </a:prstGeom>
          <a:noFill/>
          <a:ln/>
        </p:spPr>
        <p:txBody>
          <a:bodyPr wrap="square" lIns="0" tIns="0" rIns="0" bIns="0" rtlCol="0" anchor="ctr"/>
          <a:lstStyle/>
          <a:p>
            <a:pPr algn="ctr" indent="0" marL="0">
              <a:buNone/>
            </a:pPr>
            <a:r>
              <a:rPr lang="en-US" sz="1200" b="1" dirty="0">
                <a:solidFill>
                  <a:srgbClr val="262F65"/>
                </a:solidFill>
                <a:latin typeface="Calibri" pitchFamily="34" charset="0"/>
                <a:ea typeface="Calibri" pitchFamily="34" charset="-122"/>
                <a:cs typeface="Calibri" pitchFamily="34" charset="-120"/>
              </a:rPr>
              <a:t>IKB42603  •  Cloud Security</a:t>
            </a:r>
            <a:endParaRPr lang="en-US" sz="1200" dirty="0"/>
          </a:p>
        </p:txBody>
      </p:sp>
      <p:sp>
        <p:nvSpPr>
          <p:cNvPr id="8" name="Text 4"/>
          <p:cNvSpPr/>
          <p:nvPr/>
        </p:nvSpPr>
        <p:spPr>
          <a:xfrm>
            <a:off x="640080" y="3566160"/>
            <a:ext cx="10058400" cy="36576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WEEK 7 · LESSON 7</a:t>
            </a:r>
            <a:endParaRPr lang="en-US" sz="1500" dirty="0"/>
          </a:p>
        </p:txBody>
      </p:sp>
      <p:sp>
        <p:nvSpPr>
          <p:cNvPr id="9" name="Text 5"/>
          <p:cNvSpPr/>
          <p:nvPr/>
        </p:nvSpPr>
        <p:spPr>
          <a:xfrm>
            <a:off x="640080" y="3931920"/>
            <a:ext cx="7040880" cy="1691640"/>
          </a:xfrm>
          <a:prstGeom prst="rect">
            <a:avLst/>
          </a:prstGeom>
          <a:noFill/>
          <a:ln/>
        </p:spPr>
        <p:txBody>
          <a:bodyPr wrap="square" lIns="0" tIns="0" rIns="0" bIns="0" rtlCol="0" anchor="t"/>
          <a:lstStyle/>
          <a:p>
            <a:pPr indent="0" marL="0">
              <a:lnSpc>
                <a:spcPct val="102000"/>
              </a:lnSpc>
              <a:buNone/>
            </a:pPr>
            <a:r>
              <a:rPr lang="en-US" sz="3700" b="1" dirty="0">
                <a:solidFill>
                  <a:srgbClr val="FFFFFF"/>
                </a:solidFill>
                <a:latin typeface="Cambria" pitchFamily="34" charset="0"/>
                <a:ea typeface="Cambria" pitchFamily="34" charset="-122"/>
                <a:cs typeface="Cambria" pitchFamily="34" charset="-120"/>
              </a:rPr>
              <a:t>Introduction to Identity Management in Cloud Computing</a:t>
            </a:r>
            <a:endParaRPr lang="en-US" sz="3700" dirty="0"/>
          </a:p>
        </p:txBody>
      </p:sp>
      <p:sp>
        <p:nvSpPr>
          <p:cNvPr id="10" name="Text 6"/>
          <p:cNvSpPr/>
          <p:nvPr/>
        </p:nvSpPr>
        <p:spPr>
          <a:xfrm>
            <a:off x="640080" y="5623560"/>
            <a:ext cx="10424160" cy="640080"/>
          </a:xfrm>
          <a:prstGeom prst="rect">
            <a:avLst/>
          </a:prstGeom>
          <a:noFill/>
          <a:ln/>
        </p:spPr>
        <p:txBody>
          <a:bodyPr wrap="square" lIns="0" tIns="0" rIns="0" bIns="0" rtlCol="0" anchor="ctr"/>
          <a:lstStyle/>
          <a:p>
            <a:pPr indent="0" marL="0">
              <a:buNone/>
            </a:pPr>
            <a:r>
              <a:rPr lang="en-US" sz="1550" i="1" dirty="0">
                <a:solidFill>
                  <a:srgbClr val="B6E0F2"/>
                </a:solidFill>
                <a:latin typeface="Calibri" pitchFamily="34" charset="0"/>
                <a:ea typeface="Calibri" pitchFamily="34" charset="-122"/>
                <a:cs typeface="Calibri" pitchFamily="34" charset="-120"/>
              </a:rPr>
              <a:t>Identity lifecycle · Provisioning · Single sign-on · Federation</a:t>
            </a:r>
            <a:endParaRPr lang="en-US" sz="1550" dirty="0"/>
          </a:p>
        </p:txBody>
      </p:sp>
      <p:sp>
        <p:nvSpPr>
          <p:cNvPr id="11" name="Text 7"/>
          <p:cNvSpPr/>
          <p:nvPr/>
        </p:nvSpPr>
        <p:spPr>
          <a:xfrm>
            <a:off x="640080" y="6355080"/>
            <a:ext cx="10972800" cy="320040"/>
          </a:xfrm>
          <a:prstGeom prst="rect">
            <a:avLst/>
          </a:prstGeom>
          <a:noFill/>
          <a:ln/>
        </p:spPr>
        <p:txBody>
          <a:bodyPr wrap="square" lIns="0" tIns="0" rIns="0" bIns="0" rtlCol="0" anchor="ctr"/>
          <a:lstStyle/>
          <a:p>
            <a:pPr indent="0" marL="0">
              <a:buNone/>
            </a:pPr>
            <a:r>
              <a:rPr lang="en-US" sz="1100" dirty="0">
                <a:solidFill>
                  <a:srgbClr val="9AA6C9"/>
                </a:solidFill>
                <a:latin typeface="Calibri" pitchFamily="34" charset="0"/>
                <a:ea typeface="Calibri" pitchFamily="34" charset="-122"/>
                <a:cs typeface="Calibri" pitchFamily="34" charset="-120"/>
              </a:rPr>
              <a:t>Universiti Kuala Lumpur  ·  UniKL MIIT   |   Prof. Dr. Shahrulniza Musa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LEARNING OUTCOMES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What you will be able to do</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a:t>
            </a:r>
            <a:endParaRPr lang="en-US" sz="900" dirty="0"/>
          </a:p>
        </p:txBody>
      </p:sp>
      <p:sp>
        <p:nvSpPr>
          <p:cNvPr id="7" name="Shape 4"/>
          <p:cNvSpPr/>
          <p:nvPr/>
        </p:nvSpPr>
        <p:spPr>
          <a:xfrm>
            <a:off x="640080" y="1783080"/>
            <a:ext cx="868680" cy="868680"/>
          </a:xfrm>
          <a:prstGeom prst="ellipse">
            <a:avLst/>
          </a:prstGeom>
          <a:solidFill>
            <a:srgbClr val="FABA32"/>
          </a:solidFill>
          <a:ln/>
        </p:spPr>
      </p:sp>
      <p:pic>
        <p:nvPicPr>
          <p:cNvPr id="8" name="Image 0" descr="preencoded.png">    </p:cNvPr>
          <p:cNvPicPr>
            <a:picLocks noChangeAspect="1"/>
          </p:cNvPicPr>
          <p:nvPr/>
        </p:nvPicPr>
        <p:blipFill>
          <a:blip r:embed="rId1"/>
          <a:stretch>
            <a:fillRect/>
          </a:stretch>
        </p:blipFill>
        <p:spPr>
          <a:xfrm>
            <a:off x="848563" y="1991563"/>
            <a:ext cx="451714" cy="451714"/>
          </a:xfrm>
          <a:prstGeom prst="rect">
            <a:avLst/>
          </a:prstGeom>
        </p:spPr>
      </p:pic>
      <p:sp>
        <p:nvSpPr>
          <p:cNvPr id="9" name="Shape 5"/>
          <p:cNvSpPr/>
          <p:nvPr/>
        </p:nvSpPr>
        <p:spPr>
          <a:xfrm>
            <a:off x="1737360" y="1645920"/>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0" name="Text 6"/>
          <p:cNvSpPr/>
          <p:nvPr/>
        </p:nvSpPr>
        <p:spPr>
          <a:xfrm>
            <a:off x="1965960" y="1810512"/>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1.  </a:t>
            </a:r>
            <a:pPr indent="0" marL="0">
              <a:buNone/>
            </a:pPr>
            <a:r>
              <a:rPr lang="en-US" sz="1450" b="1" dirty="0">
                <a:solidFill>
                  <a:srgbClr val="262F65"/>
                </a:solidFill>
                <a:latin typeface="Calibri" pitchFamily="34" charset="0"/>
                <a:ea typeface="Calibri" pitchFamily="34" charset="-122"/>
                <a:cs typeface="Calibri" pitchFamily="34" charset="-120"/>
              </a:rPr>
              <a:t>Explain identity management</a:t>
            </a:r>
            <a:endParaRPr lang="en-US" sz="1450" dirty="0"/>
          </a:p>
        </p:txBody>
      </p:sp>
      <p:sp>
        <p:nvSpPr>
          <p:cNvPr id="11" name="Text 7"/>
          <p:cNvSpPr/>
          <p:nvPr/>
        </p:nvSpPr>
        <p:spPr>
          <a:xfrm>
            <a:off x="1965960" y="2304288"/>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The identity lifecycle and its building blocks.</a:t>
            </a:r>
            <a:endParaRPr lang="en-US" sz="1200" dirty="0"/>
          </a:p>
        </p:txBody>
      </p:sp>
      <p:sp>
        <p:nvSpPr>
          <p:cNvPr id="12" name="Shape 8"/>
          <p:cNvSpPr/>
          <p:nvPr/>
        </p:nvSpPr>
        <p:spPr>
          <a:xfrm>
            <a:off x="7315200" y="1645920"/>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3" name="Text 9"/>
          <p:cNvSpPr/>
          <p:nvPr/>
        </p:nvSpPr>
        <p:spPr>
          <a:xfrm>
            <a:off x="7543800" y="1810512"/>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2.  </a:t>
            </a:r>
            <a:pPr indent="0" marL="0">
              <a:buNone/>
            </a:pPr>
            <a:r>
              <a:rPr lang="en-US" sz="1450" b="1" dirty="0">
                <a:solidFill>
                  <a:srgbClr val="262F65"/>
                </a:solidFill>
                <a:latin typeface="Calibri" pitchFamily="34" charset="0"/>
                <a:ea typeface="Calibri" pitchFamily="34" charset="-122"/>
                <a:cs typeface="Calibri" pitchFamily="34" charset="-120"/>
              </a:rPr>
              <a:t>Manage provisioning &amp; deprovisioning</a:t>
            </a:r>
            <a:endParaRPr lang="en-US" sz="1450" dirty="0"/>
          </a:p>
        </p:txBody>
      </p:sp>
      <p:sp>
        <p:nvSpPr>
          <p:cNvPr id="14" name="Text 10"/>
          <p:cNvSpPr/>
          <p:nvPr/>
        </p:nvSpPr>
        <p:spPr>
          <a:xfrm>
            <a:off x="7543800" y="2304288"/>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Creating and removing identities safely.</a:t>
            </a:r>
            <a:endParaRPr lang="en-US" sz="1200" dirty="0"/>
          </a:p>
        </p:txBody>
      </p:sp>
      <p:sp>
        <p:nvSpPr>
          <p:cNvPr id="15" name="Shape 11"/>
          <p:cNvSpPr/>
          <p:nvPr/>
        </p:nvSpPr>
        <p:spPr>
          <a:xfrm>
            <a:off x="1737360" y="3182112"/>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6" name="Text 12"/>
          <p:cNvSpPr/>
          <p:nvPr/>
        </p:nvSpPr>
        <p:spPr>
          <a:xfrm>
            <a:off x="1965960" y="3346704"/>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3.  </a:t>
            </a:r>
            <a:pPr indent="0" marL="0">
              <a:buNone/>
            </a:pPr>
            <a:r>
              <a:rPr lang="en-US" sz="1450" b="1" dirty="0">
                <a:solidFill>
                  <a:srgbClr val="262F65"/>
                </a:solidFill>
                <a:latin typeface="Calibri" pitchFamily="34" charset="0"/>
                <a:ea typeface="Calibri" pitchFamily="34" charset="-122"/>
                <a:cs typeface="Calibri" pitchFamily="34" charset="-120"/>
              </a:rPr>
              <a:t>Describe single sign-on (SSO)</a:t>
            </a:r>
            <a:endParaRPr lang="en-US" sz="1450" dirty="0"/>
          </a:p>
        </p:txBody>
      </p:sp>
      <p:sp>
        <p:nvSpPr>
          <p:cNvPr id="17" name="Text 13"/>
          <p:cNvSpPr/>
          <p:nvPr/>
        </p:nvSpPr>
        <p:spPr>
          <a:xfrm>
            <a:off x="1965960" y="3840480"/>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One login across many services.</a:t>
            </a:r>
            <a:endParaRPr lang="en-US" sz="1200" dirty="0"/>
          </a:p>
        </p:txBody>
      </p:sp>
      <p:sp>
        <p:nvSpPr>
          <p:cNvPr id="18" name="Shape 14"/>
          <p:cNvSpPr/>
          <p:nvPr/>
        </p:nvSpPr>
        <p:spPr>
          <a:xfrm>
            <a:off x="7315200" y="3182112"/>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9" name="Text 15"/>
          <p:cNvSpPr/>
          <p:nvPr/>
        </p:nvSpPr>
        <p:spPr>
          <a:xfrm>
            <a:off x="7543800" y="3346704"/>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4.  </a:t>
            </a:r>
            <a:pPr indent="0" marL="0">
              <a:buNone/>
            </a:pPr>
            <a:r>
              <a:rPr lang="en-US" sz="1450" b="1" dirty="0">
                <a:solidFill>
                  <a:srgbClr val="262F65"/>
                </a:solidFill>
                <a:latin typeface="Calibri" pitchFamily="34" charset="0"/>
                <a:ea typeface="Calibri" pitchFamily="34" charset="-122"/>
                <a:cs typeface="Calibri" pitchFamily="34" charset="-120"/>
              </a:rPr>
              <a:t>Explain identity federation</a:t>
            </a:r>
            <a:endParaRPr lang="en-US" sz="1450" dirty="0"/>
          </a:p>
        </p:txBody>
      </p:sp>
      <p:sp>
        <p:nvSpPr>
          <p:cNvPr id="20" name="Text 16"/>
          <p:cNvSpPr/>
          <p:nvPr/>
        </p:nvSpPr>
        <p:spPr>
          <a:xfrm>
            <a:off x="7543800" y="3840480"/>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Trust across organisational boundaries.</a:t>
            </a:r>
            <a:endParaRPr lang="en-US" sz="1200" dirty="0"/>
          </a:p>
        </p:txBody>
      </p:sp>
      <p:sp>
        <p:nvSpPr>
          <p:cNvPr id="21" name="Shape 17"/>
          <p:cNvSpPr/>
          <p:nvPr/>
        </p:nvSpPr>
        <p:spPr>
          <a:xfrm>
            <a:off x="1737360" y="4718304"/>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22" name="Text 18"/>
          <p:cNvSpPr/>
          <p:nvPr/>
        </p:nvSpPr>
        <p:spPr>
          <a:xfrm>
            <a:off x="1965960" y="4882896"/>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5.  </a:t>
            </a:r>
            <a:pPr indent="0" marL="0">
              <a:buNone/>
            </a:pPr>
            <a:r>
              <a:rPr lang="en-US" sz="1450" b="1" dirty="0">
                <a:solidFill>
                  <a:srgbClr val="262F65"/>
                </a:solidFill>
                <a:latin typeface="Calibri" pitchFamily="34" charset="0"/>
                <a:ea typeface="Calibri" pitchFamily="34" charset="-122"/>
                <a:cs typeface="Calibri" pitchFamily="34" charset="-120"/>
              </a:rPr>
              <a:t>Compare federation protocols</a:t>
            </a:r>
            <a:endParaRPr lang="en-US" sz="1450" dirty="0"/>
          </a:p>
        </p:txBody>
      </p:sp>
      <p:sp>
        <p:nvSpPr>
          <p:cNvPr id="23" name="Text 19"/>
          <p:cNvSpPr/>
          <p:nvPr/>
        </p:nvSpPr>
        <p:spPr>
          <a:xfrm>
            <a:off x="1965960" y="5376672"/>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SAML, OAuth 2.0 and OpenID Connect.</a:t>
            </a:r>
            <a:endParaRPr lang="en-US" sz="1200" dirty="0"/>
          </a:p>
        </p:txBody>
      </p:sp>
      <p:sp>
        <p:nvSpPr>
          <p:cNvPr id="24" name="Shape 20"/>
          <p:cNvSpPr/>
          <p:nvPr/>
        </p:nvSpPr>
        <p:spPr>
          <a:xfrm>
            <a:off x="7315200" y="4718304"/>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25" name="Text 21"/>
          <p:cNvSpPr/>
          <p:nvPr/>
        </p:nvSpPr>
        <p:spPr>
          <a:xfrm>
            <a:off x="7543800" y="4882896"/>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6.  </a:t>
            </a:r>
            <a:pPr indent="0" marL="0">
              <a:buNone/>
            </a:pPr>
            <a:r>
              <a:rPr lang="en-US" sz="1450" b="1" dirty="0">
                <a:solidFill>
                  <a:srgbClr val="262F65"/>
                </a:solidFill>
                <a:latin typeface="Calibri" pitchFamily="34" charset="0"/>
                <a:ea typeface="Calibri" pitchFamily="34" charset="-122"/>
                <a:cs typeface="Calibri" pitchFamily="34" charset="-120"/>
              </a:rPr>
              <a:t>Recognise identity threats &amp; PAM</a:t>
            </a:r>
            <a:endParaRPr lang="en-US" sz="1450" dirty="0"/>
          </a:p>
        </p:txBody>
      </p:sp>
      <p:sp>
        <p:nvSpPr>
          <p:cNvPr id="26" name="Text 22"/>
          <p:cNvSpPr/>
          <p:nvPr/>
        </p:nvSpPr>
        <p:spPr>
          <a:xfrm>
            <a:off x="7543800" y="5376672"/>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Protecting privileged accounts.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CONSTRUCTIVE ALIGNMENT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Curriculum alignment — CLO · PLO · MQF · clusters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640080" y="1508760"/>
            <a:ext cx="10881360" cy="1325880"/>
          </a:xfrm>
          <a:prstGeom prst="roundRect">
            <a:avLst>
              <a:gd name="adj" fmla="val 6207"/>
            </a:avLst>
          </a:prstGeom>
          <a:solidFill>
            <a:srgbClr val="262F65"/>
          </a:solidFill>
          <a:ln/>
          <a:effectLst>
            <a:outerShdw sx="100000" sy="100000" kx="0" ky="0" algn="bl" rotWithShape="0" blurRad="88900" dist="38100" dir="5400000">
              <a:srgbClr val="8894AD">
                <a:alpha val="28000"/>
              </a:srgbClr>
            </a:outerShdw>
          </a:effectLst>
        </p:spPr>
      </p:sp>
      <p:sp>
        <p:nvSpPr>
          <p:cNvPr id="8" name="Shape 5"/>
          <p:cNvSpPr/>
          <p:nvPr/>
        </p:nvSpPr>
        <p:spPr>
          <a:xfrm>
            <a:off x="960120" y="1847088"/>
            <a:ext cx="1600200" cy="658368"/>
          </a:xfrm>
          <a:prstGeom prst="roundRect">
            <a:avLst>
              <a:gd name="adj" fmla="val 13889"/>
            </a:avLst>
          </a:prstGeom>
          <a:solidFill>
            <a:srgbClr val="FABA32"/>
          </a:solidFill>
          <a:ln/>
        </p:spPr>
      </p:sp>
      <p:sp>
        <p:nvSpPr>
          <p:cNvPr id="9" name="Text 6"/>
          <p:cNvSpPr/>
          <p:nvPr/>
        </p:nvSpPr>
        <p:spPr>
          <a:xfrm>
            <a:off x="960120" y="1847088"/>
            <a:ext cx="1600200" cy="658368"/>
          </a:xfrm>
          <a:prstGeom prst="rect">
            <a:avLst/>
          </a:prstGeom>
          <a:noFill/>
          <a:ln/>
        </p:spPr>
        <p:txBody>
          <a:bodyPr wrap="square" lIns="0" tIns="0" rIns="0" bIns="0" rtlCol="0" anchor="ctr"/>
          <a:lstStyle/>
          <a:p>
            <a:pPr algn="ctr" indent="0" marL="0">
              <a:buNone/>
            </a:pPr>
            <a:r>
              <a:rPr lang="en-US" sz="2100" b="1" dirty="0">
                <a:solidFill>
                  <a:srgbClr val="262F65"/>
                </a:solidFill>
                <a:latin typeface="Cambria" pitchFamily="34" charset="0"/>
                <a:ea typeface="Cambria" pitchFamily="34" charset="-122"/>
                <a:cs typeface="Cambria" pitchFamily="34" charset="-120"/>
              </a:rPr>
              <a:t>CLO 2</a:t>
            </a:r>
            <a:endParaRPr lang="en-US" sz="2100" dirty="0"/>
          </a:p>
        </p:txBody>
      </p:sp>
      <p:sp>
        <p:nvSpPr>
          <p:cNvPr id="10" name="Text 7"/>
          <p:cNvSpPr/>
          <p:nvPr/>
        </p:nvSpPr>
        <p:spPr>
          <a:xfrm>
            <a:off x="2788920" y="1691640"/>
            <a:ext cx="8366760" cy="96012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Construct secure cloud computing operations that safeguard data integrity.</a:t>
            </a:r>
            <a:endParaRPr lang="en-US" sz="1550" dirty="0"/>
          </a:p>
        </p:txBody>
      </p:sp>
      <p:sp>
        <p:nvSpPr>
          <p:cNvPr id="11" name="Shape 8"/>
          <p:cNvSpPr/>
          <p:nvPr/>
        </p:nvSpPr>
        <p:spPr>
          <a:xfrm>
            <a:off x="640080"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12" name="Shape 9"/>
          <p:cNvSpPr/>
          <p:nvPr/>
        </p:nvSpPr>
        <p:spPr>
          <a:xfrm>
            <a:off x="2002536" y="3383280"/>
            <a:ext cx="731520" cy="731520"/>
          </a:xfrm>
          <a:prstGeom prst="ellipse">
            <a:avLst/>
          </a:prstGeom>
          <a:solidFill>
            <a:srgbClr val="262F65"/>
          </a:solidFill>
          <a:ln/>
        </p:spPr>
      </p:sp>
      <p:pic>
        <p:nvPicPr>
          <p:cNvPr id="13" name="Image 0" descr="preencoded.png">    </p:cNvPr>
          <p:cNvPicPr>
            <a:picLocks noChangeAspect="1"/>
          </p:cNvPicPr>
          <p:nvPr/>
        </p:nvPicPr>
        <p:blipFill>
          <a:blip r:embed="rId1"/>
          <a:stretch>
            <a:fillRect/>
          </a:stretch>
        </p:blipFill>
        <p:spPr>
          <a:xfrm>
            <a:off x="2178101" y="3558845"/>
            <a:ext cx="380390" cy="380390"/>
          </a:xfrm>
          <a:prstGeom prst="rect">
            <a:avLst/>
          </a:prstGeom>
        </p:spPr>
      </p:pic>
      <p:sp>
        <p:nvSpPr>
          <p:cNvPr id="14" name="Text 10"/>
          <p:cNvSpPr/>
          <p:nvPr/>
        </p:nvSpPr>
        <p:spPr>
          <a:xfrm>
            <a:off x="731520"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Programme outcome</a:t>
            </a:r>
            <a:endParaRPr lang="en-US" sz="1300" dirty="0"/>
          </a:p>
        </p:txBody>
      </p:sp>
      <p:sp>
        <p:nvSpPr>
          <p:cNvPr id="15" name="Text 11"/>
          <p:cNvSpPr/>
          <p:nvPr/>
        </p:nvSpPr>
        <p:spPr>
          <a:xfrm>
            <a:off x="749808"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PLO2 · Cognitive Skills</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MQF Level iii(a)</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Bloom P3 (Precision)</a:t>
            </a:r>
            <a:endParaRPr lang="en-US" sz="1100" dirty="0"/>
          </a:p>
        </p:txBody>
      </p:sp>
      <p:sp>
        <p:nvSpPr>
          <p:cNvPr id="16" name="Shape 12"/>
          <p:cNvSpPr/>
          <p:nvPr/>
        </p:nvSpPr>
        <p:spPr>
          <a:xfrm>
            <a:off x="4352544"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17" name="Shape 13"/>
          <p:cNvSpPr/>
          <p:nvPr/>
        </p:nvSpPr>
        <p:spPr>
          <a:xfrm>
            <a:off x="5715000" y="3383280"/>
            <a:ext cx="731520" cy="731520"/>
          </a:xfrm>
          <a:prstGeom prst="ellipse">
            <a:avLst/>
          </a:prstGeom>
          <a:solidFill>
            <a:srgbClr val="F2931F"/>
          </a:solidFill>
          <a:ln/>
        </p:spPr>
      </p:sp>
      <p:pic>
        <p:nvPicPr>
          <p:cNvPr id="18" name="Image 1" descr="preencoded.png">    </p:cNvPr>
          <p:cNvPicPr>
            <a:picLocks noChangeAspect="1"/>
          </p:cNvPicPr>
          <p:nvPr/>
        </p:nvPicPr>
        <p:blipFill>
          <a:blip r:embed="rId2"/>
          <a:stretch>
            <a:fillRect/>
          </a:stretch>
        </p:blipFill>
        <p:spPr>
          <a:xfrm>
            <a:off x="5890565" y="3558845"/>
            <a:ext cx="380390" cy="380390"/>
          </a:xfrm>
          <a:prstGeom prst="rect">
            <a:avLst/>
          </a:prstGeom>
        </p:spPr>
      </p:pic>
      <p:sp>
        <p:nvSpPr>
          <p:cNvPr id="19" name="Text 14"/>
          <p:cNvSpPr/>
          <p:nvPr/>
        </p:nvSpPr>
        <p:spPr>
          <a:xfrm>
            <a:off x="4443984"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Values &amp; skills</a:t>
            </a:r>
            <a:endParaRPr lang="en-US" sz="1300" dirty="0"/>
          </a:p>
        </p:txBody>
      </p:sp>
      <p:sp>
        <p:nvSpPr>
          <p:cNvPr id="20" name="Text 15"/>
          <p:cNvSpPr/>
          <p:nvPr/>
        </p:nvSpPr>
        <p:spPr>
          <a:xfrm>
            <a:off x="4462272"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VBE3 · Integrity</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SC8 · Problem-Solving</a:t>
            </a:r>
            <a:endParaRPr lang="en-US" sz="1100" dirty="0"/>
          </a:p>
        </p:txBody>
      </p:sp>
      <p:sp>
        <p:nvSpPr>
          <p:cNvPr id="21" name="Shape 16"/>
          <p:cNvSpPr/>
          <p:nvPr/>
        </p:nvSpPr>
        <p:spPr>
          <a:xfrm>
            <a:off x="8065008"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22" name="Shape 17"/>
          <p:cNvSpPr/>
          <p:nvPr/>
        </p:nvSpPr>
        <p:spPr>
          <a:xfrm>
            <a:off x="9427464" y="3383280"/>
            <a:ext cx="731520" cy="731520"/>
          </a:xfrm>
          <a:prstGeom prst="ellipse">
            <a:avLst/>
          </a:prstGeom>
          <a:solidFill>
            <a:srgbClr val="262F65"/>
          </a:solidFill>
          <a:ln/>
        </p:spPr>
      </p:sp>
      <p:pic>
        <p:nvPicPr>
          <p:cNvPr id="23" name="Image 2" descr="preencoded.png">    </p:cNvPr>
          <p:cNvPicPr>
            <a:picLocks noChangeAspect="1"/>
          </p:cNvPicPr>
          <p:nvPr/>
        </p:nvPicPr>
        <p:blipFill>
          <a:blip r:embed="rId3"/>
          <a:stretch>
            <a:fillRect/>
          </a:stretch>
        </p:blipFill>
        <p:spPr>
          <a:xfrm>
            <a:off x="9603029" y="3558845"/>
            <a:ext cx="380390" cy="380390"/>
          </a:xfrm>
          <a:prstGeom prst="rect">
            <a:avLst/>
          </a:prstGeom>
        </p:spPr>
      </p:pic>
      <p:sp>
        <p:nvSpPr>
          <p:cNvPr id="24" name="Text 18"/>
          <p:cNvSpPr/>
          <p:nvPr/>
        </p:nvSpPr>
        <p:spPr>
          <a:xfrm>
            <a:off x="8156448"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Assessment</a:t>
            </a:r>
            <a:endParaRPr lang="en-US" sz="1300" dirty="0"/>
          </a:p>
        </p:txBody>
      </p:sp>
      <p:sp>
        <p:nvSpPr>
          <p:cNvPr id="25" name="Text 19"/>
          <p:cNvSpPr/>
          <p:nvPr/>
        </p:nvSpPr>
        <p:spPr>
          <a:xfrm>
            <a:off x="8174736"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Lab Assignment (CLO2)</a:t>
            </a:r>
            <a:endParaRPr lang="en-US" sz="1100" dirty="0"/>
          </a:p>
        </p:txBody>
      </p:sp>
      <p:sp>
        <p:nvSpPr>
          <p:cNvPr id="26" name="Text 20"/>
          <p:cNvSpPr/>
          <p:nvPr/>
        </p:nvSpPr>
        <p:spPr>
          <a:xfrm>
            <a:off x="640080" y="5806440"/>
            <a:ext cx="10881360" cy="411480"/>
          </a:xfrm>
          <a:prstGeom prst="rect">
            <a:avLst/>
          </a:prstGeom>
          <a:noFill/>
          <a:ln/>
        </p:spPr>
        <p:txBody>
          <a:bodyPr wrap="square" lIns="0" tIns="0" rIns="0" bIns="0" rtlCol="0" anchor="ctr"/>
          <a:lstStyle/>
          <a:p>
            <a:pPr algn="ctr" indent="0" marL="0">
              <a:buNone/>
            </a:pPr>
            <a:r>
              <a:rPr lang="en-US" sz="1200" i="1" dirty="0">
                <a:solidFill>
                  <a:srgbClr val="5B6472"/>
                </a:solidFill>
                <a:latin typeface="Calibri" pitchFamily="34" charset="0"/>
                <a:ea typeface="Calibri" pitchFamily="34" charset="-122"/>
                <a:cs typeface="Calibri" pitchFamily="34" charset="-120"/>
              </a:rPr>
              <a:t>Constructive alignment: CLO → PLO → MQF, with VBE (values) and SC (skills) clusters, assessed as shown.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01</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1</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Identity Management Foundations</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DEFINITION</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What is identity management?</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
        <p:nvSpPr>
          <p:cNvPr id="7" name="Text 4"/>
          <p:cNvSpPr/>
          <p:nvPr/>
        </p:nvSpPr>
        <p:spPr>
          <a:xfrm>
            <a:off x="640080" y="1645920"/>
            <a:ext cx="5760720" cy="1188720"/>
          </a:xfrm>
          <a:prstGeom prst="rect">
            <a:avLst/>
          </a:prstGeom>
          <a:noFill/>
          <a:ln/>
        </p:spPr>
        <p:txBody>
          <a:bodyPr wrap="square" lIns="0" tIns="0" rIns="0" bIns="0" rtlCol="0" anchor="t"/>
          <a:lstStyle/>
          <a:p>
            <a:pPr indent="0" marL="0">
              <a:buNone/>
            </a:pPr>
            <a:r>
              <a:rPr lang="en-US" sz="1700" dirty="0">
                <a:solidFill>
                  <a:srgbClr val="23283A"/>
                </a:solidFill>
                <a:latin typeface="Calibri" pitchFamily="34" charset="0"/>
                <a:ea typeface="Calibri" pitchFamily="34" charset="-122"/>
                <a:cs typeface="Calibri" pitchFamily="34" charset="-120"/>
              </a:rPr>
              <a:t>Creating, maintaining and retiring digital identities — and governing what they can access.</a:t>
            </a:r>
            <a:endParaRPr lang="en-US" sz="1700" dirty="0"/>
          </a:p>
        </p:txBody>
      </p:sp>
      <p:sp>
        <p:nvSpPr>
          <p:cNvPr id="8" name="Shape 5"/>
          <p:cNvSpPr/>
          <p:nvPr/>
        </p:nvSpPr>
        <p:spPr>
          <a:xfrm>
            <a:off x="640080" y="3063240"/>
            <a:ext cx="146304" cy="146304"/>
          </a:xfrm>
          <a:prstGeom prst="ellipse">
            <a:avLst/>
          </a:prstGeom>
          <a:solidFill>
            <a:srgbClr val="F2931F"/>
          </a:solidFill>
          <a:ln/>
        </p:spPr>
      </p:sp>
      <p:sp>
        <p:nvSpPr>
          <p:cNvPr id="9" name="Text 6"/>
          <p:cNvSpPr/>
          <p:nvPr/>
        </p:nvSpPr>
        <p:spPr>
          <a:xfrm>
            <a:off x="932688" y="3017520"/>
            <a:ext cx="5394960" cy="411480"/>
          </a:xfrm>
          <a:prstGeom prst="rect">
            <a:avLst/>
          </a:prstGeom>
          <a:noFill/>
          <a:ln/>
        </p:spPr>
        <p:txBody>
          <a:bodyPr wrap="square" lIns="0" tIns="0" rIns="0" bIns="0" rtlCol="0" anchor="ctr"/>
          <a:lstStyle/>
          <a:p>
            <a:pPr indent="0" marL="0">
              <a:buNone/>
            </a:pPr>
            <a:r>
              <a:rPr lang="en-US" sz="1400" dirty="0">
                <a:solidFill>
                  <a:srgbClr val="23283A"/>
                </a:solidFill>
                <a:latin typeface="Calibri" pitchFamily="34" charset="0"/>
                <a:ea typeface="Calibri" pitchFamily="34" charset="-122"/>
                <a:cs typeface="Calibri" pitchFamily="34" charset="-120"/>
              </a:rPr>
              <a:t>An identity = a user, service or device</a:t>
            </a:r>
            <a:endParaRPr lang="en-US" sz="1400" dirty="0"/>
          </a:p>
        </p:txBody>
      </p:sp>
      <p:sp>
        <p:nvSpPr>
          <p:cNvPr id="10" name="Shape 7"/>
          <p:cNvSpPr/>
          <p:nvPr/>
        </p:nvSpPr>
        <p:spPr>
          <a:xfrm>
            <a:off x="640080" y="3611880"/>
            <a:ext cx="146304" cy="146304"/>
          </a:xfrm>
          <a:prstGeom prst="ellipse">
            <a:avLst/>
          </a:prstGeom>
          <a:solidFill>
            <a:srgbClr val="F2931F"/>
          </a:solidFill>
          <a:ln/>
        </p:spPr>
      </p:sp>
      <p:sp>
        <p:nvSpPr>
          <p:cNvPr id="11" name="Text 8"/>
          <p:cNvSpPr/>
          <p:nvPr/>
        </p:nvSpPr>
        <p:spPr>
          <a:xfrm>
            <a:off x="932688" y="3566160"/>
            <a:ext cx="5394960" cy="411480"/>
          </a:xfrm>
          <a:prstGeom prst="rect">
            <a:avLst/>
          </a:prstGeom>
          <a:noFill/>
          <a:ln/>
        </p:spPr>
        <p:txBody>
          <a:bodyPr wrap="square" lIns="0" tIns="0" rIns="0" bIns="0" rtlCol="0" anchor="ctr"/>
          <a:lstStyle/>
          <a:p>
            <a:pPr indent="0" marL="0">
              <a:buNone/>
            </a:pPr>
            <a:r>
              <a:rPr lang="en-US" sz="1400" dirty="0">
                <a:solidFill>
                  <a:srgbClr val="23283A"/>
                </a:solidFill>
                <a:latin typeface="Calibri" pitchFamily="34" charset="0"/>
                <a:ea typeface="Calibri" pitchFamily="34" charset="-122"/>
                <a:cs typeface="Calibri" pitchFamily="34" charset="-120"/>
              </a:rPr>
              <a:t>Managed across its whole lifecycle</a:t>
            </a:r>
            <a:endParaRPr lang="en-US" sz="1400" dirty="0"/>
          </a:p>
        </p:txBody>
      </p:sp>
      <p:sp>
        <p:nvSpPr>
          <p:cNvPr id="12" name="Shape 9"/>
          <p:cNvSpPr/>
          <p:nvPr/>
        </p:nvSpPr>
        <p:spPr>
          <a:xfrm>
            <a:off x="640080" y="4160520"/>
            <a:ext cx="146304" cy="146304"/>
          </a:xfrm>
          <a:prstGeom prst="ellipse">
            <a:avLst/>
          </a:prstGeom>
          <a:solidFill>
            <a:srgbClr val="F2931F"/>
          </a:solidFill>
          <a:ln/>
        </p:spPr>
      </p:sp>
      <p:sp>
        <p:nvSpPr>
          <p:cNvPr id="13" name="Text 10"/>
          <p:cNvSpPr/>
          <p:nvPr/>
        </p:nvSpPr>
        <p:spPr>
          <a:xfrm>
            <a:off x="932688" y="4114800"/>
            <a:ext cx="5394960" cy="411480"/>
          </a:xfrm>
          <a:prstGeom prst="rect">
            <a:avLst/>
          </a:prstGeom>
          <a:noFill/>
          <a:ln/>
        </p:spPr>
        <p:txBody>
          <a:bodyPr wrap="square" lIns="0" tIns="0" rIns="0" bIns="0" rtlCol="0" anchor="ctr"/>
          <a:lstStyle/>
          <a:p>
            <a:pPr indent="0" marL="0">
              <a:buNone/>
            </a:pPr>
            <a:r>
              <a:rPr lang="en-US" sz="1400" dirty="0">
                <a:solidFill>
                  <a:srgbClr val="23283A"/>
                </a:solidFill>
                <a:latin typeface="Calibri" pitchFamily="34" charset="0"/>
                <a:ea typeface="Calibri" pitchFamily="34" charset="-122"/>
                <a:cs typeface="Calibri" pitchFamily="34" charset="-120"/>
              </a:rPr>
              <a:t>Stale identities are a top attack vector</a:t>
            </a:r>
            <a:endParaRPr lang="en-US" sz="1400" dirty="0"/>
          </a:p>
        </p:txBody>
      </p:sp>
      <p:sp>
        <p:nvSpPr>
          <p:cNvPr id="14" name="Shape 11"/>
          <p:cNvSpPr/>
          <p:nvPr/>
        </p:nvSpPr>
        <p:spPr>
          <a:xfrm>
            <a:off x="6720840" y="1600200"/>
            <a:ext cx="4800600" cy="3108960"/>
          </a:xfrm>
          <a:prstGeom prst="roundRect">
            <a:avLst>
              <a:gd name="adj" fmla="val 2647"/>
            </a:avLst>
          </a:prstGeom>
          <a:solidFill>
            <a:srgbClr val="262F65"/>
          </a:solidFill>
          <a:ln/>
          <a:effectLst>
            <a:outerShdw sx="100000" sy="100000" kx="0" ky="0" algn="bl" rotWithShape="0" blurRad="88900" dist="38100" dir="5400000">
              <a:srgbClr val="8894AD">
                <a:alpha val="28000"/>
              </a:srgbClr>
            </a:outerShdw>
          </a:effectLst>
        </p:spPr>
      </p:sp>
      <p:sp>
        <p:nvSpPr>
          <p:cNvPr id="15" name="Shape 12"/>
          <p:cNvSpPr/>
          <p:nvPr/>
        </p:nvSpPr>
        <p:spPr>
          <a:xfrm>
            <a:off x="7086600" y="1920240"/>
            <a:ext cx="868680" cy="868680"/>
          </a:xfrm>
          <a:prstGeom prst="ellipse">
            <a:avLst/>
          </a:prstGeom>
          <a:solidFill>
            <a:srgbClr val="FABA32"/>
          </a:solidFill>
          <a:ln/>
        </p:spPr>
      </p:sp>
      <p:pic>
        <p:nvPicPr>
          <p:cNvPr id="16" name="Image 0" descr="preencoded.png">    </p:cNvPr>
          <p:cNvPicPr>
            <a:picLocks noChangeAspect="1"/>
          </p:cNvPicPr>
          <p:nvPr/>
        </p:nvPicPr>
        <p:blipFill>
          <a:blip r:embed="rId1"/>
          <a:stretch>
            <a:fillRect/>
          </a:stretch>
        </p:blipFill>
        <p:spPr>
          <a:xfrm>
            <a:off x="7295083" y="2128723"/>
            <a:ext cx="451714" cy="451714"/>
          </a:xfrm>
          <a:prstGeom prst="rect">
            <a:avLst/>
          </a:prstGeom>
        </p:spPr>
      </p:pic>
      <p:sp>
        <p:nvSpPr>
          <p:cNvPr id="17" name="Text 13"/>
          <p:cNvSpPr/>
          <p:nvPr/>
        </p:nvSpPr>
        <p:spPr>
          <a:xfrm>
            <a:off x="7086600" y="2880360"/>
            <a:ext cx="4114800" cy="73152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Identity is the foundation of access.</a:t>
            </a:r>
            <a:endParaRPr lang="en-US" sz="1900" dirty="0"/>
          </a:p>
        </p:txBody>
      </p:sp>
      <p:sp>
        <p:nvSpPr>
          <p:cNvPr id="18" name="Text 14"/>
          <p:cNvSpPr/>
          <p:nvPr/>
        </p:nvSpPr>
        <p:spPr>
          <a:xfrm>
            <a:off x="7086600" y="3611880"/>
            <a:ext cx="4114800" cy="1005840"/>
          </a:xfrm>
          <a:prstGeom prst="rect">
            <a:avLst/>
          </a:prstGeom>
          <a:noFill/>
          <a:ln/>
        </p:spPr>
        <p:txBody>
          <a:bodyPr wrap="square" lIns="0" tIns="0" rIns="0" bIns="0" rtlCol="0" anchor="t"/>
          <a:lstStyle/>
          <a:p>
            <a:pPr indent="0" marL="0">
              <a:buNone/>
            </a:pPr>
            <a:r>
              <a:rPr lang="en-US" sz="1300" i="1" dirty="0">
                <a:solidFill>
                  <a:srgbClr val="B6E0F2"/>
                </a:solidFill>
                <a:latin typeface="Calibri" pitchFamily="34" charset="0"/>
                <a:ea typeface="Calibri" pitchFamily="34" charset="-122"/>
                <a:cs typeface="Calibri" pitchFamily="34" charset="-120"/>
              </a:rPr>
              <a:t>Machine identities now outnumber human ones — all must be managed across their whole life.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LIFECYCLE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The identity lifecycle</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685800" y="2194560"/>
            <a:ext cx="2103120" cy="1645920"/>
          </a:xfrm>
          <a:prstGeom prst="roundRect">
            <a:avLst>
              <a:gd name="adj" fmla="val 5000"/>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348740" y="2450592"/>
            <a:ext cx="777240" cy="77724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535278" y="2637130"/>
            <a:ext cx="404165" cy="404165"/>
          </a:xfrm>
          <a:prstGeom prst="rect">
            <a:avLst/>
          </a:prstGeom>
        </p:spPr>
      </p:pic>
      <p:sp>
        <p:nvSpPr>
          <p:cNvPr id="10" name="Text 6"/>
          <p:cNvSpPr/>
          <p:nvPr/>
        </p:nvSpPr>
        <p:spPr>
          <a:xfrm>
            <a:off x="685800" y="3291840"/>
            <a:ext cx="2103120" cy="411480"/>
          </a:xfrm>
          <a:prstGeom prst="rect">
            <a:avLst/>
          </a:prstGeom>
          <a:noFill/>
          <a:ln/>
        </p:spPr>
        <p:txBody>
          <a:bodyPr wrap="square" lIns="0" tIns="0" rIns="0" bIns="0" rtlCol="0" anchor="ctr"/>
          <a:lstStyle/>
          <a:p>
            <a:pPr algn="ctr" indent="0" marL="0">
              <a:buNone/>
            </a:pPr>
            <a:r>
              <a:rPr lang="en-US" sz="1350" b="1" dirty="0">
                <a:solidFill>
                  <a:srgbClr val="262F65"/>
                </a:solidFill>
                <a:latin typeface="Calibri" pitchFamily="34" charset="0"/>
                <a:ea typeface="Calibri" pitchFamily="34" charset="-122"/>
                <a:cs typeface="Calibri" pitchFamily="34" charset="-120"/>
              </a:rPr>
              <a:t>Provision</a:t>
            </a:r>
            <a:endParaRPr lang="en-US" sz="1350" dirty="0"/>
          </a:p>
        </p:txBody>
      </p:sp>
      <p:sp>
        <p:nvSpPr>
          <p:cNvPr id="11" name="Text 7"/>
          <p:cNvSpPr/>
          <p:nvPr/>
        </p:nvSpPr>
        <p:spPr>
          <a:xfrm>
            <a:off x="2752344" y="2697480"/>
            <a:ext cx="201168" cy="548640"/>
          </a:xfrm>
          <a:prstGeom prst="rect">
            <a:avLst/>
          </a:prstGeom>
          <a:noFill/>
          <a:ln/>
        </p:spPr>
        <p:txBody>
          <a:bodyPr wrap="square" lIns="0" tIns="0" rIns="0" bIns="0" rtlCol="0" anchor="ctr"/>
          <a:lstStyle/>
          <a:p>
            <a:pPr algn="ctr" indent="0" marL="0">
              <a:buNone/>
            </a:pPr>
            <a:r>
              <a:rPr lang="en-US" sz="2000" b="1" dirty="0">
                <a:solidFill>
                  <a:srgbClr val="5B6472"/>
                </a:solidFill>
                <a:latin typeface="Calibri" pitchFamily="34" charset="0"/>
                <a:ea typeface="Calibri" pitchFamily="34" charset="-122"/>
                <a:cs typeface="Calibri" pitchFamily="34" charset="-120"/>
              </a:rPr>
              <a:t>→</a:t>
            </a:r>
            <a:endParaRPr lang="en-US" sz="2000" dirty="0"/>
          </a:p>
        </p:txBody>
      </p:sp>
      <p:sp>
        <p:nvSpPr>
          <p:cNvPr id="12" name="Shape 8"/>
          <p:cNvSpPr/>
          <p:nvPr/>
        </p:nvSpPr>
        <p:spPr>
          <a:xfrm>
            <a:off x="2953512" y="2194560"/>
            <a:ext cx="2103120" cy="1645920"/>
          </a:xfrm>
          <a:prstGeom prst="roundRect">
            <a:avLst>
              <a:gd name="adj" fmla="val 5000"/>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3616452" y="2450592"/>
            <a:ext cx="777240" cy="777240"/>
          </a:xfrm>
          <a:prstGeom prst="ellipse">
            <a:avLst/>
          </a:prstGeom>
          <a:solidFill>
            <a:srgbClr val="293E7B"/>
          </a:solidFill>
          <a:ln/>
        </p:spPr>
      </p:sp>
      <p:pic>
        <p:nvPicPr>
          <p:cNvPr id="14" name="Image 1" descr="preencoded.png">    </p:cNvPr>
          <p:cNvPicPr>
            <a:picLocks noChangeAspect="1"/>
          </p:cNvPicPr>
          <p:nvPr/>
        </p:nvPicPr>
        <p:blipFill>
          <a:blip r:embed="rId2"/>
          <a:stretch>
            <a:fillRect/>
          </a:stretch>
        </p:blipFill>
        <p:spPr>
          <a:xfrm>
            <a:off x="3802990" y="2637130"/>
            <a:ext cx="404165" cy="404165"/>
          </a:xfrm>
          <a:prstGeom prst="rect">
            <a:avLst/>
          </a:prstGeom>
        </p:spPr>
      </p:pic>
      <p:sp>
        <p:nvSpPr>
          <p:cNvPr id="15" name="Text 10"/>
          <p:cNvSpPr/>
          <p:nvPr/>
        </p:nvSpPr>
        <p:spPr>
          <a:xfrm>
            <a:off x="2953512" y="3291840"/>
            <a:ext cx="2103120" cy="411480"/>
          </a:xfrm>
          <a:prstGeom prst="rect">
            <a:avLst/>
          </a:prstGeom>
          <a:noFill/>
          <a:ln/>
        </p:spPr>
        <p:txBody>
          <a:bodyPr wrap="square" lIns="0" tIns="0" rIns="0" bIns="0" rtlCol="0" anchor="ctr"/>
          <a:lstStyle/>
          <a:p>
            <a:pPr algn="ctr" indent="0" marL="0">
              <a:buNone/>
            </a:pPr>
            <a:r>
              <a:rPr lang="en-US" sz="1350" b="1" dirty="0">
                <a:solidFill>
                  <a:srgbClr val="262F65"/>
                </a:solidFill>
                <a:latin typeface="Calibri" pitchFamily="34" charset="0"/>
                <a:ea typeface="Calibri" pitchFamily="34" charset="-122"/>
                <a:cs typeface="Calibri" pitchFamily="34" charset="-120"/>
              </a:rPr>
              <a:t>Authenticate</a:t>
            </a:r>
            <a:endParaRPr lang="en-US" sz="1350" dirty="0"/>
          </a:p>
        </p:txBody>
      </p:sp>
      <p:sp>
        <p:nvSpPr>
          <p:cNvPr id="16" name="Text 11"/>
          <p:cNvSpPr/>
          <p:nvPr/>
        </p:nvSpPr>
        <p:spPr>
          <a:xfrm>
            <a:off x="5020056" y="2697480"/>
            <a:ext cx="201168" cy="548640"/>
          </a:xfrm>
          <a:prstGeom prst="rect">
            <a:avLst/>
          </a:prstGeom>
          <a:noFill/>
          <a:ln/>
        </p:spPr>
        <p:txBody>
          <a:bodyPr wrap="square" lIns="0" tIns="0" rIns="0" bIns="0" rtlCol="0" anchor="ctr"/>
          <a:lstStyle/>
          <a:p>
            <a:pPr algn="ctr" indent="0" marL="0">
              <a:buNone/>
            </a:pPr>
            <a:r>
              <a:rPr lang="en-US" sz="2000" b="1" dirty="0">
                <a:solidFill>
                  <a:srgbClr val="5B6472"/>
                </a:solidFill>
                <a:latin typeface="Calibri" pitchFamily="34" charset="0"/>
                <a:ea typeface="Calibri" pitchFamily="34" charset="-122"/>
                <a:cs typeface="Calibri" pitchFamily="34" charset="-120"/>
              </a:rPr>
              <a:t>→</a:t>
            </a:r>
            <a:endParaRPr lang="en-US" sz="2000" dirty="0"/>
          </a:p>
        </p:txBody>
      </p:sp>
      <p:sp>
        <p:nvSpPr>
          <p:cNvPr id="17" name="Shape 12"/>
          <p:cNvSpPr/>
          <p:nvPr/>
        </p:nvSpPr>
        <p:spPr>
          <a:xfrm>
            <a:off x="5221224" y="2194560"/>
            <a:ext cx="2103120" cy="1645920"/>
          </a:xfrm>
          <a:prstGeom prst="roundRect">
            <a:avLst>
              <a:gd name="adj" fmla="val 5000"/>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5884164" y="2450592"/>
            <a:ext cx="777240" cy="777240"/>
          </a:xfrm>
          <a:prstGeom prst="ellipse">
            <a:avLst/>
          </a:prstGeom>
          <a:solidFill>
            <a:srgbClr val="F2931F"/>
          </a:solidFill>
          <a:ln/>
        </p:spPr>
      </p:sp>
      <p:pic>
        <p:nvPicPr>
          <p:cNvPr id="19" name="Image 2" descr="preencoded.png">    </p:cNvPr>
          <p:cNvPicPr>
            <a:picLocks noChangeAspect="1"/>
          </p:cNvPicPr>
          <p:nvPr/>
        </p:nvPicPr>
        <p:blipFill>
          <a:blip r:embed="rId3"/>
          <a:stretch>
            <a:fillRect/>
          </a:stretch>
        </p:blipFill>
        <p:spPr>
          <a:xfrm>
            <a:off x="6070702" y="2637130"/>
            <a:ext cx="404165" cy="404165"/>
          </a:xfrm>
          <a:prstGeom prst="rect">
            <a:avLst/>
          </a:prstGeom>
        </p:spPr>
      </p:pic>
      <p:sp>
        <p:nvSpPr>
          <p:cNvPr id="20" name="Text 14"/>
          <p:cNvSpPr/>
          <p:nvPr/>
        </p:nvSpPr>
        <p:spPr>
          <a:xfrm>
            <a:off x="5221224" y="3291840"/>
            <a:ext cx="2103120" cy="411480"/>
          </a:xfrm>
          <a:prstGeom prst="rect">
            <a:avLst/>
          </a:prstGeom>
          <a:noFill/>
          <a:ln/>
        </p:spPr>
        <p:txBody>
          <a:bodyPr wrap="square" lIns="0" tIns="0" rIns="0" bIns="0" rtlCol="0" anchor="ctr"/>
          <a:lstStyle/>
          <a:p>
            <a:pPr algn="ctr" indent="0" marL="0">
              <a:buNone/>
            </a:pPr>
            <a:r>
              <a:rPr lang="en-US" sz="1350" b="1" dirty="0">
                <a:solidFill>
                  <a:srgbClr val="262F65"/>
                </a:solidFill>
                <a:latin typeface="Calibri" pitchFamily="34" charset="0"/>
                <a:ea typeface="Calibri" pitchFamily="34" charset="-122"/>
                <a:cs typeface="Calibri" pitchFamily="34" charset="-120"/>
              </a:rPr>
              <a:t>Authorize</a:t>
            </a:r>
            <a:endParaRPr lang="en-US" sz="1350" dirty="0"/>
          </a:p>
        </p:txBody>
      </p:sp>
      <p:sp>
        <p:nvSpPr>
          <p:cNvPr id="21" name="Text 15"/>
          <p:cNvSpPr/>
          <p:nvPr/>
        </p:nvSpPr>
        <p:spPr>
          <a:xfrm>
            <a:off x="7287768" y="2697480"/>
            <a:ext cx="201168" cy="548640"/>
          </a:xfrm>
          <a:prstGeom prst="rect">
            <a:avLst/>
          </a:prstGeom>
          <a:noFill/>
          <a:ln/>
        </p:spPr>
        <p:txBody>
          <a:bodyPr wrap="square" lIns="0" tIns="0" rIns="0" bIns="0" rtlCol="0" anchor="ctr"/>
          <a:lstStyle/>
          <a:p>
            <a:pPr algn="ctr" indent="0" marL="0">
              <a:buNone/>
            </a:pPr>
            <a:r>
              <a:rPr lang="en-US" sz="2000" b="1" dirty="0">
                <a:solidFill>
                  <a:srgbClr val="5B6472"/>
                </a:solidFill>
                <a:latin typeface="Calibri" pitchFamily="34" charset="0"/>
                <a:ea typeface="Calibri" pitchFamily="34" charset="-122"/>
                <a:cs typeface="Calibri" pitchFamily="34" charset="-120"/>
              </a:rPr>
              <a:t>→</a:t>
            </a:r>
            <a:endParaRPr lang="en-US" sz="2000" dirty="0"/>
          </a:p>
        </p:txBody>
      </p:sp>
      <p:sp>
        <p:nvSpPr>
          <p:cNvPr id="22" name="Shape 16"/>
          <p:cNvSpPr/>
          <p:nvPr/>
        </p:nvSpPr>
        <p:spPr>
          <a:xfrm>
            <a:off x="7488936" y="2194560"/>
            <a:ext cx="2103120" cy="1645920"/>
          </a:xfrm>
          <a:prstGeom prst="roundRect">
            <a:avLst>
              <a:gd name="adj" fmla="val 5000"/>
            </a:avLst>
          </a:prstGeom>
          <a:solidFill>
            <a:srgbClr val="F4F6FB"/>
          </a:solidFill>
          <a:ln/>
          <a:effectLst>
            <a:outerShdw sx="100000" sy="100000" kx="0" ky="0" algn="bl" rotWithShape="0" blurRad="88900" dist="38100" dir="5400000">
              <a:srgbClr val="8894AD">
                <a:alpha val="28000"/>
              </a:srgbClr>
            </a:outerShdw>
          </a:effectLst>
        </p:spPr>
      </p:sp>
      <p:sp>
        <p:nvSpPr>
          <p:cNvPr id="23" name="Shape 17"/>
          <p:cNvSpPr/>
          <p:nvPr/>
        </p:nvSpPr>
        <p:spPr>
          <a:xfrm>
            <a:off x="8151876" y="2450592"/>
            <a:ext cx="777240" cy="777240"/>
          </a:xfrm>
          <a:prstGeom prst="ellipse">
            <a:avLst/>
          </a:prstGeom>
          <a:solidFill>
            <a:srgbClr val="262F65"/>
          </a:solidFill>
          <a:ln/>
        </p:spPr>
      </p:sp>
      <p:pic>
        <p:nvPicPr>
          <p:cNvPr id="24" name="Image 3" descr="preencoded.png">    </p:cNvPr>
          <p:cNvPicPr>
            <a:picLocks noChangeAspect="1"/>
          </p:cNvPicPr>
          <p:nvPr/>
        </p:nvPicPr>
        <p:blipFill>
          <a:blip r:embed="rId4"/>
          <a:stretch>
            <a:fillRect/>
          </a:stretch>
        </p:blipFill>
        <p:spPr>
          <a:xfrm>
            <a:off x="8338414" y="2637130"/>
            <a:ext cx="404165" cy="404165"/>
          </a:xfrm>
          <a:prstGeom prst="rect">
            <a:avLst/>
          </a:prstGeom>
        </p:spPr>
      </p:pic>
      <p:sp>
        <p:nvSpPr>
          <p:cNvPr id="25" name="Text 18"/>
          <p:cNvSpPr/>
          <p:nvPr/>
        </p:nvSpPr>
        <p:spPr>
          <a:xfrm>
            <a:off x="7488936" y="3291840"/>
            <a:ext cx="2103120" cy="411480"/>
          </a:xfrm>
          <a:prstGeom prst="rect">
            <a:avLst/>
          </a:prstGeom>
          <a:noFill/>
          <a:ln/>
        </p:spPr>
        <p:txBody>
          <a:bodyPr wrap="square" lIns="0" tIns="0" rIns="0" bIns="0" rtlCol="0" anchor="ctr"/>
          <a:lstStyle/>
          <a:p>
            <a:pPr algn="ctr" indent="0" marL="0">
              <a:buNone/>
            </a:pPr>
            <a:r>
              <a:rPr lang="en-US" sz="1350" b="1" dirty="0">
                <a:solidFill>
                  <a:srgbClr val="262F65"/>
                </a:solidFill>
                <a:latin typeface="Calibri" pitchFamily="34" charset="0"/>
                <a:ea typeface="Calibri" pitchFamily="34" charset="-122"/>
                <a:cs typeface="Calibri" pitchFamily="34" charset="-120"/>
              </a:rPr>
              <a:t>Manage</a:t>
            </a:r>
            <a:endParaRPr lang="en-US" sz="1350" dirty="0"/>
          </a:p>
        </p:txBody>
      </p:sp>
      <p:sp>
        <p:nvSpPr>
          <p:cNvPr id="26" name="Text 19"/>
          <p:cNvSpPr/>
          <p:nvPr/>
        </p:nvSpPr>
        <p:spPr>
          <a:xfrm>
            <a:off x="9555480" y="2697480"/>
            <a:ext cx="201168" cy="548640"/>
          </a:xfrm>
          <a:prstGeom prst="rect">
            <a:avLst/>
          </a:prstGeom>
          <a:noFill/>
          <a:ln/>
        </p:spPr>
        <p:txBody>
          <a:bodyPr wrap="square" lIns="0" tIns="0" rIns="0" bIns="0" rtlCol="0" anchor="ctr"/>
          <a:lstStyle/>
          <a:p>
            <a:pPr algn="ctr" indent="0" marL="0">
              <a:buNone/>
            </a:pPr>
            <a:r>
              <a:rPr lang="en-US" sz="2000" b="1" dirty="0">
                <a:solidFill>
                  <a:srgbClr val="5B6472"/>
                </a:solidFill>
                <a:latin typeface="Calibri" pitchFamily="34" charset="0"/>
                <a:ea typeface="Calibri" pitchFamily="34" charset="-122"/>
                <a:cs typeface="Calibri" pitchFamily="34" charset="-120"/>
              </a:rPr>
              <a:t>→</a:t>
            </a:r>
            <a:endParaRPr lang="en-US" sz="2000" dirty="0"/>
          </a:p>
        </p:txBody>
      </p:sp>
      <p:sp>
        <p:nvSpPr>
          <p:cNvPr id="27" name="Shape 20"/>
          <p:cNvSpPr/>
          <p:nvPr/>
        </p:nvSpPr>
        <p:spPr>
          <a:xfrm>
            <a:off x="9756648" y="2194560"/>
            <a:ext cx="2103120" cy="1645920"/>
          </a:xfrm>
          <a:prstGeom prst="roundRect">
            <a:avLst>
              <a:gd name="adj" fmla="val 5000"/>
            </a:avLst>
          </a:prstGeom>
          <a:solidFill>
            <a:srgbClr val="F4F6FB"/>
          </a:solidFill>
          <a:ln/>
          <a:effectLst>
            <a:outerShdw sx="100000" sy="100000" kx="0" ky="0" algn="bl" rotWithShape="0" blurRad="88900" dist="38100" dir="5400000">
              <a:srgbClr val="8894AD">
                <a:alpha val="28000"/>
              </a:srgbClr>
            </a:outerShdw>
          </a:effectLst>
        </p:spPr>
      </p:sp>
      <p:sp>
        <p:nvSpPr>
          <p:cNvPr id="28" name="Shape 21"/>
          <p:cNvSpPr/>
          <p:nvPr/>
        </p:nvSpPr>
        <p:spPr>
          <a:xfrm>
            <a:off x="10419588" y="2450592"/>
            <a:ext cx="777240" cy="777240"/>
          </a:xfrm>
          <a:prstGeom prst="ellipse">
            <a:avLst/>
          </a:prstGeom>
          <a:solidFill>
            <a:srgbClr val="E8403A"/>
          </a:solidFill>
          <a:ln/>
        </p:spPr>
      </p:sp>
      <p:pic>
        <p:nvPicPr>
          <p:cNvPr id="29" name="Image 4" descr="preencoded.png">    </p:cNvPr>
          <p:cNvPicPr>
            <a:picLocks noChangeAspect="1"/>
          </p:cNvPicPr>
          <p:nvPr/>
        </p:nvPicPr>
        <p:blipFill>
          <a:blip r:embed="rId5"/>
          <a:stretch>
            <a:fillRect/>
          </a:stretch>
        </p:blipFill>
        <p:spPr>
          <a:xfrm>
            <a:off x="10606126" y="2637130"/>
            <a:ext cx="404165" cy="404165"/>
          </a:xfrm>
          <a:prstGeom prst="rect">
            <a:avLst/>
          </a:prstGeom>
        </p:spPr>
      </p:pic>
      <p:sp>
        <p:nvSpPr>
          <p:cNvPr id="30" name="Text 22"/>
          <p:cNvSpPr/>
          <p:nvPr/>
        </p:nvSpPr>
        <p:spPr>
          <a:xfrm>
            <a:off x="9756648" y="3291840"/>
            <a:ext cx="2103120" cy="411480"/>
          </a:xfrm>
          <a:prstGeom prst="rect">
            <a:avLst/>
          </a:prstGeom>
          <a:noFill/>
          <a:ln/>
        </p:spPr>
        <p:txBody>
          <a:bodyPr wrap="square" lIns="0" tIns="0" rIns="0" bIns="0" rtlCol="0" anchor="ctr"/>
          <a:lstStyle/>
          <a:p>
            <a:pPr algn="ctr" indent="0" marL="0">
              <a:buNone/>
            </a:pPr>
            <a:r>
              <a:rPr lang="en-US" sz="1350" b="1" dirty="0">
                <a:solidFill>
                  <a:srgbClr val="262F65"/>
                </a:solidFill>
                <a:latin typeface="Calibri" pitchFamily="34" charset="0"/>
                <a:ea typeface="Calibri" pitchFamily="34" charset="-122"/>
                <a:cs typeface="Calibri" pitchFamily="34" charset="-120"/>
              </a:rPr>
              <a:t>Deprovision</a:t>
            </a:r>
            <a:endParaRPr lang="en-US" sz="1350" dirty="0"/>
          </a:p>
        </p:txBody>
      </p:sp>
      <p:sp>
        <p:nvSpPr>
          <p:cNvPr id="31" name="Text 23"/>
          <p:cNvSpPr/>
          <p:nvPr/>
        </p:nvSpPr>
        <p:spPr>
          <a:xfrm>
            <a:off x="640080" y="4572000"/>
            <a:ext cx="10881360" cy="64008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Security lives in the whole loop:  </a:t>
            </a:r>
            <a:pPr indent="0" marL="0">
              <a:buNone/>
            </a:pPr>
            <a:r>
              <a:rPr lang="en-US" sz="1450" i="1" dirty="0">
                <a:solidFill>
                  <a:srgbClr val="262F65"/>
                </a:solidFill>
                <a:latin typeface="Calibri" pitchFamily="34" charset="0"/>
                <a:ea typeface="Calibri" pitchFamily="34" charset="-122"/>
                <a:cs typeface="Calibri" pitchFamily="34" charset="-120"/>
              </a:rPr>
              <a:t>the biggest failures are over-privileged provisioning and forgotten deprovisioning.</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02</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2</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Provisioning &amp; Deprovisioning</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CREATING &amp; REMOVING</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Provisioning &amp; deprovisioning</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Provisioning</a:t>
            </a:r>
            <a:endParaRPr lang="en-US" sz="1550" dirty="0"/>
          </a:p>
        </p:txBody>
      </p:sp>
      <p:sp>
        <p:nvSpPr>
          <p:cNvPr id="11" name="Text 7"/>
          <p:cNvSpPr/>
          <p:nvPr/>
        </p:nvSpPr>
        <p:spPr>
          <a:xfrm>
            <a:off x="960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Create the identity and grant initial access.</a:t>
            </a:r>
            <a:endParaRPr lang="en-US" sz="1250" dirty="0"/>
          </a:p>
        </p:txBody>
      </p:sp>
      <p:sp>
        <p:nvSpPr>
          <p:cNvPr id="12" name="Shape 8"/>
          <p:cNvSpPr/>
          <p:nvPr/>
        </p:nvSpPr>
        <p:spPr>
          <a:xfrm>
            <a:off x="1005840" y="3767328"/>
            <a:ext cx="128016" cy="128016"/>
          </a:xfrm>
          <a:prstGeom prst="ellipse">
            <a:avLst/>
          </a:prstGeom>
          <a:solidFill>
            <a:srgbClr val="262F65"/>
          </a:solidFill>
          <a:ln/>
        </p:spPr>
      </p:sp>
      <p:sp>
        <p:nvSpPr>
          <p:cNvPr id="13" name="Text 9"/>
          <p:cNvSpPr/>
          <p:nvPr/>
        </p:nvSpPr>
        <p:spPr>
          <a:xfrm>
            <a:off x="1280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Least privilege from day one — </a:t>
            </a:r>
            <a:pPr indent="0" marL="0">
              <a:buNone/>
            </a:pPr>
            <a:endParaRPr lang="en-US" sz="1250" dirty="0"/>
          </a:p>
        </p:txBody>
      </p:sp>
      <p:sp>
        <p:nvSpPr>
          <p:cNvPr id="14" name="Shape 10"/>
          <p:cNvSpPr/>
          <p:nvPr/>
        </p:nvSpPr>
        <p:spPr>
          <a:xfrm>
            <a:off x="1005840" y="4334256"/>
            <a:ext cx="128016" cy="128016"/>
          </a:xfrm>
          <a:prstGeom prst="ellipse">
            <a:avLst/>
          </a:prstGeom>
          <a:solidFill>
            <a:srgbClr val="262F65"/>
          </a:solidFill>
          <a:ln/>
        </p:spPr>
      </p:sp>
      <p:sp>
        <p:nvSpPr>
          <p:cNvPr id="15" name="Text 11"/>
          <p:cNvSpPr/>
          <p:nvPr/>
        </p:nvSpPr>
        <p:spPr>
          <a:xfrm>
            <a:off x="1280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Role-appropriate access — </a:t>
            </a:r>
            <a:pPr indent="0" marL="0">
              <a:buNone/>
            </a:pPr>
            <a:endParaRPr lang="en-US" sz="1250" dirty="0"/>
          </a:p>
        </p:txBody>
      </p:sp>
      <p:sp>
        <p:nvSpPr>
          <p:cNvPr id="16" name="Shape 12"/>
          <p:cNvSpPr/>
          <p:nvPr/>
        </p:nvSpPr>
        <p:spPr>
          <a:xfrm>
            <a:off x="1005840" y="4901184"/>
            <a:ext cx="128016" cy="128016"/>
          </a:xfrm>
          <a:prstGeom prst="ellipse">
            <a:avLst/>
          </a:prstGeom>
          <a:solidFill>
            <a:srgbClr val="262F65"/>
          </a:solidFill>
          <a:ln/>
        </p:spPr>
      </p:sp>
      <p:sp>
        <p:nvSpPr>
          <p:cNvPr id="17" name="Text 13"/>
          <p:cNvSpPr/>
          <p:nvPr/>
        </p:nvSpPr>
        <p:spPr>
          <a:xfrm>
            <a:off x="1280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Triggered by joining / deployment — </a:t>
            </a:r>
            <a:pPr indent="0" marL="0">
              <a:buNone/>
            </a:pPr>
            <a:endParaRPr lang="en-US" sz="1250" dirty="0"/>
          </a:p>
        </p:txBody>
      </p:sp>
      <p:sp>
        <p:nvSpPr>
          <p:cNvPr id="18" name="Shape 14"/>
          <p:cNvSpPr/>
          <p:nvPr/>
        </p:nvSpPr>
        <p:spPr>
          <a:xfrm>
            <a:off x="6355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19" name="Shape 15"/>
          <p:cNvSpPr/>
          <p:nvPr/>
        </p:nvSpPr>
        <p:spPr>
          <a:xfrm>
            <a:off x="6675120" y="2057400"/>
            <a:ext cx="868680" cy="868680"/>
          </a:xfrm>
          <a:prstGeom prst="ellipse">
            <a:avLst/>
          </a:prstGeom>
          <a:solidFill>
            <a:srgbClr val="E8403A"/>
          </a:solidFill>
          <a:ln/>
        </p:spPr>
      </p:sp>
      <p:pic>
        <p:nvPicPr>
          <p:cNvPr id="20"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1" name="Text 16"/>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Deprovisioning</a:t>
            </a:r>
            <a:endParaRPr lang="en-US" sz="1550" dirty="0"/>
          </a:p>
        </p:txBody>
      </p:sp>
      <p:sp>
        <p:nvSpPr>
          <p:cNvPr id="22" name="Text 17"/>
          <p:cNvSpPr/>
          <p:nvPr/>
        </p:nvSpPr>
        <p:spPr>
          <a:xfrm>
            <a:off x="6675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Remove access the moment it's no longer needed.</a:t>
            </a:r>
            <a:endParaRPr lang="en-US" sz="1250" dirty="0"/>
          </a:p>
        </p:txBody>
      </p:sp>
      <p:sp>
        <p:nvSpPr>
          <p:cNvPr id="23" name="Shape 18"/>
          <p:cNvSpPr/>
          <p:nvPr/>
        </p:nvSpPr>
        <p:spPr>
          <a:xfrm>
            <a:off x="6720840" y="3767328"/>
            <a:ext cx="128016" cy="128016"/>
          </a:xfrm>
          <a:prstGeom prst="ellipse">
            <a:avLst/>
          </a:prstGeom>
          <a:solidFill>
            <a:srgbClr val="E8403A"/>
          </a:solidFill>
          <a:ln/>
        </p:spPr>
      </p:sp>
      <p:sp>
        <p:nvSpPr>
          <p:cNvPr id="24" name="Text 19"/>
          <p:cNvSpPr/>
          <p:nvPr/>
        </p:nvSpPr>
        <p:spPr>
          <a:xfrm>
            <a:off x="6995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The most-neglected step — </a:t>
            </a:r>
            <a:pPr indent="0" marL="0">
              <a:buNone/>
            </a:pPr>
            <a:r>
              <a:rPr lang="en-US" sz="1250" dirty="0">
                <a:solidFill>
                  <a:srgbClr val="5B6472"/>
                </a:solidFill>
                <a:latin typeface="Calibri" pitchFamily="34" charset="0"/>
                <a:ea typeface="Calibri" pitchFamily="34" charset="-122"/>
                <a:cs typeface="Calibri" pitchFamily="34" charset="-120"/>
              </a:rPr>
              <a:t>orphaned accounts</a:t>
            </a:r>
            <a:endParaRPr lang="en-US" sz="1250" dirty="0"/>
          </a:p>
        </p:txBody>
      </p:sp>
      <p:sp>
        <p:nvSpPr>
          <p:cNvPr id="25" name="Shape 20"/>
          <p:cNvSpPr/>
          <p:nvPr/>
        </p:nvSpPr>
        <p:spPr>
          <a:xfrm>
            <a:off x="6720840" y="4334256"/>
            <a:ext cx="128016" cy="128016"/>
          </a:xfrm>
          <a:prstGeom prst="ellipse">
            <a:avLst/>
          </a:prstGeom>
          <a:solidFill>
            <a:srgbClr val="E8403A"/>
          </a:solidFill>
          <a:ln/>
        </p:spPr>
      </p:sp>
      <p:sp>
        <p:nvSpPr>
          <p:cNvPr id="26" name="Text 21"/>
          <p:cNvSpPr/>
          <p:nvPr/>
        </p:nvSpPr>
        <p:spPr>
          <a:xfrm>
            <a:off x="6995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Revoke promptly &amp; completely — </a:t>
            </a:r>
            <a:pPr indent="0" marL="0">
              <a:buNone/>
            </a:pPr>
            <a:endParaRPr lang="en-US" sz="1250" dirty="0"/>
          </a:p>
        </p:txBody>
      </p:sp>
      <p:sp>
        <p:nvSpPr>
          <p:cNvPr id="27" name="Shape 22"/>
          <p:cNvSpPr/>
          <p:nvPr/>
        </p:nvSpPr>
        <p:spPr>
          <a:xfrm>
            <a:off x="6720840" y="4901184"/>
            <a:ext cx="128016" cy="128016"/>
          </a:xfrm>
          <a:prstGeom prst="ellipse">
            <a:avLst/>
          </a:prstGeom>
          <a:solidFill>
            <a:srgbClr val="E8403A"/>
          </a:solidFill>
          <a:ln/>
        </p:spPr>
      </p:sp>
      <p:sp>
        <p:nvSpPr>
          <p:cNvPr id="28" name="Text 23"/>
          <p:cNvSpPr/>
          <p:nvPr/>
        </p:nvSpPr>
        <p:spPr>
          <a:xfrm>
            <a:off x="6995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Trigger on HR / project events — </a:t>
            </a:r>
            <a:pPr indent="0" marL="0">
              <a:buNone/>
            </a:pP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AT SCALE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Automated &amp; just-in-time provisioning</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Automated provisioning</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Sync identities from HR/directory (SCIM) — join/move/leave flows automatically.</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Just-in-time access</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Grant access only when needed, for a limited time — no idle standing access.</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Access reviews</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Periodic recertification confirms access is still warranted.</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400" i="1" dirty="0">
                <a:solidFill>
                  <a:srgbClr val="262F65"/>
                </a:solidFill>
                <a:latin typeface="Calibri" pitchFamily="34" charset="0"/>
                <a:ea typeface="Calibri" pitchFamily="34" charset="-122"/>
                <a:cs typeface="Calibri" pitchFamily="34" charset="-120"/>
              </a:rPr>
              <a:t>Automation makes the lifecycle correct, timely and auditable — humans forget to deprovision.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03</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3</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Single Sign-On (SSO)</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ONE LOGIN, MANY SERVICES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What is single sign-on?</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
        <p:nvSpPr>
          <p:cNvPr id="7" name="Shape 4"/>
          <p:cNvSpPr/>
          <p:nvPr/>
        </p:nvSpPr>
        <p:spPr>
          <a:xfrm>
            <a:off x="640080" y="1691640"/>
            <a:ext cx="1143000" cy="1143000"/>
          </a:xfrm>
          <a:prstGeom prst="ellipse">
            <a:avLst/>
          </a:prstGeom>
          <a:solidFill>
            <a:srgbClr val="262F65"/>
          </a:solidFill>
          <a:ln/>
        </p:spPr>
      </p:sp>
      <p:pic>
        <p:nvPicPr>
          <p:cNvPr id="8" name="Image 0" descr="preencoded.png">    </p:cNvPr>
          <p:cNvPicPr>
            <a:picLocks noChangeAspect="1"/>
          </p:cNvPicPr>
          <p:nvPr/>
        </p:nvPicPr>
        <p:blipFill>
          <a:blip r:embed="rId1"/>
          <a:stretch>
            <a:fillRect/>
          </a:stretch>
        </p:blipFill>
        <p:spPr>
          <a:xfrm>
            <a:off x="914400" y="1965960"/>
            <a:ext cx="594360" cy="594360"/>
          </a:xfrm>
          <a:prstGeom prst="rect">
            <a:avLst/>
          </a:prstGeom>
        </p:spPr>
      </p:pic>
      <p:sp>
        <p:nvSpPr>
          <p:cNvPr id="9" name="Text 5"/>
          <p:cNvSpPr/>
          <p:nvPr/>
        </p:nvSpPr>
        <p:spPr>
          <a:xfrm>
            <a:off x="2148840" y="1783080"/>
            <a:ext cx="9418320" cy="914400"/>
          </a:xfrm>
          <a:prstGeom prst="rect">
            <a:avLst/>
          </a:prstGeom>
          <a:noFill/>
          <a:ln/>
        </p:spPr>
        <p:txBody>
          <a:bodyPr wrap="square" lIns="0" tIns="0" rIns="0" bIns="0" rtlCol="0" anchor="t"/>
          <a:lstStyle/>
          <a:p>
            <a:pPr indent="0" marL="0">
              <a:buNone/>
            </a:pPr>
            <a:r>
              <a:rPr lang="en-US" sz="1650" dirty="0">
                <a:solidFill>
                  <a:srgbClr val="23283A"/>
                </a:solidFill>
                <a:latin typeface="Calibri" pitchFamily="34" charset="0"/>
                <a:ea typeface="Calibri" pitchFamily="34" charset="-122"/>
                <a:cs typeface="Calibri" pitchFamily="34" charset="-120"/>
              </a:rPr>
              <a:t>Authenticate once, then reach many applications without logging in again.</a:t>
            </a:r>
            <a:endParaRPr lang="en-US" sz="1650" dirty="0"/>
          </a:p>
        </p:txBody>
      </p:sp>
      <p:sp>
        <p:nvSpPr>
          <p:cNvPr id="10" name="Shape 6"/>
          <p:cNvSpPr/>
          <p:nvPr/>
        </p:nvSpPr>
        <p:spPr>
          <a:xfrm>
            <a:off x="640080" y="3017520"/>
            <a:ext cx="3466490" cy="2011680"/>
          </a:xfrm>
          <a:prstGeom prst="roundRect">
            <a:avLst>
              <a:gd name="adj" fmla="val 4091"/>
            </a:avLst>
          </a:prstGeom>
          <a:solidFill>
            <a:srgbClr val="F4F6FB"/>
          </a:solidFill>
          <a:ln/>
          <a:effectLst>
            <a:outerShdw sx="100000" sy="100000" kx="0" ky="0" algn="bl" rotWithShape="0" blurRad="88900" dist="38100" dir="5400000">
              <a:srgbClr val="8894AD">
                <a:alpha val="28000"/>
              </a:srgbClr>
            </a:outerShdw>
          </a:effectLst>
        </p:spPr>
      </p:sp>
      <p:sp>
        <p:nvSpPr>
          <p:cNvPr id="11" name="Shape 7"/>
          <p:cNvSpPr/>
          <p:nvPr/>
        </p:nvSpPr>
        <p:spPr>
          <a:xfrm>
            <a:off x="1916125" y="3337560"/>
            <a:ext cx="914400" cy="914400"/>
          </a:xfrm>
          <a:prstGeom prst="ellipse">
            <a:avLst/>
          </a:prstGeom>
          <a:solidFill>
            <a:srgbClr val="262F65"/>
          </a:solidFill>
          <a:ln/>
        </p:spPr>
      </p:sp>
      <p:pic>
        <p:nvPicPr>
          <p:cNvPr id="12" name="Image 1" descr="preencoded.png">    </p:cNvPr>
          <p:cNvPicPr>
            <a:picLocks noChangeAspect="1"/>
          </p:cNvPicPr>
          <p:nvPr/>
        </p:nvPicPr>
        <p:blipFill>
          <a:blip r:embed="rId2"/>
          <a:stretch>
            <a:fillRect/>
          </a:stretch>
        </p:blipFill>
        <p:spPr>
          <a:xfrm>
            <a:off x="2135581" y="3557016"/>
            <a:ext cx="475488" cy="475488"/>
          </a:xfrm>
          <a:prstGeom prst="rect">
            <a:avLst/>
          </a:prstGeom>
        </p:spPr>
      </p:pic>
      <p:sp>
        <p:nvSpPr>
          <p:cNvPr id="13" name="Text 8"/>
          <p:cNvSpPr/>
          <p:nvPr/>
        </p:nvSpPr>
        <p:spPr>
          <a:xfrm>
            <a:off x="749808" y="438912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Fewer passwords</a:t>
            </a:r>
            <a:endParaRPr lang="en-US" sz="1700" dirty="0"/>
          </a:p>
        </p:txBody>
      </p:sp>
      <p:sp>
        <p:nvSpPr>
          <p:cNvPr id="14" name="Text 9"/>
          <p:cNvSpPr/>
          <p:nvPr/>
        </p:nvSpPr>
        <p:spPr>
          <a:xfrm>
            <a:off x="804672" y="5029200"/>
            <a:ext cx="3137306" cy="-914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Less reuse, fewer weak credentials.</a:t>
            </a:r>
            <a:endParaRPr lang="en-US" sz="1250" dirty="0"/>
          </a:p>
        </p:txBody>
      </p:sp>
      <p:sp>
        <p:nvSpPr>
          <p:cNvPr id="15" name="Shape 10"/>
          <p:cNvSpPr/>
          <p:nvPr/>
        </p:nvSpPr>
        <p:spPr>
          <a:xfrm>
            <a:off x="4362602" y="3017520"/>
            <a:ext cx="3466490" cy="2011680"/>
          </a:xfrm>
          <a:prstGeom prst="roundRect">
            <a:avLst>
              <a:gd name="adj" fmla="val 4091"/>
            </a:avLst>
          </a:prstGeom>
          <a:solidFill>
            <a:srgbClr val="F4F6FB"/>
          </a:solidFill>
          <a:ln/>
          <a:effectLst>
            <a:outerShdw sx="100000" sy="100000" kx="0" ky="0" algn="bl" rotWithShape="0" blurRad="88900" dist="38100" dir="5400000">
              <a:srgbClr val="8894AD">
                <a:alpha val="28000"/>
              </a:srgbClr>
            </a:outerShdw>
          </a:effectLst>
        </p:spPr>
      </p:sp>
      <p:sp>
        <p:nvSpPr>
          <p:cNvPr id="16" name="Shape 11"/>
          <p:cNvSpPr/>
          <p:nvPr/>
        </p:nvSpPr>
        <p:spPr>
          <a:xfrm>
            <a:off x="5638648" y="3337560"/>
            <a:ext cx="914400" cy="914400"/>
          </a:xfrm>
          <a:prstGeom prst="ellipse">
            <a:avLst/>
          </a:prstGeom>
          <a:solidFill>
            <a:srgbClr val="F2931F"/>
          </a:solidFill>
          <a:ln/>
        </p:spPr>
      </p:sp>
      <p:pic>
        <p:nvPicPr>
          <p:cNvPr id="17" name="Image 2" descr="preencoded.png">    </p:cNvPr>
          <p:cNvPicPr>
            <a:picLocks noChangeAspect="1"/>
          </p:cNvPicPr>
          <p:nvPr/>
        </p:nvPicPr>
        <p:blipFill>
          <a:blip r:embed="rId3"/>
          <a:stretch>
            <a:fillRect/>
          </a:stretch>
        </p:blipFill>
        <p:spPr>
          <a:xfrm>
            <a:off x="5858104" y="3557016"/>
            <a:ext cx="475488" cy="475488"/>
          </a:xfrm>
          <a:prstGeom prst="rect">
            <a:avLst/>
          </a:prstGeom>
        </p:spPr>
      </p:pic>
      <p:sp>
        <p:nvSpPr>
          <p:cNvPr id="18" name="Text 12"/>
          <p:cNvSpPr/>
          <p:nvPr/>
        </p:nvSpPr>
        <p:spPr>
          <a:xfrm>
            <a:off x="4472330" y="438912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One strong door</a:t>
            </a:r>
            <a:endParaRPr lang="en-US" sz="1700" dirty="0"/>
          </a:p>
        </p:txBody>
      </p:sp>
      <p:sp>
        <p:nvSpPr>
          <p:cNvPr id="19" name="Text 13"/>
          <p:cNvSpPr/>
          <p:nvPr/>
        </p:nvSpPr>
        <p:spPr>
          <a:xfrm>
            <a:off x="4527194" y="5029200"/>
            <a:ext cx="3137306" cy="-914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Concentrate MFA on one login point.</a:t>
            </a:r>
            <a:endParaRPr lang="en-US" sz="1250" dirty="0"/>
          </a:p>
        </p:txBody>
      </p:sp>
      <p:sp>
        <p:nvSpPr>
          <p:cNvPr id="20" name="Shape 14"/>
          <p:cNvSpPr/>
          <p:nvPr/>
        </p:nvSpPr>
        <p:spPr>
          <a:xfrm>
            <a:off x="8085125" y="3017520"/>
            <a:ext cx="3466490" cy="2011680"/>
          </a:xfrm>
          <a:prstGeom prst="roundRect">
            <a:avLst>
              <a:gd name="adj" fmla="val 4091"/>
            </a:avLst>
          </a:prstGeom>
          <a:solidFill>
            <a:srgbClr val="F4F6FB"/>
          </a:solidFill>
          <a:ln/>
          <a:effectLst>
            <a:outerShdw sx="100000" sy="100000" kx="0" ky="0" algn="bl" rotWithShape="0" blurRad="88900" dist="38100" dir="5400000">
              <a:srgbClr val="8894AD">
                <a:alpha val="28000"/>
              </a:srgbClr>
            </a:outerShdw>
          </a:effectLst>
        </p:spPr>
      </p:sp>
      <p:sp>
        <p:nvSpPr>
          <p:cNvPr id="21" name="Shape 15"/>
          <p:cNvSpPr/>
          <p:nvPr/>
        </p:nvSpPr>
        <p:spPr>
          <a:xfrm>
            <a:off x="9361170" y="3337560"/>
            <a:ext cx="914400" cy="914400"/>
          </a:xfrm>
          <a:prstGeom prst="ellipse">
            <a:avLst/>
          </a:prstGeom>
          <a:solidFill>
            <a:srgbClr val="E8403A"/>
          </a:solidFill>
          <a:ln/>
        </p:spPr>
      </p:sp>
      <p:pic>
        <p:nvPicPr>
          <p:cNvPr id="22" name="Image 3" descr="preencoded.png">    </p:cNvPr>
          <p:cNvPicPr>
            <a:picLocks noChangeAspect="1"/>
          </p:cNvPicPr>
          <p:nvPr/>
        </p:nvPicPr>
        <p:blipFill>
          <a:blip r:embed="rId4"/>
          <a:stretch>
            <a:fillRect/>
          </a:stretch>
        </p:blipFill>
        <p:spPr>
          <a:xfrm>
            <a:off x="9580626" y="3557016"/>
            <a:ext cx="475488" cy="475488"/>
          </a:xfrm>
          <a:prstGeom prst="rect">
            <a:avLst/>
          </a:prstGeom>
        </p:spPr>
      </p:pic>
      <p:sp>
        <p:nvSpPr>
          <p:cNvPr id="23" name="Text 16"/>
          <p:cNvSpPr/>
          <p:nvPr/>
        </p:nvSpPr>
        <p:spPr>
          <a:xfrm>
            <a:off x="8194853" y="438912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High-value target</a:t>
            </a:r>
            <a:endParaRPr lang="en-US" sz="1700" dirty="0"/>
          </a:p>
        </p:txBody>
      </p:sp>
      <p:sp>
        <p:nvSpPr>
          <p:cNvPr id="24" name="Text 17"/>
          <p:cNvSpPr/>
          <p:nvPr/>
        </p:nvSpPr>
        <p:spPr>
          <a:xfrm>
            <a:off x="8249717" y="5029200"/>
            <a:ext cx="3137306" cy="-914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Protect it well — its breach exposes many apps.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HOW IT WORKS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SSO token flow</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640080" y="2194560"/>
            <a:ext cx="2606040" cy="2286000"/>
          </a:xfrm>
          <a:prstGeom prst="roundRect">
            <a:avLst>
              <a:gd name="adj" fmla="val 3600"/>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531620" y="2468880"/>
            <a:ext cx="822960" cy="82296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729130" y="2666390"/>
            <a:ext cx="427939" cy="427939"/>
          </a:xfrm>
          <a:prstGeom prst="rect">
            <a:avLst/>
          </a:prstGeom>
        </p:spPr>
      </p:pic>
      <p:sp>
        <p:nvSpPr>
          <p:cNvPr id="10" name="Text 6"/>
          <p:cNvSpPr/>
          <p:nvPr/>
        </p:nvSpPr>
        <p:spPr>
          <a:xfrm>
            <a:off x="777240" y="3383280"/>
            <a:ext cx="2331720" cy="457200"/>
          </a:xfrm>
          <a:prstGeom prst="rect">
            <a:avLst/>
          </a:prstGeom>
          <a:noFill/>
          <a:ln/>
        </p:spPr>
        <p:txBody>
          <a:bodyPr wrap="square" lIns="0" tIns="0" rIns="0" bIns="0" rtlCol="0" anchor="t"/>
          <a:lstStyle/>
          <a:p>
            <a:pPr algn="ctr" indent="0" marL="0">
              <a:buNone/>
            </a:pPr>
            <a:r>
              <a:rPr lang="en-US" sz="1350" b="1" dirty="0">
                <a:solidFill>
                  <a:srgbClr val="262F65"/>
                </a:solidFill>
                <a:latin typeface="Calibri" pitchFamily="34" charset="0"/>
                <a:ea typeface="Calibri" pitchFamily="34" charset="-122"/>
                <a:cs typeface="Calibri" pitchFamily="34" charset="-120"/>
              </a:rPr>
              <a:t>1. Request app</a:t>
            </a:r>
            <a:endParaRPr lang="en-US" sz="1350" dirty="0"/>
          </a:p>
        </p:txBody>
      </p:sp>
      <p:sp>
        <p:nvSpPr>
          <p:cNvPr id="11" name="Text 7"/>
          <p:cNvSpPr/>
          <p:nvPr/>
        </p:nvSpPr>
        <p:spPr>
          <a:xfrm>
            <a:off x="822960" y="3840480"/>
            <a:ext cx="2240280" cy="594360"/>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User visits a service; redirected to the IdP.</a:t>
            </a:r>
            <a:endParaRPr lang="en-US" sz="1150" dirty="0"/>
          </a:p>
        </p:txBody>
      </p:sp>
      <p:sp>
        <p:nvSpPr>
          <p:cNvPr id="12" name="Text 8"/>
          <p:cNvSpPr/>
          <p:nvPr/>
        </p:nvSpPr>
        <p:spPr>
          <a:xfrm>
            <a:off x="3209544" y="3017520"/>
            <a:ext cx="219456" cy="548640"/>
          </a:xfrm>
          <a:prstGeom prst="rect">
            <a:avLst/>
          </a:prstGeom>
          <a:noFill/>
          <a:ln/>
        </p:spPr>
        <p:txBody>
          <a:bodyPr wrap="square" lIns="0" tIns="0" rIns="0" bIns="0" rtlCol="0" anchor="ctr"/>
          <a:lstStyle/>
          <a:p>
            <a:pPr algn="ctr" indent="0" marL="0">
              <a:buNone/>
            </a:pPr>
            <a:r>
              <a:rPr lang="en-US" sz="2200" b="1" dirty="0">
                <a:solidFill>
                  <a:srgbClr val="5B6472"/>
                </a:solidFill>
                <a:latin typeface="Calibri" pitchFamily="34" charset="0"/>
                <a:ea typeface="Calibri" pitchFamily="34" charset="-122"/>
                <a:cs typeface="Calibri" pitchFamily="34" charset="-120"/>
              </a:rPr>
              <a:t>→</a:t>
            </a:r>
            <a:endParaRPr lang="en-US" sz="2200" dirty="0"/>
          </a:p>
        </p:txBody>
      </p:sp>
      <p:sp>
        <p:nvSpPr>
          <p:cNvPr id="13" name="Shape 9"/>
          <p:cNvSpPr/>
          <p:nvPr/>
        </p:nvSpPr>
        <p:spPr>
          <a:xfrm>
            <a:off x="3502152" y="2194560"/>
            <a:ext cx="2606040" cy="2286000"/>
          </a:xfrm>
          <a:prstGeom prst="roundRect">
            <a:avLst>
              <a:gd name="adj" fmla="val 3600"/>
            </a:avLst>
          </a:prstGeom>
          <a:solidFill>
            <a:srgbClr val="F4F6FB"/>
          </a:solidFill>
          <a:ln/>
          <a:effectLst>
            <a:outerShdw sx="100000" sy="100000" kx="0" ky="0" algn="bl" rotWithShape="0" blurRad="88900" dist="38100" dir="5400000">
              <a:srgbClr val="8894AD">
                <a:alpha val="28000"/>
              </a:srgbClr>
            </a:outerShdw>
          </a:effectLst>
        </p:spPr>
      </p:sp>
      <p:sp>
        <p:nvSpPr>
          <p:cNvPr id="14" name="Shape 10"/>
          <p:cNvSpPr/>
          <p:nvPr/>
        </p:nvSpPr>
        <p:spPr>
          <a:xfrm>
            <a:off x="4393692" y="2468880"/>
            <a:ext cx="822960" cy="822960"/>
          </a:xfrm>
          <a:prstGeom prst="ellipse">
            <a:avLst/>
          </a:prstGeom>
          <a:solidFill>
            <a:srgbClr val="F2931F"/>
          </a:solidFill>
          <a:ln/>
        </p:spPr>
      </p:sp>
      <p:pic>
        <p:nvPicPr>
          <p:cNvPr id="15" name="Image 1" descr="preencoded.png">    </p:cNvPr>
          <p:cNvPicPr>
            <a:picLocks noChangeAspect="1"/>
          </p:cNvPicPr>
          <p:nvPr/>
        </p:nvPicPr>
        <p:blipFill>
          <a:blip r:embed="rId2"/>
          <a:stretch>
            <a:fillRect/>
          </a:stretch>
        </p:blipFill>
        <p:spPr>
          <a:xfrm>
            <a:off x="4591202" y="2666390"/>
            <a:ext cx="427939" cy="427939"/>
          </a:xfrm>
          <a:prstGeom prst="rect">
            <a:avLst/>
          </a:prstGeom>
        </p:spPr>
      </p:pic>
      <p:sp>
        <p:nvSpPr>
          <p:cNvPr id="16" name="Text 11"/>
          <p:cNvSpPr/>
          <p:nvPr/>
        </p:nvSpPr>
        <p:spPr>
          <a:xfrm>
            <a:off x="3639312" y="3383280"/>
            <a:ext cx="2331720" cy="457200"/>
          </a:xfrm>
          <a:prstGeom prst="rect">
            <a:avLst/>
          </a:prstGeom>
          <a:noFill/>
          <a:ln/>
        </p:spPr>
        <p:txBody>
          <a:bodyPr wrap="square" lIns="0" tIns="0" rIns="0" bIns="0" rtlCol="0" anchor="t"/>
          <a:lstStyle/>
          <a:p>
            <a:pPr algn="ctr" indent="0" marL="0">
              <a:buNone/>
            </a:pPr>
            <a:r>
              <a:rPr lang="en-US" sz="1350" b="1" dirty="0">
                <a:solidFill>
                  <a:srgbClr val="262F65"/>
                </a:solidFill>
                <a:latin typeface="Calibri" pitchFamily="34" charset="0"/>
                <a:ea typeface="Calibri" pitchFamily="34" charset="-122"/>
                <a:cs typeface="Calibri" pitchFamily="34" charset="-120"/>
              </a:rPr>
              <a:t>2. Authenticate</a:t>
            </a:r>
            <a:endParaRPr lang="en-US" sz="1350" dirty="0"/>
          </a:p>
        </p:txBody>
      </p:sp>
      <p:sp>
        <p:nvSpPr>
          <p:cNvPr id="17" name="Text 12"/>
          <p:cNvSpPr/>
          <p:nvPr/>
        </p:nvSpPr>
        <p:spPr>
          <a:xfrm>
            <a:off x="3685032" y="3840480"/>
            <a:ext cx="2240280" cy="594360"/>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IdP verifies identity once — password + MFA.</a:t>
            </a:r>
            <a:endParaRPr lang="en-US" sz="1150" dirty="0"/>
          </a:p>
        </p:txBody>
      </p:sp>
      <p:sp>
        <p:nvSpPr>
          <p:cNvPr id="18" name="Text 13"/>
          <p:cNvSpPr/>
          <p:nvPr/>
        </p:nvSpPr>
        <p:spPr>
          <a:xfrm>
            <a:off x="6071616" y="3017520"/>
            <a:ext cx="219456" cy="548640"/>
          </a:xfrm>
          <a:prstGeom prst="rect">
            <a:avLst/>
          </a:prstGeom>
          <a:noFill/>
          <a:ln/>
        </p:spPr>
        <p:txBody>
          <a:bodyPr wrap="square" lIns="0" tIns="0" rIns="0" bIns="0" rtlCol="0" anchor="ctr"/>
          <a:lstStyle/>
          <a:p>
            <a:pPr algn="ctr" indent="0" marL="0">
              <a:buNone/>
            </a:pPr>
            <a:r>
              <a:rPr lang="en-US" sz="2200" b="1" dirty="0">
                <a:solidFill>
                  <a:srgbClr val="5B6472"/>
                </a:solidFill>
                <a:latin typeface="Calibri" pitchFamily="34" charset="0"/>
                <a:ea typeface="Calibri" pitchFamily="34" charset="-122"/>
                <a:cs typeface="Calibri" pitchFamily="34" charset="-120"/>
              </a:rPr>
              <a:t>→</a:t>
            </a:r>
            <a:endParaRPr lang="en-US" sz="2200" dirty="0"/>
          </a:p>
        </p:txBody>
      </p:sp>
      <p:sp>
        <p:nvSpPr>
          <p:cNvPr id="19" name="Shape 14"/>
          <p:cNvSpPr/>
          <p:nvPr/>
        </p:nvSpPr>
        <p:spPr>
          <a:xfrm>
            <a:off x="6364224" y="2194560"/>
            <a:ext cx="2606040" cy="2286000"/>
          </a:xfrm>
          <a:prstGeom prst="roundRect">
            <a:avLst>
              <a:gd name="adj" fmla="val 3600"/>
            </a:avLst>
          </a:prstGeom>
          <a:solidFill>
            <a:srgbClr val="F4F6FB"/>
          </a:solidFill>
          <a:ln/>
          <a:effectLst>
            <a:outerShdw sx="100000" sy="100000" kx="0" ky="0" algn="bl" rotWithShape="0" blurRad="88900" dist="38100" dir="5400000">
              <a:srgbClr val="8894AD">
                <a:alpha val="28000"/>
              </a:srgbClr>
            </a:outerShdw>
          </a:effectLst>
        </p:spPr>
      </p:sp>
      <p:sp>
        <p:nvSpPr>
          <p:cNvPr id="20" name="Shape 15"/>
          <p:cNvSpPr/>
          <p:nvPr/>
        </p:nvSpPr>
        <p:spPr>
          <a:xfrm>
            <a:off x="7255764" y="2468880"/>
            <a:ext cx="822960" cy="822960"/>
          </a:xfrm>
          <a:prstGeom prst="ellipse">
            <a:avLst/>
          </a:prstGeom>
          <a:solidFill>
            <a:srgbClr val="293E7B"/>
          </a:solidFill>
          <a:ln/>
        </p:spPr>
      </p:sp>
      <p:pic>
        <p:nvPicPr>
          <p:cNvPr id="21" name="Image 2" descr="preencoded.png">    </p:cNvPr>
          <p:cNvPicPr>
            <a:picLocks noChangeAspect="1"/>
          </p:cNvPicPr>
          <p:nvPr/>
        </p:nvPicPr>
        <p:blipFill>
          <a:blip r:embed="rId3"/>
          <a:stretch>
            <a:fillRect/>
          </a:stretch>
        </p:blipFill>
        <p:spPr>
          <a:xfrm>
            <a:off x="7453274" y="2666390"/>
            <a:ext cx="427939" cy="427939"/>
          </a:xfrm>
          <a:prstGeom prst="rect">
            <a:avLst/>
          </a:prstGeom>
        </p:spPr>
      </p:pic>
      <p:sp>
        <p:nvSpPr>
          <p:cNvPr id="22" name="Text 16"/>
          <p:cNvSpPr/>
          <p:nvPr/>
        </p:nvSpPr>
        <p:spPr>
          <a:xfrm>
            <a:off x="6501384" y="3383280"/>
            <a:ext cx="2331720" cy="457200"/>
          </a:xfrm>
          <a:prstGeom prst="rect">
            <a:avLst/>
          </a:prstGeom>
          <a:noFill/>
          <a:ln/>
        </p:spPr>
        <p:txBody>
          <a:bodyPr wrap="square" lIns="0" tIns="0" rIns="0" bIns="0" rtlCol="0" anchor="t"/>
          <a:lstStyle/>
          <a:p>
            <a:pPr algn="ctr" indent="0" marL="0">
              <a:buNone/>
            </a:pPr>
            <a:r>
              <a:rPr lang="en-US" sz="1350" b="1" dirty="0">
                <a:solidFill>
                  <a:srgbClr val="262F65"/>
                </a:solidFill>
                <a:latin typeface="Calibri" pitchFamily="34" charset="0"/>
                <a:ea typeface="Calibri" pitchFamily="34" charset="-122"/>
                <a:cs typeface="Calibri" pitchFamily="34" charset="-120"/>
              </a:rPr>
              <a:t>3. Issue token</a:t>
            </a:r>
            <a:endParaRPr lang="en-US" sz="1350" dirty="0"/>
          </a:p>
        </p:txBody>
      </p:sp>
      <p:sp>
        <p:nvSpPr>
          <p:cNvPr id="23" name="Text 17"/>
          <p:cNvSpPr/>
          <p:nvPr/>
        </p:nvSpPr>
        <p:spPr>
          <a:xfrm>
            <a:off x="6547104" y="3840480"/>
            <a:ext cx="2240280" cy="594360"/>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IdP issues a signed security token.</a:t>
            </a:r>
            <a:endParaRPr lang="en-US" sz="1150" dirty="0"/>
          </a:p>
        </p:txBody>
      </p:sp>
      <p:sp>
        <p:nvSpPr>
          <p:cNvPr id="24" name="Text 18"/>
          <p:cNvSpPr/>
          <p:nvPr/>
        </p:nvSpPr>
        <p:spPr>
          <a:xfrm>
            <a:off x="8933688" y="3017520"/>
            <a:ext cx="219456" cy="548640"/>
          </a:xfrm>
          <a:prstGeom prst="rect">
            <a:avLst/>
          </a:prstGeom>
          <a:noFill/>
          <a:ln/>
        </p:spPr>
        <p:txBody>
          <a:bodyPr wrap="square" lIns="0" tIns="0" rIns="0" bIns="0" rtlCol="0" anchor="ctr"/>
          <a:lstStyle/>
          <a:p>
            <a:pPr algn="ctr" indent="0" marL="0">
              <a:buNone/>
            </a:pPr>
            <a:r>
              <a:rPr lang="en-US" sz="2200" b="1" dirty="0">
                <a:solidFill>
                  <a:srgbClr val="5B6472"/>
                </a:solidFill>
                <a:latin typeface="Calibri" pitchFamily="34" charset="0"/>
                <a:ea typeface="Calibri" pitchFamily="34" charset="-122"/>
                <a:cs typeface="Calibri" pitchFamily="34" charset="-120"/>
              </a:rPr>
              <a:t>→</a:t>
            </a:r>
            <a:endParaRPr lang="en-US" sz="2200" dirty="0"/>
          </a:p>
        </p:txBody>
      </p:sp>
      <p:sp>
        <p:nvSpPr>
          <p:cNvPr id="25" name="Shape 19"/>
          <p:cNvSpPr/>
          <p:nvPr/>
        </p:nvSpPr>
        <p:spPr>
          <a:xfrm>
            <a:off x="9226296" y="2194560"/>
            <a:ext cx="2606040" cy="2286000"/>
          </a:xfrm>
          <a:prstGeom prst="roundRect">
            <a:avLst>
              <a:gd name="adj" fmla="val 3600"/>
            </a:avLst>
          </a:prstGeom>
          <a:solidFill>
            <a:srgbClr val="F4F6FB"/>
          </a:solidFill>
          <a:ln/>
          <a:effectLst>
            <a:outerShdw sx="100000" sy="100000" kx="0" ky="0" algn="bl" rotWithShape="0" blurRad="88900" dist="38100" dir="5400000">
              <a:srgbClr val="8894AD">
                <a:alpha val="28000"/>
              </a:srgbClr>
            </a:outerShdw>
          </a:effectLst>
        </p:spPr>
      </p:sp>
      <p:sp>
        <p:nvSpPr>
          <p:cNvPr id="26" name="Shape 20"/>
          <p:cNvSpPr/>
          <p:nvPr/>
        </p:nvSpPr>
        <p:spPr>
          <a:xfrm>
            <a:off x="10117836" y="2468880"/>
            <a:ext cx="822960" cy="822960"/>
          </a:xfrm>
          <a:prstGeom prst="ellipse">
            <a:avLst/>
          </a:prstGeom>
          <a:solidFill>
            <a:srgbClr val="262F65"/>
          </a:solidFill>
          <a:ln/>
        </p:spPr>
      </p:sp>
      <p:pic>
        <p:nvPicPr>
          <p:cNvPr id="27" name="Image 3" descr="preencoded.png">    </p:cNvPr>
          <p:cNvPicPr>
            <a:picLocks noChangeAspect="1"/>
          </p:cNvPicPr>
          <p:nvPr/>
        </p:nvPicPr>
        <p:blipFill>
          <a:blip r:embed="rId4"/>
          <a:stretch>
            <a:fillRect/>
          </a:stretch>
        </p:blipFill>
        <p:spPr>
          <a:xfrm>
            <a:off x="10315346" y="2666390"/>
            <a:ext cx="427939" cy="427939"/>
          </a:xfrm>
          <a:prstGeom prst="rect">
            <a:avLst/>
          </a:prstGeom>
        </p:spPr>
      </p:pic>
      <p:sp>
        <p:nvSpPr>
          <p:cNvPr id="28" name="Text 21"/>
          <p:cNvSpPr/>
          <p:nvPr/>
        </p:nvSpPr>
        <p:spPr>
          <a:xfrm>
            <a:off x="9363456" y="3383280"/>
            <a:ext cx="2331720" cy="457200"/>
          </a:xfrm>
          <a:prstGeom prst="rect">
            <a:avLst/>
          </a:prstGeom>
          <a:noFill/>
          <a:ln/>
        </p:spPr>
        <p:txBody>
          <a:bodyPr wrap="square" lIns="0" tIns="0" rIns="0" bIns="0" rtlCol="0" anchor="t"/>
          <a:lstStyle/>
          <a:p>
            <a:pPr algn="ctr" indent="0" marL="0">
              <a:buNone/>
            </a:pPr>
            <a:r>
              <a:rPr lang="en-US" sz="1350" b="1" dirty="0">
                <a:solidFill>
                  <a:srgbClr val="262F65"/>
                </a:solidFill>
                <a:latin typeface="Calibri" pitchFamily="34" charset="0"/>
                <a:ea typeface="Calibri" pitchFamily="34" charset="-122"/>
                <a:cs typeface="Calibri" pitchFamily="34" charset="-120"/>
              </a:rPr>
              <a:t>4. Access granted</a:t>
            </a:r>
            <a:endParaRPr lang="en-US" sz="1350" dirty="0"/>
          </a:p>
        </p:txBody>
      </p:sp>
      <p:sp>
        <p:nvSpPr>
          <p:cNvPr id="29" name="Text 22"/>
          <p:cNvSpPr/>
          <p:nvPr/>
        </p:nvSpPr>
        <p:spPr>
          <a:xfrm>
            <a:off x="9409176" y="3840480"/>
            <a:ext cx="2240280" cy="594360"/>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App trusts the token — no second login.</a:t>
            </a:r>
            <a:endParaRPr lang="en-US" sz="1150" dirty="0"/>
          </a:p>
        </p:txBody>
      </p:sp>
      <p:sp>
        <p:nvSpPr>
          <p:cNvPr id="30" name="Text 23"/>
          <p:cNvSpPr/>
          <p:nvPr/>
        </p:nvSpPr>
        <p:spPr>
          <a:xfrm>
            <a:off x="640080" y="4846320"/>
            <a:ext cx="10881360" cy="457200"/>
          </a:xfrm>
          <a:prstGeom prst="rect">
            <a:avLst/>
          </a:prstGeom>
          <a:noFill/>
          <a:ln/>
        </p:spPr>
        <p:txBody>
          <a:bodyPr wrap="square" lIns="0" tIns="0" rIns="0" bIns="0" rtlCol="0" anchor="ctr"/>
          <a:lstStyle/>
          <a:p>
            <a:pPr algn="ctr" indent="0" marL="0">
              <a:buNone/>
            </a:pPr>
            <a:r>
              <a:rPr lang="en-US" sz="1400" i="1" dirty="0">
                <a:solidFill>
                  <a:srgbClr val="262F65"/>
                </a:solidFill>
                <a:latin typeface="Calibri" pitchFamily="34" charset="0"/>
                <a:ea typeface="Calibri" pitchFamily="34" charset="-122"/>
                <a:cs typeface="Calibri" pitchFamily="34" charset="-120"/>
              </a:rPr>
              <a:t>The token is signed and time-limited — trust in its signature (PKI) is what makes SSO work.</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04</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4</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Identity Federation</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TRUST ACROSS BOUNDARIES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What is identity federation?</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640080" y="1691640"/>
            <a:ext cx="1143000" cy="1143000"/>
          </a:xfrm>
          <a:prstGeom prst="ellipse">
            <a:avLst/>
          </a:prstGeom>
          <a:solidFill>
            <a:srgbClr val="262F65"/>
          </a:solidFill>
          <a:ln/>
        </p:spPr>
      </p:sp>
      <p:pic>
        <p:nvPicPr>
          <p:cNvPr id="8" name="Image 0" descr="preencoded.png">    </p:cNvPr>
          <p:cNvPicPr>
            <a:picLocks noChangeAspect="1"/>
          </p:cNvPicPr>
          <p:nvPr/>
        </p:nvPicPr>
        <p:blipFill>
          <a:blip r:embed="rId1"/>
          <a:stretch>
            <a:fillRect/>
          </a:stretch>
        </p:blipFill>
        <p:spPr>
          <a:xfrm>
            <a:off x="914400" y="1965960"/>
            <a:ext cx="594360" cy="594360"/>
          </a:xfrm>
          <a:prstGeom prst="rect">
            <a:avLst/>
          </a:prstGeom>
        </p:spPr>
      </p:pic>
      <p:sp>
        <p:nvSpPr>
          <p:cNvPr id="9" name="Text 5"/>
          <p:cNvSpPr/>
          <p:nvPr/>
        </p:nvSpPr>
        <p:spPr>
          <a:xfrm>
            <a:off x="2148840" y="1783080"/>
            <a:ext cx="9418320" cy="960120"/>
          </a:xfrm>
          <a:prstGeom prst="rect">
            <a:avLst/>
          </a:prstGeom>
          <a:noFill/>
          <a:ln/>
        </p:spPr>
        <p:txBody>
          <a:bodyPr wrap="square" lIns="0" tIns="0" rIns="0" bIns="0" rtlCol="0" anchor="t"/>
          <a:lstStyle/>
          <a:p>
            <a:pPr indent="0" marL="0">
              <a:buNone/>
            </a:pPr>
            <a:r>
              <a:rPr lang="en-US" sz="1650" dirty="0">
                <a:solidFill>
                  <a:srgbClr val="23283A"/>
                </a:solidFill>
                <a:latin typeface="Calibri" pitchFamily="34" charset="0"/>
                <a:ea typeface="Calibri" pitchFamily="34" charset="-122"/>
                <a:cs typeface="Calibri" pitchFamily="34" charset="-120"/>
              </a:rPr>
              <a:t>One organisation trusts another's authentication — users' home identities work across the boundary.</a:t>
            </a:r>
            <a:endParaRPr lang="en-US" sz="1650" dirty="0"/>
          </a:p>
        </p:txBody>
      </p:sp>
      <p:sp>
        <p:nvSpPr>
          <p:cNvPr id="10" name="Shape 6"/>
          <p:cNvSpPr/>
          <p:nvPr/>
        </p:nvSpPr>
        <p:spPr>
          <a:xfrm>
            <a:off x="640080" y="2880360"/>
            <a:ext cx="5349240" cy="2880360"/>
          </a:xfrm>
          <a:prstGeom prst="roundRect">
            <a:avLst>
              <a:gd name="adj" fmla="val 2857"/>
            </a:avLst>
          </a:prstGeom>
          <a:solidFill>
            <a:srgbClr val="F4F6FB"/>
          </a:solidFill>
          <a:ln/>
          <a:effectLst>
            <a:outerShdw sx="100000" sy="100000" kx="0" ky="0" algn="bl" rotWithShape="0" blurRad="88900" dist="38100" dir="5400000">
              <a:srgbClr val="8894AD">
                <a:alpha val="28000"/>
              </a:srgbClr>
            </a:outerShdw>
          </a:effectLst>
        </p:spPr>
      </p:sp>
      <p:sp>
        <p:nvSpPr>
          <p:cNvPr id="11" name="Shape 7"/>
          <p:cNvSpPr/>
          <p:nvPr/>
        </p:nvSpPr>
        <p:spPr>
          <a:xfrm>
            <a:off x="960120" y="3200400"/>
            <a:ext cx="868680" cy="868680"/>
          </a:xfrm>
          <a:prstGeom prst="ellipse">
            <a:avLst/>
          </a:prstGeom>
          <a:solidFill>
            <a:srgbClr val="262F65"/>
          </a:solidFill>
          <a:ln/>
        </p:spPr>
      </p:sp>
      <p:pic>
        <p:nvPicPr>
          <p:cNvPr id="12" name="Image 1" descr="preencoded.png">    </p:cNvPr>
          <p:cNvPicPr>
            <a:picLocks noChangeAspect="1"/>
          </p:cNvPicPr>
          <p:nvPr/>
        </p:nvPicPr>
        <p:blipFill>
          <a:blip r:embed="rId2"/>
          <a:stretch>
            <a:fillRect/>
          </a:stretch>
        </p:blipFill>
        <p:spPr>
          <a:xfrm>
            <a:off x="1168603" y="3408883"/>
            <a:ext cx="451714" cy="451714"/>
          </a:xfrm>
          <a:prstGeom prst="rect">
            <a:avLst/>
          </a:prstGeom>
        </p:spPr>
      </p:pic>
      <p:sp>
        <p:nvSpPr>
          <p:cNvPr id="13" name="Text 8"/>
          <p:cNvSpPr/>
          <p:nvPr/>
        </p:nvSpPr>
        <p:spPr>
          <a:xfrm>
            <a:off x="2011680" y="3264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Identity Provider (IdP)</a:t>
            </a:r>
            <a:endParaRPr lang="en-US" sz="1550" dirty="0"/>
          </a:p>
        </p:txBody>
      </p:sp>
      <p:sp>
        <p:nvSpPr>
          <p:cNvPr id="14" name="Text 9"/>
          <p:cNvSpPr/>
          <p:nvPr/>
        </p:nvSpPr>
        <p:spPr>
          <a:xfrm>
            <a:off x="960120" y="4160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Authenticates users and vouches for them.</a:t>
            </a:r>
            <a:endParaRPr lang="en-US" sz="1250" dirty="0"/>
          </a:p>
        </p:txBody>
      </p:sp>
      <p:sp>
        <p:nvSpPr>
          <p:cNvPr id="15" name="Shape 10"/>
          <p:cNvSpPr/>
          <p:nvPr/>
        </p:nvSpPr>
        <p:spPr>
          <a:xfrm>
            <a:off x="1005840" y="4910328"/>
            <a:ext cx="128016" cy="128016"/>
          </a:xfrm>
          <a:prstGeom prst="ellipse">
            <a:avLst/>
          </a:prstGeom>
          <a:solidFill>
            <a:srgbClr val="262F65"/>
          </a:solidFill>
          <a:ln/>
        </p:spPr>
      </p:sp>
      <p:sp>
        <p:nvSpPr>
          <p:cNvPr id="16" name="Text 11"/>
          <p:cNvSpPr/>
          <p:nvPr/>
        </p:nvSpPr>
        <p:spPr>
          <a:xfrm>
            <a:off x="1280160" y="4846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Your home domain — </a:t>
            </a:r>
            <a:pPr indent="0" marL="0">
              <a:buNone/>
            </a:pPr>
            <a:r>
              <a:rPr lang="en-US" sz="1250" dirty="0">
                <a:solidFill>
                  <a:srgbClr val="5B6472"/>
                </a:solidFill>
                <a:latin typeface="Calibri" pitchFamily="34" charset="0"/>
                <a:ea typeface="Calibri" pitchFamily="34" charset="-122"/>
                <a:cs typeface="Calibri" pitchFamily="34" charset="-120"/>
              </a:rPr>
              <a:t>e.g. Google, corporate directory</a:t>
            </a:r>
            <a:endParaRPr lang="en-US" sz="1250" dirty="0"/>
          </a:p>
        </p:txBody>
      </p:sp>
      <p:sp>
        <p:nvSpPr>
          <p:cNvPr id="17" name="Shape 12"/>
          <p:cNvSpPr/>
          <p:nvPr/>
        </p:nvSpPr>
        <p:spPr>
          <a:xfrm>
            <a:off x="1005840" y="5477256"/>
            <a:ext cx="128016" cy="128016"/>
          </a:xfrm>
          <a:prstGeom prst="ellipse">
            <a:avLst/>
          </a:prstGeom>
          <a:solidFill>
            <a:srgbClr val="262F65"/>
          </a:solidFill>
          <a:ln/>
        </p:spPr>
      </p:sp>
      <p:sp>
        <p:nvSpPr>
          <p:cNvPr id="18" name="Text 13"/>
          <p:cNvSpPr/>
          <p:nvPr/>
        </p:nvSpPr>
        <p:spPr>
          <a:xfrm>
            <a:off x="1280160" y="5413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Issues the assertion — </a:t>
            </a:r>
            <a:pPr indent="0" marL="0">
              <a:buNone/>
            </a:pPr>
            <a:endParaRPr lang="en-US" sz="1250" dirty="0"/>
          </a:p>
        </p:txBody>
      </p:sp>
      <p:sp>
        <p:nvSpPr>
          <p:cNvPr id="19" name="Shape 14"/>
          <p:cNvSpPr/>
          <p:nvPr/>
        </p:nvSpPr>
        <p:spPr>
          <a:xfrm>
            <a:off x="1005840" y="6044184"/>
            <a:ext cx="128016" cy="128016"/>
          </a:xfrm>
          <a:prstGeom prst="ellipse">
            <a:avLst/>
          </a:prstGeom>
          <a:solidFill>
            <a:srgbClr val="262F65"/>
          </a:solidFill>
          <a:ln/>
        </p:spPr>
      </p:sp>
      <p:sp>
        <p:nvSpPr>
          <p:cNvPr id="20" name="Text 15"/>
          <p:cNvSpPr/>
          <p:nvPr/>
        </p:nvSpPr>
        <p:spPr>
          <a:xfrm>
            <a:off x="1280160" y="5980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Central management &amp; deprovision — </a:t>
            </a:r>
            <a:pPr indent="0" marL="0">
              <a:buNone/>
            </a:pPr>
            <a:endParaRPr lang="en-US" sz="1250" dirty="0"/>
          </a:p>
        </p:txBody>
      </p:sp>
      <p:sp>
        <p:nvSpPr>
          <p:cNvPr id="21" name="Shape 16"/>
          <p:cNvSpPr/>
          <p:nvPr/>
        </p:nvSpPr>
        <p:spPr>
          <a:xfrm>
            <a:off x="6355080" y="2880360"/>
            <a:ext cx="5349240" cy="2880360"/>
          </a:xfrm>
          <a:prstGeom prst="roundRect">
            <a:avLst>
              <a:gd name="adj" fmla="val 2857"/>
            </a:avLst>
          </a:prstGeom>
          <a:solidFill>
            <a:srgbClr val="F4F6FB"/>
          </a:solidFill>
          <a:ln/>
          <a:effectLst>
            <a:outerShdw sx="100000" sy="100000" kx="0" ky="0" algn="bl" rotWithShape="0" blurRad="88900" dist="38100" dir="5400000">
              <a:srgbClr val="8894AD">
                <a:alpha val="28000"/>
              </a:srgbClr>
            </a:outerShdw>
          </a:effectLst>
        </p:spPr>
      </p:sp>
      <p:sp>
        <p:nvSpPr>
          <p:cNvPr id="22" name="Shape 17"/>
          <p:cNvSpPr/>
          <p:nvPr/>
        </p:nvSpPr>
        <p:spPr>
          <a:xfrm>
            <a:off x="6675120" y="3200400"/>
            <a:ext cx="868680" cy="868680"/>
          </a:xfrm>
          <a:prstGeom prst="ellipse">
            <a:avLst/>
          </a:prstGeom>
          <a:solidFill>
            <a:srgbClr val="F2931F"/>
          </a:solidFill>
          <a:ln/>
        </p:spPr>
      </p:sp>
      <p:pic>
        <p:nvPicPr>
          <p:cNvPr id="23" name="Image 2" descr="preencoded.png">    </p:cNvPr>
          <p:cNvPicPr>
            <a:picLocks noChangeAspect="1"/>
          </p:cNvPicPr>
          <p:nvPr/>
        </p:nvPicPr>
        <p:blipFill>
          <a:blip r:embed="rId3"/>
          <a:stretch>
            <a:fillRect/>
          </a:stretch>
        </p:blipFill>
        <p:spPr>
          <a:xfrm>
            <a:off x="6883603" y="3408883"/>
            <a:ext cx="451714" cy="451714"/>
          </a:xfrm>
          <a:prstGeom prst="rect">
            <a:avLst/>
          </a:prstGeom>
        </p:spPr>
      </p:pic>
      <p:sp>
        <p:nvSpPr>
          <p:cNvPr id="24" name="Text 18"/>
          <p:cNvSpPr/>
          <p:nvPr/>
        </p:nvSpPr>
        <p:spPr>
          <a:xfrm>
            <a:off x="7726680" y="3264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Service Provider (SP)</a:t>
            </a:r>
            <a:endParaRPr lang="en-US" sz="1550" dirty="0"/>
          </a:p>
        </p:txBody>
      </p:sp>
      <p:sp>
        <p:nvSpPr>
          <p:cNvPr id="25" name="Text 19"/>
          <p:cNvSpPr/>
          <p:nvPr/>
        </p:nvSpPr>
        <p:spPr>
          <a:xfrm>
            <a:off x="6675120" y="4160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Hosts the resource; trusts the IdP.</a:t>
            </a:r>
            <a:endParaRPr lang="en-US" sz="1250" dirty="0"/>
          </a:p>
        </p:txBody>
      </p:sp>
      <p:sp>
        <p:nvSpPr>
          <p:cNvPr id="26" name="Shape 20"/>
          <p:cNvSpPr/>
          <p:nvPr/>
        </p:nvSpPr>
        <p:spPr>
          <a:xfrm>
            <a:off x="6720840" y="4910328"/>
            <a:ext cx="128016" cy="128016"/>
          </a:xfrm>
          <a:prstGeom prst="ellipse">
            <a:avLst/>
          </a:prstGeom>
          <a:solidFill>
            <a:srgbClr val="F2931F"/>
          </a:solidFill>
          <a:ln/>
        </p:spPr>
      </p:sp>
      <p:sp>
        <p:nvSpPr>
          <p:cNvPr id="27" name="Text 21"/>
          <p:cNvSpPr/>
          <p:nvPr/>
        </p:nvSpPr>
        <p:spPr>
          <a:xfrm>
            <a:off x="6995160" y="4846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The relying party — </a:t>
            </a:r>
            <a:pPr indent="0" marL="0">
              <a:buNone/>
            </a:pPr>
            <a:r>
              <a:rPr lang="en-US" sz="1250" dirty="0">
                <a:solidFill>
                  <a:srgbClr val="5B6472"/>
                </a:solidFill>
                <a:latin typeface="Calibri" pitchFamily="34" charset="0"/>
                <a:ea typeface="Calibri" pitchFamily="34" charset="-122"/>
                <a:cs typeface="Calibri" pitchFamily="34" charset="-120"/>
              </a:rPr>
              <a:t>e.g. a SaaS app</a:t>
            </a:r>
            <a:endParaRPr lang="en-US" sz="1250" dirty="0"/>
          </a:p>
        </p:txBody>
      </p:sp>
      <p:sp>
        <p:nvSpPr>
          <p:cNvPr id="28" name="Shape 22"/>
          <p:cNvSpPr/>
          <p:nvPr/>
        </p:nvSpPr>
        <p:spPr>
          <a:xfrm>
            <a:off x="6720840" y="5477256"/>
            <a:ext cx="128016" cy="128016"/>
          </a:xfrm>
          <a:prstGeom prst="ellipse">
            <a:avLst/>
          </a:prstGeom>
          <a:solidFill>
            <a:srgbClr val="F2931F"/>
          </a:solidFill>
          <a:ln/>
        </p:spPr>
      </p:sp>
      <p:sp>
        <p:nvSpPr>
          <p:cNvPr id="29" name="Text 23"/>
          <p:cNvSpPr/>
          <p:nvPr/>
        </p:nvSpPr>
        <p:spPr>
          <a:xfrm>
            <a:off x="6995160" y="5413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Trusts the assertion — </a:t>
            </a:r>
            <a:pPr indent="0" marL="0">
              <a:buNone/>
            </a:pPr>
            <a:r>
              <a:rPr lang="en-US" sz="1250" dirty="0">
                <a:solidFill>
                  <a:srgbClr val="5B6472"/>
                </a:solidFill>
                <a:latin typeface="Calibri" pitchFamily="34" charset="0"/>
                <a:ea typeface="Calibri" pitchFamily="34" charset="-122"/>
                <a:cs typeface="Calibri" pitchFamily="34" charset="-120"/>
              </a:rPr>
              <a:t>via exchanged keys (PKI)</a:t>
            </a:r>
            <a:endParaRPr lang="en-US" sz="1250" dirty="0"/>
          </a:p>
        </p:txBody>
      </p:sp>
      <p:sp>
        <p:nvSpPr>
          <p:cNvPr id="30" name="Shape 24"/>
          <p:cNvSpPr/>
          <p:nvPr/>
        </p:nvSpPr>
        <p:spPr>
          <a:xfrm>
            <a:off x="6720840" y="6044184"/>
            <a:ext cx="128016" cy="128016"/>
          </a:xfrm>
          <a:prstGeom prst="ellipse">
            <a:avLst/>
          </a:prstGeom>
          <a:solidFill>
            <a:srgbClr val="F2931F"/>
          </a:solidFill>
          <a:ln/>
        </p:spPr>
      </p:sp>
      <p:sp>
        <p:nvSpPr>
          <p:cNvPr id="31" name="Text 25"/>
          <p:cNvSpPr/>
          <p:nvPr/>
        </p:nvSpPr>
        <p:spPr>
          <a:xfrm>
            <a:off x="6995160" y="5980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No separate account needed — </a:t>
            </a:r>
            <a:pPr indent="0" marL="0">
              <a:buNone/>
            </a:pP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STANDARDS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Federation protocols — SAML, OAuth 2.0 &amp; OIDC</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SAML</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XML assertions — the established enterprise SSO standard. Authentication.</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OAuth 2.0</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Delegated authorization — grant an app scoped access without your password.</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OpenID Connect</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Identity layer on OAuth 2.0 — modern web/mobile sign-in. Authentication.</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350" b="1" dirty="0">
                <a:solidFill>
                  <a:srgbClr val="F2931F"/>
                </a:solidFill>
                <a:latin typeface="Calibri" pitchFamily="34" charset="0"/>
                <a:ea typeface="Calibri" pitchFamily="34" charset="-122"/>
                <a:cs typeface="Calibri" pitchFamily="34" charset="-120"/>
              </a:rPr>
              <a:t>Remember:  </a:t>
            </a:r>
            <a:pPr algn="ctr" indent="0" marL="0">
              <a:buNone/>
            </a:pPr>
            <a:r>
              <a:rPr lang="en-US" sz="1350" i="1" dirty="0">
                <a:solidFill>
                  <a:srgbClr val="262F65"/>
                </a:solidFill>
                <a:latin typeface="Calibri" pitchFamily="34" charset="0"/>
                <a:ea typeface="Calibri" pitchFamily="34" charset="-122"/>
                <a:cs typeface="Calibri" pitchFamily="34" charset="-120"/>
              </a:rPr>
              <a:t>SAML &amp; OIDC authenticate (who you are); OAuth 2.0 authorizes (scoped access).</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05</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5</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Privileged Identity, Threats &amp; Practice</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CROWN JEWELS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Privileged access management (PAM) &amp; identity threats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Privileged access mgmt</a:t>
            </a:r>
            <a:endParaRPr lang="en-US" sz="1550" dirty="0"/>
          </a:p>
        </p:txBody>
      </p:sp>
      <p:sp>
        <p:nvSpPr>
          <p:cNvPr id="11" name="Text 7"/>
          <p:cNvSpPr/>
          <p:nvPr/>
        </p:nvSpPr>
        <p:spPr>
          <a:xfrm>
            <a:off x="960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Extra controls for admin / root / service accounts.</a:t>
            </a:r>
            <a:endParaRPr lang="en-US" sz="1250" dirty="0"/>
          </a:p>
        </p:txBody>
      </p:sp>
      <p:sp>
        <p:nvSpPr>
          <p:cNvPr id="12" name="Shape 8"/>
          <p:cNvSpPr/>
          <p:nvPr/>
        </p:nvSpPr>
        <p:spPr>
          <a:xfrm>
            <a:off x="1005840" y="3767328"/>
            <a:ext cx="128016" cy="128016"/>
          </a:xfrm>
          <a:prstGeom prst="ellipse">
            <a:avLst/>
          </a:prstGeom>
          <a:solidFill>
            <a:srgbClr val="262F65"/>
          </a:solidFill>
          <a:ln/>
        </p:spPr>
      </p:sp>
      <p:sp>
        <p:nvSpPr>
          <p:cNvPr id="13" name="Text 9"/>
          <p:cNvSpPr/>
          <p:nvPr/>
        </p:nvSpPr>
        <p:spPr>
          <a:xfrm>
            <a:off x="1280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Vault &amp; rotate credentials — </a:t>
            </a:r>
            <a:pPr indent="0" marL="0">
              <a:buNone/>
            </a:pPr>
            <a:endParaRPr lang="en-US" sz="1250" dirty="0"/>
          </a:p>
        </p:txBody>
      </p:sp>
      <p:sp>
        <p:nvSpPr>
          <p:cNvPr id="14" name="Shape 10"/>
          <p:cNvSpPr/>
          <p:nvPr/>
        </p:nvSpPr>
        <p:spPr>
          <a:xfrm>
            <a:off x="1005840" y="4334256"/>
            <a:ext cx="128016" cy="128016"/>
          </a:xfrm>
          <a:prstGeom prst="ellipse">
            <a:avLst/>
          </a:prstGeom>
          <a:solidFill>
            <a:srgbClr val="262F65"/>
          </a:solidFill>
          <a:ln/>
        </p:spPr>
      </p:sp>
      <p:sp>
        <p:nvSpPr>
          <p:cNvPr id="15" name="Text 11"/>
          <p:cNvSpPr/>
          <p:nvPr/>
        </p:nvSpPr>
        <p:spPr>
          <a:xfrm>
            <a:off x="1280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Just-in-time privilege — </a:t>
            </a:r>
            <a:pPr indent="0" marL="0">
              <a:buNone/>
            </a:pPr>
            <a:r>
              <a:rPr lang="en-US" sz="1250" dirty="0">
                <a:solidFill>
                  <a:srgbClr val="5B6472"/>
                </a:solidFill>
                <a:latin typeface="Calibri" pitchFamily="34" charset="0"/>
                <a:ea typeface="Calibri" pitchFamily="34" charset="-122"/>
                <a:cs typeface="Calibri" pitchFamily="34" charset="-120"/>
              </a:rPr>
              <a:t>no standing admin</a:t>
            </a:r>
            <a:endParaRPr lang="en-US" sz="1250" dirty="0"/>
          </a:p>
        </p:txBody>
      </p:sp>
      <p:sp>
        <p:nvSpPr>
          <p:cNvPr id="16" name="Shape 12"/>
          <p:cNvSpPr/>
          <p:nvPr/>
        </p:nvSpPr>
        <p:spPr>
          <a:xfrm>
            <a:off x="1005840" y="4901184"/>
            <a:ext cx="128016" cy="128016"/>
          </a:xfrm>
          <a:prstGeom prst="ellipse">
            <a:avLst/>
          </a:prstGeom>
          <a:solidFill>
            <a:srgbClr val="262F65"/>
          </a:solidFill>
          <a:ln/>
        </p:spPr>
      </p:sp>
      <p:sp>
        <p:nvSpPr>
          <p:cNvPr id="17" name="Text 13"/>
          <p:cNvSpPr/>
          <p:nvPr/>
        </p:nvSpPr>
        <p:spPr>
          <a:xfrm>
            <a:off x="1280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MFA, approval, session recording — </a:t>
            </a:r>
            <a:pPr indent="0" marL="0">
              <a:buNone/>
            </a:pPr>
            <a:endParaRPr lang="en-US" sz="1250" dirty="0"/>
          </a:p>
        </p:txBody>
      </p:sp>
      <p:sp>
        <p:nvSpPr>
          <p:cNvPr id="18" name="Shape 14"/>
          <p:cNvSpPr/>
          <p:nvPr/>
        </p:nvSpPr>
        <p:spPr>
          <a:xfrm>
            <a:off x="6355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19" name="Shape 15"/>
          <p:cNvSpPr/>
          <p:nvPr/>
        </p:nvSpPr>
        <p:spPr>
          <a:xfrm>
            <a:off x="6675120" y="2057400"/>
            <a:ext cx="868680" cy="868680"/>
          </a:xfrm>
          <a:prstGeom prst="ellipse">
            <a:avLst/>
          </a:prstGeom>
          <a:solidFill>
            <a:srgbClr val="E8403A"/>
          </a:solidFill>
          <a:ln/>
        </p:spPr>
      </p:sp>
      <p:pic>
        <p:nvPicPr>
          <p:cNvPr id="20"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1" name="Text 16"/>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Identity threats</a:t>
            </a:r>
            <a:endParaRPr lang="en-US" sz="1550" dirty="0"/>
          </a:p>
        </p:txBody>
      </p:sp>
      <p:sp>
        <p:nvSpPr>
          <p:cNvPr id="22" name="Shape 17"/>
          <p:cNvSpPr/>
          <p:nvPr/>
        </p:nvSpPr>
        <p:spPr>
          <a:xfrm>
            <a:off x="6720840" y="3127248"/>
            <a:ext cx="128016" cy="128016"/>
          </a:xfrm>
          <a:prstGeom prst="ellipse">
            <a:avLst/>
          </a:prstGeom>
          <a:solidFill>
            <a:srgbClr val="E8403A"/>
          </a:solidFill>
          <a:ln/>
        </p:spPr>
      </p:sp>
      <p:sp>
        <p:nvSpPr>
          <p:cNvPr id="23" name="Text 18"/>
          <p:cNvSpPr/>
          <p:nvPr/>
        </p:nvSpPr>
        <p:spPr>
          <a:xfrm>
            <a:off x="6995160" y="306324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Phishing &amp; credential theft — </a:t>
            </a:r>
            <a:pPr indent="0" marL="0">
              <a:buNone/>
            </a:pPr>
            <a:r>
              <a:rPr lang="en-US" sz="1250" dirty="0">
                <a:solidFill>
                  <a:srgbClr val="5B6472"/>
                </a:solidFill>
                <a:latin typeface="Calibri" pitchFamily="34" charset="0"/>
                <a:ea typeface="Calibri" pitchFamily="34" charset="-122"/>
                <a:cs typeface="Calibri" pitchFamily="34" charset="-120"/>
              </a:rPr>
              <a:t>MFA defeats most</a:t>
            </a:r>
            <a:endParaRPr lang="en-US" sz="1250" dirty="0"/>
          </a:p>
        </p:txBody>
      </p:sp>
      <p:sp>
        <p:nvSpPr>
          <p:cNvPr id="24" name="Shape 19"/>
          <p:cNvSpPr/>
          <p:nvPr/>
        </p:nvSpPr>
        <p:spPr>
          <a:xfrm>
            <a:off x="6720840" y="3694176"/>
            <a:ext cx="128016" cy="128016"/>
          </a:xfrm>
          <a:prstGeom prst="ellipse">
            <a:avLst/>
          </a:prstGeom>
          <a:solidFill>
            <a:srgbClr val="E8403A"/>
          </a:solidFill>
          <a:ln/>
        </p:spPr>
      </p:sp>
      <p:sp>
        <p:nvSpPr>
          <p:cNvPr id="25" name="Text 20"/>
          <p:cNvSpPr/>
          <p:nvPr/>
        </p:nvSpPr>
        <p:spPr>
          <a:xfrm>
            <a:off x="6995160" y="363016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Account takeover — </a:t>
            </a:r>
            <a:pPr indent="0" marL="0">
              <a:buNone/>
            </a:pPr>
            <a:endParaRPr lang="en-US" sz="1250" dirty="0"/>
          </a:p>
        </p:txBody>
      </p:sp>
      <p:sp>
        <p:nvSpPr>
          <p:cNvPr id="26" name="Shape 21"/>
          <p:cNvSpPr/>
          <p:nvPr/>
        </p:nvSpPr>
        <p:spPr>
          <a:xfrm>
            <a:off x="6720840" y="4261104"/>
            <a:ext cx="128016" cy="128016"/>
          </a:xfrm>
          <a:prstGeom prst="ellipse">
            <a:avLst/>
          </a:prstGeom>
          <a:solidFill>
            <a:srgbClr val="E8403A"/>
          </a:solidFill>
          <a:ln/>
        </p:spPr>
      </p:sp>
      <p:sp>
        <p:nvSpPr>
          <p:cNvPr id="27" name="Text 22"/>
          <p:cNvSpPr/>
          <p:nvPr/>
        </p:nvSpPr>
        <p:spPr>
          <a:xfrm>
            <a:off x="6995160" y="419709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Privilege escalation — </a:t>
            </a:r>
            <a:pPr indent="0" marL="0">
              <a:buNone/>
            </a:pPr>
            <a:r>
              <a:rPr lang="en-US" sz="1250" dirty="0">
                <a:solidFill>
                  <a:srgbClr val="5B6472"/>
                </a:solidFill>
                <a:latin typeface="Calibri" pitchFamily="34" charset="0"/>
                <a:ea typeface="Calibri" pitchFamily="34" charset="-122"/>
                <a:cs typeface="Calibri" pitchFamily="34" charset="-120"/>
              </a:rPr>
              <a:t>why least privilege matters</a:t>
            </a:r>
            <a:endParaRPr lang="en-US" sz="1250" dirty="0"/>
          </a:p>
        </p:txBody>
      </p:sp>
      <p:sp>
        <p:nvSpPr>
          <p:cNvPr id="28" name="Shape 23"/>
          <p:cNvSpPr/>
          <p:nvPr/>
        </p:nvSpPr>
        <p:spPr>
          <a:xfrm>
            <a:off x="6720840" y="4828032"/>
            <a:ext cx="128016" cy="128016"/>
          </a:xfrm>
          <a:prstGeom prst="ellipse">
            <a:avLst/>
          </a:prstGeom>
          <a:solidFill>
            <a:srgbClr val="E8403A"/>
          </a:solidFill>
          <a:ln/>
        </p:spPr>
      </p:sp>
      <p:sp>
        <p:nvSpPr>
          <p:cNvPr id="29" name="Text 24"/>
          <p:cNvSpPr/>
          <p:nvPr/>
        </p:nvSpPr>
        <p:spPr>
          <a:xfrm>
            <a:off x="6995160" y="4764024"/>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Orphaned / stale accounts — </a:t>
            </a:r>
            <a:pPr indent="0" marL="0">
              <a:buNone/>
            </a:pP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APPLY IT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Case study — the forgotten account</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640080" y="1691640"/>
            <a:ext cx="10881360" cy="1600200"/>
          </a:xfrm>
          <a:prstGeom prst="roundRect">
            <a:avLst>
              <a:gd name="adj" fmla="val 5143"/>
            </a:avLst>
          </a:prstGeom>
          <a:solidFill>
            <a:srgbClr val="262F65"/>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11680"/>
            <a:ext cx="960120" cy="960120"/>
          </a:xfrm>
          <a:prstGeom prst="ellipse">
            <a:avLst/>
          </a:prstGeom>
          <a:solidFill>
            <a:srgbClr val="E8403A"/>
          </a:solidFill>
          <a:ln/>
        </p:spPr>
      </p:sp>
      <p:pic>
        <p:nvPicPr>
          <p:cNvPr id="9" name="Image 0" descr="preencoded.png">    </p:cNvPr>
          <p:cNvPicPr>
            <a:picLocks noChangeAspect="1"/>
          </p:cNvPicPr>
          <p:nvPr/>
        </p:nvPicPr>
        <p:blipFill>
          <a:blip r:embed="rId1"/>
          <a:stretch>
            <a:fillRect/>
          </a:stretch>
        </p:blipFill>
        <p:spPr>
          <a:xfrm>
            <a:off x="1190549" y="2242109"/>
            <a:ext cx="499262" cy="499262"/>
          </a:xfrm>
          <a:prstGeom prst="rect">
            <a:avLst/>
          </a:prstGeom>
        </p:spPr>
      </p:pic>
      <p:sp>
        <p:nvSpPr>
          <p:cNvPr id="10" name="Text 6"/>
          <p:cNvSpPr/>
          <p:nvPr/>
        </p:nvSpPr>
        <p:spPr>
          <a:xfrm>
            <a:off x="2194560" y="1874520"/>
            <a:ext cx="9052560" cy="12801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An employee left months ago, but their broadly-privileged cloud account was never disabled. An attacker used the reused old credentials — no MFA, no one watching — to access company data.</a:t>
            </a:r>
            <a:endParaRPr lang="en-US" sz="1500" dirty="0"/>
          </a:p>
        </p:txBody>
      </p:sp>
      <p:sp>
        <p:nvSpPr>
          <p:cNvPr id="11" name="Shape 7"/>
          <p:cNvSpPr/>
          <p:nvPr/>
        </p:nvSpPr>
        <p:spPr>
          <a:xfrm>
            <a:off x="640080" y="3566160"/>
            <a:ext cx="5349240" cy="1737360"/>
          </a:xfrm>
          <a:prstGeom prst="roundRect">
            <a:avLst>
              <a:gd name="adj" fmla="val 4737"/>
            </a:avLst>
          </a:prstGeom>
          <a:solidFill>
            <a:srgbClr val="F4F6FB"/>
          </a:solidFill>
          <a:ln/>
          <a:effectLst>
            <a:outerShdw sx="100000" sy="100000" kx="0" ky="0" algn="bl" rotWithShape="0" blurRad="88900" dist="38100" dir="5400000">
              <a:srgbClr val="8894AD">
                <a:alpha val="28000"/>
              </a:srgbClr>
            </a:outerShdw>
          </a:effectLst>
        </p:spPr>
      </p:sp>
      <p:sp>
        <p:nvSpPr>
          <p:cNvPr id="12" name="Text 8"/>
          <p:cNvSpPr/>
          <p:nvPr/>
        </p:nvSpPr>
        <p:spPr>
          <a:xfrm>
            <a:off x="914400" y="3749040"/>
            <a:ext cx="4800600" cy="457200"/>
          </a:xfrm>
          <a:prstGeom prst="rect">
            <a:avLst/>
          </a:prstGeom>
          <a:noFill/>
          <a:ln/>
        </p:spPr>
        <p:txBody>
          <a:bodyPr wrap="square" lIns="0" tIns="0" rIns="0" bIns="0" rtlCol="0" anchor="t"/>
          <a:lstStyle/>
          <a:p>
            <a:pPr indent="0" marL="0">
              <a:buNone/>
            </a:pPr>
            <a:r>
              <a:rPr lang="en-US" sz="1600" b="1" dirty="0">
                <a:solidFill>
                  <a:srgbClr val="F2931F"/>
                </a:solidFill>
                <a:latin typeface="Calibri" pitchFamily="34" charset="0"/>
                <a:ea typeface="Calibri" pitchFamily="34" charset="-122"/>
                <a:cs typeface="Calibri" pitchFamily="34" charset="-120"/>
              </a:rPr>
              <a:t>What failed?</a:t>
            </a:r>
            <a:endParaRPr lang="en-US" sz="1600" dirty="0"/>
          </a:p>
        </p:txBody>
      </p:sp>
      <p:sp>
        <p:nvSpPr>
          <p:cNvPr id="13" name="Text 9"/>
          <p:cNvSpPr/>
          <p:nvPr/>
        </p:nvSpPr>
        <p:spPr>
          <a:xfrm>
            <a:off x="914400" y="4206240"/>
            <a:ext cx="4800600" cy="1051560"/>
          </a:xfrm>
          <a:prstGeom prst="rect">
            <a:avLst/>
          </a:prstGeom>
          <a:noFill/>
          <a:ln/>
        </p:spPr>
        <p:txBody>
          <a:bodyPr wrap="square" lIns="0" tIns="0" rIns="0" bIns="0" rtlCol="0" anchor="t"/>
          <a:lstStyle/>
          <a:p>
            <a:pPr indent="0" marL="0">
              <a:buNone/>
            </a:pPr>
            <a:r>
              <a:rPr lang="en-US" sz="1300" dirty="0">
                <a:solidFill>
                  <a:srgbClr val="23283A"/>
                </a:solidFill>
                <a:latin typeface="Calibri" pitchFamily="34" charset="0"/>
                <a:ea typeface="Calibri" pitchFamily="34" charset="-122"/>
                <a:cs typeface="Calibri" pitchFamily="34" charset="-120"/>
              </a:rPr>
              <a:t>No deprovisioning (orphaned account) · over-broad privilege · no MFA · no monitoring of dormant accounts.</a:t>
            </a:r>
            <a:endParaRPr lang="en-US" sz="1300" dirty="0"/>
          </a:p>
        </p:txBody>
      </p:sp>
      <p:sp>
        <p:nvSpPr>
          <p:cNvPr id="14" name="Shape 10"/>
          <p:cNvSpPr/>
          <p:nvPr/>
        </p:nvSpPr>
        <p:spPr>
          <a:xfrm>
            <a:off x="6355080" y="3566160"/>
            <a:ext cx="5349240" cy="1737360"/>
          </a:xfrm>
          <a:prstGeom prst="roundRect">
            <a:avLst>
              <a:gd name="adj" fmla="val 4737"/>
            </a:avLst>
          </a:prstGeom>
          <a:solidFill>
            <a:srgbClr val="F4F6FB"/>
          </a:solidFill>
          <a:ln/>
          <a:effectLst>
            <a:outerShdw sx="100000" sy="100000" kx="0" ky="0" algn="bl" rotWithShape="0" blurRad="88900" dist="38100" dir="5400000">
              <a:srgbClr val="8894AD">
                <a:alpha val="28000"/>
              </a:srgbClr>
            </a:outerShdw>
          </a:effectLst>
        </p:spPr>
      </p:sp>
      <p:sp>
        <p:nvSpPr>
          <p:cNvPr id="15" name="Text 11"/>
          <p:cNvSpPr/>
          <p:nvPr/>
        </p:nvSpPr>
        <p:spPr>
          <a:xfrm>
            <a:off x="6629400" y="3749040"/>
            <a:ext cx="4800600" cy="457200"/>
          </a:xfrm>
          <a:prstGeom prst="rect">
            <a:avLst/>
          </a:prstGeom>
          <a:noFill/>
          <a:ln/>
        </p:spPr>
        <p:txBody>
          <a:bodyPr wrap="square" lIns="0" tIns="0" rIns="0" bIns="0" rtlCol="0" anchor="t"/>
          <a:lstStyle/>
          <a:p>
            <a:pPr indent="0" marL="0">
              <a:buNone/>
            </a:pPr>
            <a:r>
              <a:rPr lang="en-US" sz="1600" b="1" dirty="0">
                <a:solidFill>
                  <a:srgbClr val="F2931F"/>
                </a:solidFill>
                <a:latin typeface="Calibri" pitchFamily="34" charset="0"/>
                <a:ea typeface="Calibri" pitchFamily="34" charset="-122"/>
                <a:cs typeface="Calibri" pitchFamily="34" charset="-120"/>
              </a:rPr>
              <a:t>How to prevent?</a:t>
            </a:r>
            <a:endParaRPr lang="en-US" sz="1600" dirty="0"/>
          </a:p>
        </p:txBody>
      </p:sp>
      <p:sp>
        <p:nvSpPr>
          <p:cNvPr id="16" name="Text 12"/>
          <p:cNvSpPr/>
          <p:nvPr/>
        </p:nvSpPr>
        <p:spPr>
          <a:xfrm>
            <a:off x="6629400" y="4206240"/>
            <a:ext cx="4800600" cy="1051560"/>
          </a:xfrm>
          <a:prstGeom prst="rect">
            <a:avLst/>
          </a:prstGeom>
          <a:noFill/>
          <a:ln/>
        </p:spPr>
        <p:txBody>
          <a:bodyPr wrap="square" lIns="0" tIns="0" rIns="0" bIns="0" rtlCol="0" anchor="t"/>
          <a:lstStyle/>
          <a:p>
            <a:pPr indent="0" marL="0">
              <a:buNone/>
            </a:pPr>
            <a:r>
              <a:rPr lang="en-US" sz="1300" dirty="0">
                <a:solidFill>
                  <a:srgbClr val="23283A"/>
                </a:solidFill>
                <a:latin typeface="Calibri" pitchFamily="34" charset="0"/>
                <a:ea typeface="Calibri" pitchFamily="34" charset="-122"/>
                <a:cs typeface="Calibri" pitchFamily="34" charset="-120"/>
              </a:rPr>
              <a:t>Automate deprovisioning on HR triggers · least privilege · enforce MFA · monitor dormant-account use.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BASELINE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Best practices — identity management</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13</a:t>
            </a:r>
            <a:endParaRPr lang="en-US" sz="900" dirty="0"/>
          </a:p>
        </p:txBody>
      </p:sp>
      <p:sp>
        <p:nvSpPr>
          <p:cNvPr id="7" name="Shape 4"/>
          <p:cNvSpPr/>
          <p:nvPr/>
        </p:nvSpPr>
        <p:spPr>
          <a:xfrm>
            <a:off x="640080" y="1737360"/>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96112" y="2011680"/>
            <a:ext cx="685800" cy="6858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060704" y="2176272"/>
            <a:ext cx="356616" cy="356616"/>
          </a:xfrm>
          <a:prstGeom prst="rect">
            <a:avLst/>
          </a:prstGeom>
        </p:spPr>
      </p:pic>
      <p:sp>
        <p:nvSpPr>
          <p:cNvPr id="10" name="Text 6"/>
          <p:cNvSpPr/>
          <p:nvPr/>
        </p:nvSpPr>
        <p:spPr>
          <a:xfrm>
            <a:off x="1783080" y="1938528"/>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Automate the lifecycle</a:t>
            </a:r>
            <a:endParaRPr lang="en-US" sz="1450" dirty="0"/>
          </a:p>
        </p:txBody>
      </p:sp>
      <p:sp>
        <p:nvSpPr>
          <p:cNvPr id="11" name="Text 7"/>
          <p:cNvSpPr/>
          <p:nvPr/>
        </p:nvSpPr>
        <p:spPr>
          <a:xfrm>
            <a:off x="1783080" y="2359152"/>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Reliable provisioning &amp; deprovisioning.</a:t>
            </a:r>
            <a:endParaRPr lang="en-US" sz="1200" dirty="0"/>
          </a:p>
        </p:txBody>
      </p:sp>
      <p:sp>
        <p:nvSpPr>
          <p:cNvPr id="12" name="Shape 8"/>
          <p:cNvSpPr/>
          <p:nvPr/>
        </p:nvSpPr>
        <p:spPr>
          <a:xfrm>
            <a:off x="6217920" y="1737360"/>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6473952" y="2011680"/>
            <a:ext cx="685800" cy="6858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6638544" y="2176272"/>
            <a:ext cx="356616" cy="356616"/>
          </a:xfrm>
          <a:prstGeom prst="rect">
            <a:avLst/>
          </a:prstGeom>
        </p:spPr>
      </p:pic>
      <p:sp>
        <p:nvSpPr>
          <p:cNvPr id="15" name="Text 10"/>
          <p:cNvSpPr/>
          <p:nvPr/>
        </p:nvSpPr>
        <p:spPr>
          <a:xfrm>
            <a:off x="7360920" y="1938528"/>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Enforce MFA + SSO</a:t>
            </a:r>
            <a:endParaRPr lang="en-US" sz="1450" dirty="0"/>
          </a:p>
        </p:txBody>
      </p:sp>
      <p:sp>
        <p:nvSpPr>
          <p:cNvPr id="16" name="Text 11"/>
          <p:cNvSpPr/>
          <p:nvPr/>
        </p:nvSpPr>
        <p:spPr>
          <a:xfrm>
            <a:off x="7360920" y="2359152"/>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Strong, concentrated authentication.</a:t>
            </a:r>
            <a:endParaRPr lang="en-US" sz="1200" dirty="0"/>
          </a:p>
        </p:txBody>
      </p:sp>
      <p:sp>
        <p:nvSpPr>
          <p:cNvPr id="17" name="Shape 12"/>
          <p:cNvSpPr/>
          <p:nvPr/>
        </p:nvSpPr>
        <p:spPr>
          <a:xfrm>
            <a:off x="640080" y="3136392"/>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896112" y="3410712"/>
            <a:ext cx="685800" cy="6858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1060704" y="3575304"/>
            <a:ext cx="356616" cy="356616"/>
          </a:xfrm>
          <a:prstGeom prst="rect">
            <a:avLst/>
          </a:prstGeom>
        </p:spPr>
      </p:pic>
      <p:sp>
        <p:nvSpPr>
          <p:cNvPr id="20" name="Text 14"/>
          <p:cNvSpPr/>
          <p:nvPr/>
        </p:nvSpPr>
        <p:spPr>
          <a:xfrm>
            <a:off x="1783080" y="3337560"/>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Least privilege &amp; JIT</a:t>
            </a:r>
            <a:endParaRPr lang="en-US" sz="1450" dirty="0"/>
          </a:p>
        </p:txBody>
      </p:sp>
      <p:sp>
        <p:nvSpPr>
          <p:cNvPr id="21" name="Text 15"/>
          <p:cNvSpPr/>
          <p:nvPr/>
        </p:nvSpPr>
        <p:spPr>
          <a:xfrm>
            <a:off x="1783080" y="3758184"/>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Minimal, time-boxed access.</a:t>
            </a:r>
            <a:endParaRPr lang="en-US" sz="1200" dirty="0"/>
          </a:p>
        </p:txBody>
      </p:sp>
      <p:sp>
        <p:nvSpPr>
          <p:cNvPr id="22" name="Shape 16"/>
          <p:cNvSpPr/>
          <p:nvPr/>
        </p:nvSpPr>
        <p:spPr>
          <a:xfrm>
            <a:off x="6217920" y="3136392"/>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23" name="Shape 17"/>
          <p:cNvSpPr/>
          <p:nvPr/>
        </p:nvSpPr>
        <p:spPr>
          <a:xfrm>
            <a:off x="6473952" y="3410712"/>
            <a:ext cx="685800" cy="685800"/>
          </a:xfrm>
          <a:prstGeom prst="ellipse">
            <a:avLst/>
          </a:prstGeom>
          <a:solidFill>
            <a:srgbClr val="262F65"/>
          </a:solidFill>
          <a:ln/>
        </p:spPr>
      </p:sp>
      <p:pic>
        <p:nvPicPr>
          <p:cNvPr id="24" name="Image 3" descr="preencoded.png">    </p:cNvPr>
          <p:cNvPicPr>
            <a:picLocks noChangeAspect="1"/>
          </p:cNvPicPr>
          <p:nvPr/>
        </p:nvPicPr>
        <p:blipFill>
          <a:blip r:embed="rId4"/>
          <a:stretch>
            <a:fillRect/>
          </a:stretch>
        </p:blipFill>
        <p:spPr>
          <a:xfrm>
            <a:off x="6638544" y="3575304"/>
            <a:ext cx="356616" cy="356616"/>
          </a:xfrm>
          <a:prstGeom prst="rect">
            <a:avLst/>
          </a:prstGeom>
        </p:spPr>
      </p:pic>
      <p:sp>
        <p:nvSpPr>
          <p:cNvPr id="25" name="Text 18"/>
          <p:cNvSpPr/>
          <p:nvPr/>
        </p:nvSpPr>
        <p:spPr>
          <a:xfrm>
            <a:off x="7360920" y="3337560"/>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Protect privileged accounts</a:t>
            </a:r>
            <a:endParaRPr lang="en-US" sz="1450" dirty="0"/>
          </a:p>
        </p:txBody>
      </p:sp>
      <p:sp>
        <p:nvSpPr>
          <p:cNvPr id="26" name="Text 19"/>
          <p:cNvSpPr/>
          <p:nvPr/>
        </p:nvSpPr>
        <p:spPr>
          <a:xfrm>
            <a:off x="7360920" y="3758184"/>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PAM: vault, rotate, record.</a:t>
            </a:r>
            <a:endParaRPr lang="en-US" sz="1200" dirty="0"/>
          </a:p>
        </p:txBody>
      </p:sp>
      <p:sp>
        <p:nvSpPr>
          <p:cNvPr id="27" name="Shape 20"/>
          <p:cNvSpPr/>
          <p:nvPr/>
        </p:nvSpPr>
        <p:spPr>
          <a:xfrm>
            <a:off x="640080" y="4535424"/>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28" name="Shape 21"/>
          <p:cNvSpPr/>
          <p:nvPr/>
        </p:nvSpPr>
        <p:spPr>
          <a:xfrm>
            <a:off x="896112" y="4809744"/>
            <a:ext cx="685800" cy="685800"/>
          </a:xfrm>
          <a:prstGeom prst="ellipse">
            <a:avLst/>
          </a:prstGeom>
          <a:solidFill>
            <a:srgbClr val="F2931F"/>
          </a:solidFill>
          <a:ln/>
        </p:spPr>
      </p:sp>
      <p:pic>
        <p:nvPicPr>
          <p:cNvPr id="29" name="Image 4" descr="preencoded.png">    </p:cNvPr>
          <p:cNvPicPr>
            <a:picLocks noChangeAspect="1"/>
          </p:cNvPicPr>
          <p:nvPr/>
        </p:nvPicPr>
        <p:blipFill>
          <a:blip r:embed="rId5"/>
          <a:stretch>
            <a:fillRect/>
          </a:stretch>
        </p:blipFill>
        <p:spPr>
          <a:xfrm>
            <a:off x="1060704" y="4974336"/>
            <a:ext cx="356616" cy="356616"/>
          </a:xfrm>
          <a:prstGeom prst="rect">
            <a:avLst/>
          </a:prstGeom>
        </p:spPr>
      </p:pic>
      <p:sp>
        <p:nvSpPr>
          <p:cNvPr id="30" name="Text 22"/>
          <p:cNvSpPr/>
          <p:nvPr/>
        </p:nvSpPr>
        <p:spPr>
          <a:xfrm>
            <a:off x="1783080" y="4736592"/>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Federate with standards</a:t>
            </a:r>
            <a:endParaRPr lang="en-US" sz="1450" dirty="0"/>
          </a:p>
        </p:txBody>
      </p:sp>
      <p:sp>
        <p:nvSpPr>
          <p:cNvPr id="31" name="Text 23"/>
          <p:cNvSpPr/>
          <p:nvPr/>
        </p:nvSpPr>
        <p:spPr>
          <a:xfrm>
            <a:off x="1783080" y="5157216"/>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SAML / OIDC, not scattered accounts.</a:t>
            </a:r>
            <a:endParaRPr lang="en-US" sz="1200" dirty="0"/>
          </a:p>
        </p:txBody>
      </p:sp>
      <p:sp>
        <p:nvSpPr>
          <p:cNvPr id="32" name="Shape 24"/>
          <p:cNvSpPr/>
          <p:nvPr/>
        </p:nvSpPr>
        <p:spPr>
          <a:xfrm>
            <a:off x="6217920" y="4535424"/>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33" name="Shape 25"/>
          <p:cNvSpPr/>
          <p:nvPr/>
        </p:nvSpPr>
        <p:spPr>
          <a:xfrm>
            <a:off x="6473952" y="4809744"/>
            <a:ext cx="685800" cy="685800"/>
          </a:xfrm>
          <a:prstGeom prst="ellipse">
            <a:avLst/>
          </a:prstGeom>
          <a:solidFill>
            <a:srgbClr val="293E7B"/>
          </a:solidFill>
          <a:ln/>
        </p:spPr>
      </p:sp>
      <p:pic>
        <p:nvPicPr>
          <p:cNvPr id="34" name="Image 5" descr="preencoded.png">    </p:cNvPr>
          <p:cNvPicPr>
            <a:picLocks noChangeAspect="1"/>
          </p:cNvPicPr>
          <p:nvPr/>
        </p:nvPicPr>
        <p:blipFill>
          <a:blip r:embed="rId6"/>
          <a:stretch>
            <a:fillRect/>
          </a:stretch>
        </p:blipFill>
        <p:spPr>
          <a:xfrm>
            <a:off x="6638544" y="4974336"/>
            <a:ext cx="356616" cy="356616"/>
          </a:xfrm>
          <a:prstGeom prst="rect">
            <a:avLst/>
          </a:prstGeom>
        </p:spPr>
      </p:pic>
      <p:sp>
        <p:nvSpPr>
          <p:cNvPr id="35" name="Text 26"/>
          <p:cNvSpPr/>
          <p:nvPr/>
        </p:nvSpPr>
        <p:spPr>
          <a:xfrm>
            <a:off x="7360920" y="4736592"/>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Review access regularly</a:t>
            </a:r>
            <a:endParaRPr lang="en-US" sz="1450" dirty="0"/>
          </a:p>
        </p:txBody>
      </p:sp>
      <p:sp>
        <p:nvSpPr>
          <p:cNvPr id="36" name="Text 27"/>
          <p:cNvSpPr/>
          <p:nvPr/>
        </p:nvSpPr>
        <p:spPr>
          <a:xfrm>
            <a:off x="7360920" y="5157216"/>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Catch drift and orphans.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RECAP</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Key takeaways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a:off x="640080" y="1783080"/>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68680" y="1956816"/>
            <a:ext cx="548640" cy="54864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000354" y="2088490"/>
            <a:ext cx="285293" cy="285293"/>
          </a:xfrm>
          <a:prstGeom prst="rect">
            <a:avLst/>
          </a:prstGeom>
        </p:spPr>
      </p:pic>
      <p:sp>
        <p:nvSpPr>
          <p:cNvPr id="10" name="Text 6"/>
          <p:cNvSpPr/>
          <p:nvPr/>
        </p:nvSpPr>
        <p:spPr>
          <a:xfrm>
            <a:off x="1600200" y="1856232"/>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1   </a:t>
            </a:r>
            <a:pPr indent="0" marL="0">
              <a:buNone/>
            </a:pPr>
            <a:r>
              <a:rPr lang="en-US" sz="1350" dirty="0">
                <a:solidFill>
                  <a:srgbClr val="23283A"/>
                </a:solidFill>
                <a:latin typeface="Calibri" pitchFamily="34" charset="0"/>
                <a:ea typeface="Calibri" pitchFamily="34" charset="-122"/>
                <a:cs typeface="Calibri" pitchFamily="34" charset="-120"/>
              </a:rPr>
              <a:t>Identity management governs the whole lifecycle — over-provisioning and forgotten deprovisioning are the top risks.</a:t>
            </a:r>
            <a:endParaRPr lang="en-US" sz="1350" dirty="0"/>
          </a:p>
        </p:txBody>
      </p:sp>
      <p:sp>
        <p:nvSpPr>
          <p:cNvPr id="11" name="Shape 7"/>
          <p:cNvSpPr/>
          <p:nvPr/>
        </p:nvSpPr>
        <p:spPr>
          <a:xfrm>
            <a:off x="640080" y="2807208"/>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12" name="Shape 8"/>
          <p:cNvSpPr/>
          <p:nvPr/>
        </p:nvSpPr>
        <p:spPr>
          <a:xfrm>
            <a:off x="868680" y="2980944"/>
            <a:ext cx="548640" cy="548640"/>
          </a:xfrm>
          <a:prstGeom prst="ellipse">
            <a:avLst/>
          </a:prstGeom>
          <a:solidFill>
            <a:srgbClr val="293E7B"/>
          </a:solidFill>
          <a:ln/>
        </p:spPr>
      </p:sp>
      <p:pic>
        <p:nvPicPr>
          <p:cNvPr id="13" name="Image 1" descr="preencoded.png">    </p:cNvPr>
          <p:cNvPicPr>
            <a:picLocks noChangeAspect="1"/>
          </p:cNvPicPr>
          <p:nvPr/>
        </p:nvPicPr>
        <p:blipFill>
          <a:blip r:embed="rId2"/>
          <a:stretch>
            <a:fillRect/>
          </a:stretch>
        </p:blipFill>
        <p:spPr>
          <a:xfrm>
            <a:off x="1000354" y="3112618"/>
            <a:ext cx="285293" cy="285293"/>
          </a:xfrm>
          <a:prstGeom prst="rect">
            <a:avLst/>
          </a:prstGeom>
        </p:spPr>
      </p:pic>
      <p:sp>
        <p:nvSpPr>
          <p:cNvPr id="14" name="Text 9"/>
          <p:cNvSpPr/>
          <p:nvPr/>
        </p:nvSpPr>
        <p:spPr>
          <a:xfrm>
            <a:off x="1600200" y="2880360"/>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2   </a:t>
            </a:r>
            <a:pPr indent="0" marL="0">
              <a:buNone/>
            </a:pPr>
            <a:r>
              <a:rPr lang="en-US" sz="1350" dirty="0">
                <a:solidFill>
                  <a:srgbClr val="23283A"/>
                </a:solidFill>
                <a:latin typeface="Calibri" pitchFamily="34" charset="0"/>
                <a:ea typeface="Calibri" pitchFamily="34" charset="-122"/>
                <a:cs typeface="Calibri" pitchFamily="34" charset="-120"/>
              </a:rPr>
              <a:t>SSO gives one strong login across many services — protect that single door very well.</a:t>
            </a:r>
            <a:endParaRPr lang="en-US" sz="1350" dirty="0"/>
          </a:p>
        </p:txBody>
      </p:sp>
      <p:sp>
        <p:nvSpPr>
          <p:cNvPr id="15" name="Shape 10"/>
          <p:cNvSpPr/>
          <p:nvPr/>
        </p:nvSpPr>
        <p:spPr>
          <a:xfrm>
            <a:off x="640080" y="3831336"/>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16" name="Shape 11"/>
          <p:cNvSpPr/>
          <p:nvPr/>
        </p:nvSpPr>
        <p:spPr>
          <a:xfrm>
            <a:off x="868680" y="4005072"/>
            <a:ext cx="548640" cy="548640"/>
          </a:xfrm>
          <a:prstGeom prst="ellipse">
            <a:avLst/>
          </a:prstGeom>
          <a:solidFill>
            <a:srgbClr val="F2931F"/>
          </a:solidFill>
          <a:ln/>
        </p:spPr>
      </p:sp>
      <p:pic>
        <p:nvPicPr>
          <p:cNvPr id="17" name="Image 2" descr="preencoded.png">    </p:cNvPr>
          <p:cNvPicPr>
            <a:picLocks noChangeAspect="1"/>
          </p:cNvPicPr>
          <p:nvPr/>
        </p:nvPicPr>
        <p:blipFill>
          <a:blip r:embed="rId3"/>
          <a:stretch>
            <a:fillRect/>
          </a:stretch>
        </p:blipFill>
        <p:spPr>
          <a:xfrm>
            <a:off x="1000354" y="4136746"/>
            <a:ext cx="285293" cy="285293"/>
          </a:xfrm>
          <a:prstGeom prst="rect">
            <a:avLst/>
          </a:prstGeom>
        </p:spPr>
      </p:pic>
      <p:sp>
        <p:nvSpPr>
          <p:cNvPr id="18" name="Text 12"/>
          <p:cNvSpPr/>
          <p:nvPr/>
        </p:nvSpPr>
        <p:spPr>
          <a:xfrm>
            <a:off x="1600200" y="3904488"/>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3   </a:t>
            </a:r>
            <a:pPr indent="0" marL="0">
              <a:buNone/>
            </a:pPr>
            <a:r>
              <a:rPr lang="en-US" sz="1350" dirty="0">
                <a:solidFill>
                  <a:srgbClr val="23283A"/>
                </a:solidFill>
                <a:latin typeface="Calibri" pitchFamily="34" charset="0"/>
                <a:ea typeface="Calibri" pitchFamily="34" charset="-122"/>
                <a:cs typeface="Calibri" pitchFamily="34" charset="-120"/>
              </a:rPr>
              <a:t>Federation extends trust across orgs via SAML, OAuth 2.0, OIDC — SAML/OIDC authenticate, OAuth authorizes.</a:t>
            </a:r>
            <a:endParaRPr lang="en-US" sz="1350" dirty="0"/>
          </a:p>
        </p:txBody>
      </p:sp>
      <p:sp>
        <p:nvSpPr>
          <p:cNvPr id="19" name="Shape 13"/>
          <p:cNvSpPr/>
          <p:nvPr/>
        </p:nvSpPr>
        <p:spPr>
          <a:xfrm>
            <a:off x="640080" y="4855464"/>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20" name="Shape 14"/>
          <p:cNvSpPr/>
          <p:nvPr/>
        </p:nvSpPr>
        <p:spPr>
          <a:xfrm>
            <a:off x="868680" y="5029200"/>
            <a:ext cx="548640" cy="548640"/>
          </a:xfrm>
          <a:prstGeom prst="ellipse">
            <a:avLst/>
          </a:prstGeom>
          <a:solidFill>
            <a:srgbClr val="FABA32"/>
          </a:solidFill>
          <a:ln/>
        </p:spPr>
      </p:sp>
      <p:pic>
        <p:nvPicPr>
          <p:cNvPr id="21" name="Image 3" descr="preencoded.png">    </p:cNvPr>
          <p:cNvPicPr>
            <a:picLocks noChangeAspect="1"/>
          </p:cNvPicPr>
          <p:nvPr/>
        </p:nvPicPr>
        <p:blipFill>
          <a:blip r:embed="rId4"/>
          <a:stretch>
            <a:fillRect/>
          </a:stretch>
        </p:blipFill>
        <p:spPr>
          <a:xfrm>
            <a:off x="1000354" y="5160874"/>
            <a:ext cx="285293" cy="285293"/>
          </a:xfrm>
          <a:prstGeom prst="rect">
            <a:avLst/>
          </a:prstGeom>
        </p:spPr>
      </p:pic>
      <p:sp>
        <p:nvSpPr>
          <p:cNvPr id="22" name="Text 15"/>
          <p:cNvSpPr/>
          <p:nvPr/>
        </p:nvSpPr>
        <p:spPr>
          <a:xfrm>
            <a:off x="1600200" y="4928616"/>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4   </a:t>
            </a:r>
            <a:pPr indent="0" marL="0">
              <a:buNone/>
            </a:pPr>
            <a:r>
              <a:rPr lang="en-US" sz="1350" dirty="0">
                <a:solidFill>
                  <a:srgbClr val="23283A"/>
                </a:solidFill>
                <a:latin typeface="Calibri" pitchFamily="34" charset="0"/>
                <a:ea typeface="Calibri" pitchFamily="34" charset="-122"/>
                <a:cs typeface="Calibri" pitchFamily="34" charset="-120"/>
              </a:rPr>
              <a:t>Privileged accounts need the strongest controls (PAM); automation keeps identity correct at scale.</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9509760" y="4206240"/>
            <a:ext cx="4206240" cy="4206240"/>
          </a:xfrm>
          <a:prstGeom prst="ellipse">
            <a:avLst/>
          </a:prstGeom>
          <a:solidFill>
            <a:srgbClr val="293E7B">
              <a:alpha val="45000"/>
            </a:srgbClr>
          </a:solidFill>
          <a:ln/>
        </p:spPr>
      </p:sp>
      <p:sp>
        <p:nvSpPr>
          <p:cNvPr id="3" name="Shape 1"/>
          <p:cNvSpPr/>
          <p:nvPr/>
        </p:nvSpPr>
        <p:spPr>
          <a:xfrm>
            <a:off x="640080" y="1280160"/>
            <a:ext cx="1188720" cy="1188720"/>
          </a:xfrm>
          <a:prstGeom prst="ellipse">
            <a:avLst/>
          </a:prstGeom>
          <a:solidFill>
            <a:srgbClr val="FABA32"/>
          </a:solidFill>
          <a:ln/>
        </p:spPr>
      </p:sp>
      <p:pic>
        <p:nvPicPr>
          <p:cNvPr id="4" name="Image 0" descr="preencoded.png">    </p:cNvPr>
          <p:cNvPicPr>
            <a:picLocks noChangeAspect="1"/>
          </p:cNvPicPr>
          <p:nvPr/>
        </p:nvPicPr>
        <p:blipFill>
          <a:blip r:embed="rId1"/>
          <a:stretch>
            <a:fillRect/>
          </a:stretch>
        </p:blipFill>
        <p:spPr>
          <a:xfrm>
            <a:off x="925373" y="1565453"/>
            <a:ext cx="618134" cy="618134"/>
          </a:xfrm>
          <a:prstGeom prst="rect">
            <a:avLst/>
          </a:prstGeom>
        </p:spPr>
      </p:pic>
      <p:sp>
        <p:nvSpPr>
          <p:cNvPr id="5" name="Text 2"/>
          <p:cNvSpPr/>
          <p:nvPr/>
        </p:nvSpPr>
        <p:spPr>
          <a:xfrm>
            <a:off x="640080" y="2651760"/>
            <a:ext cx="100584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Discussion &amp; Q&amp;A</a:t>
            </a:r>
            <a:endParaRPr lang="en-US" sz="3600" dirty="0"/>
          </a:p>
        </p:txBody>
      </p:sp>
      <p:sp>
        <p:nvSpPr>
          <p:cNvPr id="6" name="Text 3"/>
          <p:cNvSpPr/>
          <p:nvPr/>
        </p:nvSpPr>
        <p:spPr>
          <a:xfrm>
            <a:off x="640080" y="3611880"/>
            <a:ext cx="10058400" cy="1463040"/>
          </a:xfrm>
          <a:prstGeom prst="rect">
            <a:avLst/>
          </a:prstGeom>
          <a:noFill/>
          <a:ln/>
        </p:spPr>
        <p:txBody>
          <a:bodyPr wrap="square" lIns="0" tIns="0" rIns="0" bIns="0" rtlCol="0" anchor="t"/>
          <a:lstStyle/>
          <a:p>
            <a:pPr marL="342900" indent="-342900">
              <a:lnSpc>
                <a:spcPct val="130000"/>
              </a:lnSpc>
              <a:buSzPct val="100000"/>
              <a:buChar char="•"/>
            </a:pPr>
            <a:r>
              <a:rPr lang="en-US" sz="1650" dirty="0">
                <a:solidFill>
                  <a:srgbClr val="B6E0F2"/>
                </a:solidFill>
                <a:latin typeface="Calibri" pitchFamily="34" charset="0"/>
                <a:ea typeface="Calibri" pitchFamily="34" charset="-122"/>
                <a:cs typeface="Calibri" pitchFamily="34" charset="-120"/>
              </a:rPr>
              <a:t>Does single sign-on make an organisation more secure or less secure? Argue both sides.</a:t>
            </a:r>
            <a:endParaRPr lang="en-US" sz="1650" dirty="0"/>
          </a:p>
          <a:p>
            <a:pPr indent="0" marL="0">
              <a:lnSpc>
                <a:spcPct val="130000"/>
              </a:lnSpc>
              <a:buNone/>
            </a:pPr>
            <a:r>
              <a:rPr lang="en-US" sz="1650" dirty="0">
                <a:solidFill>
                  <a:srgbClr val="B6E0F2"/>
                </a:solidFill>
                <a:latin typeface="Calibri" pitchFamily="34" charset="0"/>
                <a:ea typeface="Calibri" pitchFamily="34" charset="-122"/>
                <a:cs typeface="Calibri" pitchFamily="34" charset="-120"/>
              </a:rPr>
              <a:t>Why is deprovisioning so often neglected — and what would you do to fix it?</a:t>
            </a:r>
            <a:endParaRPr lang="en-US" sz="1650" dirty="0"/>
          </a:p>
        </p:txBody>
      </p:sp>
      <p:sp>
        <p:nvSpPr>
          <p:cNvPr id="7" name="Text 4"/>
          <p:cNvSpPr/>
          <p:nvPr/>
        </p:nvSpPr>
        <p:spPr>
          <a:xfrm>
            <a:off x="640080" y="5760720"/>
            <a:ext cx="10789920" cy="457200"/>
          </a:xfrm>
          <a:prstGeom prst="rect">
            <a:avLst/>
          </a:prstGeom>
          <a:noFill/>
          <a:ln/>
        </p:spPr>
        <p:txBody>
          <a:bodyPr wrap="square" lIns="0" tIns="0" rIns="0" bIns="0" rtlCol="0" anchor="ctr"/>
          <a:lstStyle/>
          <a:p>
            <a:pPr indent="0" marL="0">
              <a:buNone/>
            </a:pPr>
            <a:r>
              <a:rPr lang="en-US" sz="1300" i="1" dirty="0">
                <a:solidFill>
                  <a:srgbClr val="FABA32"/>
                </a:solidFill>
                <a:latin typeface="Calibri" pitchFamily="34" charset="0"/>
                <a:ea typeface="Calibri" pitchFamily="34" charset="-122"/>
                <a:cs typeface="Calibri" pitchFamily="34" charset="-120"/>
              </a:rPr>
              <a:t>Next week — Lesson 8:  Cloud Computing Security Design Patterns I (trusted platform · VM encryption · resource access control)</a:t>
            </a:r>
            <a:endParaRPr lang="en-US" sz="1300" dirty="0"/>
          </a:p>
        </p:txBody>
      </p:sp>
      <p:pic>
        <p:nvPicPr>
          <p:cNvPr id="8" name="Image 1" descr="/sessions/inspiring-busy-dijkstra/mnt/outputs/build/assets/logo_white_trim.png">    </p:cNvPr>
          <p:cNvPicPr>
            <a:picLocks noChangeAspect="1"/>
          </p:cNvPicPr>
          <p:nvPr/>
        </p:nvPicPr>
        <p:blipFill>
          <a:blip r:embed="rId2"/>
          <a:stretch>
            <a:fillRect/>
          </a:stretch>
        </p:blipFill>
        <p:spPr>
          <a:xfrm>
            <a:off x="10195560" y="502920"/>
            <a:ext cx="1417320" cy="6439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7 — Introduction to Identity Management in Cloud Computing</dc:title>
  <dc:subject>PptxGenJS Presentation</dc:subject>
  <dc:creator>Prof. Dr. Shahrulniza Musa</dc:creator>
  <cp:lastModifiedBy>Prof. Dr. Shahrulniza Musa</cp:lastModifiedBy>
  <cp:revision>1</cp:revision>
  <dcterms:created xsi:type="dcterms:W3CDTF">2026-07-09T09:48:46Z</dcterms:created>
  <dcterms:modified xsi:type="dcterms:W3CDTF">2026-07-09T09:48:46Z</dcterms:modified>
</cp:coreProperties>
</file>