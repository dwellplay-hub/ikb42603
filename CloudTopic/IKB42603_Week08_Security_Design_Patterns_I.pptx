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8. Over Lessons 3–7 we built a toolbox of controls; now we learn to assemble them into reusable, proven solutions called security design patterns. This is the SC8 integrated problem-solving skill in action — combining controls to solve recurring problems well. Today's patterns cluster around trusting the platform, protecting virtual machines, and controlling access to resources. Walk the outcomes. This maps to CLO2. Tell students a pattern is a named, reusable answer to a recurring design problem — learning the catalogue means they stop reinventing security from scratch and start composing tested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Lesson 8 maps to CLO2 and especially exercises the SC8 integrated-problem-solving skill cluster — composing security controls into design patterns is the definition of integrated problem-solving. Aligned to PLO2, MQF Level iii(a), Bloom P3, with the VBE3 integrity value, assessed through the Lab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patterns, establish what a pattern is and why they matter. A design pattern is a named, reusable solution to a problem that recurs across many systems — captured so you can apply it repeatedly rather than solving from scratch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a security design pattern is a documented, reusable solution to a recurring security problem in a given context. Borrowed from software engineering, patterns capture hard-won expertise in a named, shareable form — a problem, the forces at play, and a proven solution. Stress the value on the slide. Reuse: you apply a tested answer instead of reinventing it. Common vocabulary: teams can say 'use the authentication gateway pattern' and everyone knows what that means. Fewer mistakes: patterns encode lessons from past failures. This is exactly the SC8 integrated-problem-solving skill — real security is rarely one control; it is the right combination, and patterns are how professionals compose them. Note patterns are not rigid rules; they are adaptable templates you tailor to context. Preview the pattern families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map of the two-lesson pattern catalogue. This week, Patterns I: trusted-platform patterns that establish confidence the underlying hardware and boot are genuine and unmodified; VM protection patterns that keep virtual machines and their data safe on shared hosts; and resource access control patterns that gate who can reach cloud resources. Next week, Patterns II: network security, denial-of-service protection, federated authentication, and key management patterns. Note how the patterns build directly on the pillars from earlier lessons — trusted platform extends the hardening and measured boot from Lesson 5, VM protection extends the isolation from Lesson 3 and encryption from Lesson 4, and access control patterns extend Lessons 5 and 7. The point: patterns are not new theory; they are the disciplined packaging of what we have already learned into reusable building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run in the cloud sits on hardware you do not own. Trusted-platform patterns give you cryptographic confidence that the hardware and boot process are genuine and unmodified — a foundation of trust before you place workloads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trusted-platform pattern establishes a hardware root of trust. A Trusted Platform Module (TPM) is a dedicated secure chip that stores cryptographic keys and measurements in tamper-resistant hardware. Measured boot, from Lesson 5, uses it: at startup each component — firmware, bootloader, OS kernel — is measured (hashed) and the values recorded in the TPM, so you can later verify, through remote attestation, that the machine booted exactly the expected, unmodified software. Explain the problem it solves: in the cloud you cannot physically inspect the host, so how do you know it has not been tampered with beneath the OS — a rootkit, a malicious hypervisor? The trusted-platform pattern answers this with cryptographic evidence rather than trust-by-assumption. This is the bedrock the other patterns build on — there is little point encrypting a VM if the platform underneath is already compromised. It embodies security-by-design and the integrity goal of CIA at the deepest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trusted resource pool pattern scales trusted platforms into a fleet. Instead of trusting individual servers ad hoc, you build a pool of hosts that have all passed attestation — verified via their TPMs to be running approved, unmodified firmware and hypervisors — and you place sensitive workloads only on hosts from that trusted pool. Combine this with hardened, minimal machine images (golden images from Lesson 5) so every host in the pool starts from a known-good, security-by-design baseline. The problem it solves: at cloud scale you cannot manually vet each machine, so you automate trust — a workload is only scheduled onto hardware that has cryptographically proven its integrity. Give the practical payoff: this lets a regulated tenant require that their data never touches an unattested host, a real requirement in finance and healthcare, which connects to the compliance lessons ahead. The pattern turns per-machine trust into a policy-enforced property of the whole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trusted platform beneath, we protect the virtual machines running on it. These patterns keep a VM's data confidential and its execution isolated, even from a curious or compromised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VM encryption pattern protects a virtual machine's data at rest — its virtual disks and, when stopped, its memory image — by encrypting them, so the VM's contents are unreadable to anyone who accesses the underlying storage, including other tenants after remanence or even a malicious insider at the provider. Key management is central, echoing Lesson 4: the encryption keys must be protected and, ideally, controlled by the tenant (customer-managed keys) and released only to attested, trusted hosts — combining with the trusted-platform pattern so a VM will only decrypt on hardware that has proven its integrity. The problem it solves: isolation (Lesson 3) keeps tenants apart in normal operation, but encryption adds a second line so that if isolation fails or storage is exposed, the data still resists. Mention the cutting edge — confidential computing, which encrypts VM memory even while running, protecting data in use. The pattern is defense in depth for the VM: trusted platform below it, encryption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hypervisor protection pattern hardens the layer that creates and isolates VMs — the critical boundary from Lesson 3. Because compromising the hypervisor exposes every VM on the host, this pattern wraps it in layered controls: keep it minimal (a small attack surface), tightly restrict and monitor access to its management interface, patch it promptly against the high-value vulnerabilities attackers hunt for, and use the trusted-platform pattern to attest that the running hypervisor is the genuine, unmodified one. The problem it solves is the VM-escape and malicious-hypervisor threat: an attacker who breaks out of a VM aims for the hypervisor, and a tenant worries the provider's hypervisor could be tampered with. This pattern counters both — hardening resists escape, attestation resists tampering. Land the layered picture that closes this part: trusted platform verifies the hardware and boot, hypervisor protection secures the isolation layer, and VM encryption protects the workload — three patterns stacked into defense in depth for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family this week gates access to cloud resources. These patterns package the access-control and identity work of Lessons 5 and 7 into reusable architectural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authentication gateway pattern places a single, dedicated component in front of resources that handles authentication and initial authorization for all requests — a controlled front door. Every request must pass the gateway, which verifies identity (integrating with the SSO/federation from Lesson 7), enforces MFA, checks coarse authorization, and only then forwards the request to the resource. The problem it solves: without a gateway, every service implements its own authentication inconsistently, creating gaps; the gateway centralises and standardises it, so you enforce MFA and policy in one well-guarded place and get consistent logging for the audit trail. This is the architectural embodiment of zero trust — no request reaches a resource without passing the gate, regardless of network origin. Note the trade-off, familiar from SSO: the gateway is a high-value choke point that must be highly available and very well protected. It pairs naturally with the resource access control pattern next, which handles fine-grained decisions behind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gateway, the resource access control pattern makes fine-grained decisions about what an authenticated identity may do to a specific resource. It applies role-based access control from Lesson 5 as a reusable architectural element: permissions attach to roles, roles to identities, and every resource operation checks the identity's roles against a policy — enforcing least privilege by construction. Add two supporting practices on the slide: encrypt data in transit between components so that even authorised traffic cannot be eavesdropped (a small but important companion pattern), and log every access decision for auditing. The problem it solves: without a consistent access-control pattern, permissions sprawl inconsistently across services and drift into over-provisioning — the misconfiguration we keep meeting; the pattern gives one coherent, auditable model. Tie the part together: the authentication gateway answers 'are you who you say?', resource access control answers 'may you do this to this resource?' — authentication then authorization, packaged as reusable components. Together they realise least privilege and zero trust in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most powerful when composed. We show how today's patterns stack into a secure architecture, apply them to a scenario, and set the habit of pattern-based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SC8 integrated-problem-solving payoff: no single pattern is a complete design; you compose them in layers. Read the stack on the slide from the ground up. Trusted platform gives a verified hardware and boot foundation. Hypervisor protection secures the isolation layer above it. VM encryption protects the workload's data. The authentication gateway gates all incoming access. Resource access control makes fine-grained, least-privilege decisions behind it. Each pattern covers a different failure mode, so together they form defense in depth — if one layer is bypassed, others still protect. The teaching point students must take into design work: when facing a real security requirement, ask 'which patterns apply, and how do they combine?' rather than reaching for a single control. This is exactly how professionals design secure cloud systems, and it is the skill the assignment and exam assess. It also sets up Lesson 9, which adds network, DoS, federation and key-management patterns to the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design exercise. Scenario: a bank wants to run a sensitive workload in a public cloud and requires that (a) its data never runs on tampered hardware, (b) the data is unreadable to the provider, and (c) only authorised bank staff can reach the service. Ask students which patterns solve each requirement. Requirement (a): trusted platform plus trusted resource pool — attest hosts and place the workload only on verified hardware. Requirement (b): VM encryption with customer-managed keys released only to attested hosts, plus hypervisor protection. Requirement (c): authentication gateway with MFA and federation to the bank's identity provider, plus resource access control enforcing least privilege. The teaching point: a real requirement is met not by one control but by composing patterns — this is SC8 integrated problem-solving, and it is precisely the reasoning the assignment rewards. Have pairs map requirements to patterns before you reveal the mapping; this rehearses design thinking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into design habits. Start from a trusted platform — verify the foundation before trusting anything above. Encrypt VMs and control the keys. Harden and attest the hypervisor. Put a single authentication gateway in front of resources. Enforce least privilege with resource access control. And, above all, compose patterns in layers rather than relying on any one. Tell students these habits are the SC8 skill and are exactly what the assignment and exam assess. Preview: Lesson 9 continues the catalogue with network security, DoS protection, federated authentication and key-management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One: security design patterns are reusable solutions — compose them rather than reinventing controls (SC8). Two: trusted-platform patterns give cryptographic confidence in the hardware and boot, the foundation for everything above. Three: VM protection patterns — encryption and hypervisor protection — keep workloads safe on shared hosts. Four: resource access control patterns (authentication gateway + RBAC) gate access, realising zero trust and least privilege in architecture. Ask students to name a pattern for each of the three families. Preview Lesson 9: security design patterns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draws out that encryption and access control are undermined if the platform beneath is compromised — trust must start at the bottom. The second rehearses design judgement. Preview Lesson 9. Remind students the Assignment (CLO3) was due around this week per the plan, and that pattern-composition (SC8) is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8 · LESSON 8</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Cloud Computing Security Design Patterns I</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Trusted platform · VM encryption &amp; protection · Resource access control</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Explain security design patterns</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Reusable solutions to recurring problems.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Describe trusted-platform patterns</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TPM, measured boot, trusted resource pools.</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Apply VM protection patterns</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VM encryption and hypervisor protection.</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Apply resource access control patterns</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Authentication gateway and RBAC.</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Combine patterns for defense in depth</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Layering patterns into an architecture.</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Justify pattern choices (SC8)</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Integrated problem-solving for real designs.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SC8 · Integrated Problem-Solving</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Lab Assignment (CLO2)</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Are Security Design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is a security design pattern?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1645920"/>
            <a:ext cx="5760720" cy="1188720"/>
          </a:xfrm>
          <a:prstGeom prst="rect">
            <a:avLst/>
          </a:prstGeom>
          <a:noFill/>
          <a:ln/>
        </p:spPr>
        <p:txBody>
          <a:bodyPr wrap="square" lIns="0" tIns="0" rIns="0" bIns="0" rtlCol="0" anchor="t"/>
          <a:lstStyle/>
          <a:p>
            <a:pPr indent="0" marL="0">
              <a:buNone/>
            </a:pPr>
            <a:r>
              <a:rPr lang="en-US" sz="1700" dirty="0">
                <a:solidFill>
                  <a:srgbClr val="23283A"/>
                </a:solidFill>
                <a:latin typeface="Calibri" pitchFamily="34" charset="0"/>
                <a:ea typeface="Calibri" pitchFamily="34" charset="-122"/>
                <a:cs typeface="Calibri" pitchFamily="34" charset="-120"/>
              </a:rPr>
              <a:t>A documented, reusable solution to a recurring security problem in a given context.</a:t>
            </a:r>
            <a:endParaRPr lang="en-US" sz="1700" dirty="0"/>
          </a:p>
        </p:txBody>
      </p:sp>
      <p:sp>
        <p:nvSpPr>
          <p:cNvPr id="8" name="Shape 5"/>
          <p:cNvSpPr/>
          <p:nvPr/>
        </p:nvSpPr>
        <p:spPr>
          <a:xfrm>
            <a:off x="640080" y="3063240"/>
            <a:ext cx="146304" cy="146304"/>
          </a:xfrm>
          <a:prstGeom prst="ellipse">
            <a:avLst/>
          </a:prstGeom>
          <a:solidFill>
            <a:srgbClr val="F2931F"/>
          </a:solidFill>
          <a:ln/>
        </p:spPr>
      </p:sp>
      <p:sp>
        <p:nvSpPr>
          <p:cNvPr id="9" name="Text 6"/>
          <p:cNvSpPr/>
          <p:nvPr/>
        </p:nvSpPr>
        <p:spPr>
          <a:xfrm>
            <a:off x="932688" y="301752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Captures expertise in a named, shareable form</a:t>
            </a:r>
            <a:endParaRPr lang="en-US" sz="1400" dirty="0"/>
          </a:p>
        </p:txBody>
      </p:sp>
      <p:sp>
        <p:nvSpPr>
          <p:cNvPr id="10" name="Shape 7"/>
          <p:cNvSpPr/>
          <p:nvPr/>
        </p:nvSpPr>
        <p:spPr>
          <a:xfrm>
            <a:off x="640080" y="3611880"/>
            <a:ext cx="146304" cy="146304"/>
          </a:xfrm>
          <a:prstGeom prst="ellipse">
            <a:avLst/>
          </a:prstGeom>
          <a:solidFill>
            <a:srgbClr val="F2931F"/>
          </a:solidFill>
          <a:ln/>
        </p:spPr>
      </p:sp>
      <p:sp>
        <p:nvSpPr>
          <p:cNvPr id="11" name="Text 8"/>
          <p:cNvSpPr/>
          <p:nvPr/>
        </p:nvSpPr>
        <p:spPr>
          <a:xfrm>
            <a:off x="932688" y="356616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Reuse a tested answer, don't reinvent</a:t>
            </a:r>
            <a:endParaRPr lang="en-US" sz="1400" dirty="0"/>
          </a:p>
        </p:txBody>
      </p:sp>
      <p:sp>
        <p:nvSpPr>
          <p:cNvPr id="12" name="Shape 9"/>
          <p:cNvSpPr/>
          <p:nvPr/>
        </p:nvSpPr>
        <p:spPr>
          <a:xfrm>
            <a:off x="640080" y="4160520"/>
            <a:ext cx="146304" cy="146304"/>
          </a:xfrm>
          <a:prstGeom prst="ellipse">
            <a:avLst/>
          </a:prstGeom>
          <a:solidFill>
            <a:srgbClr val="F2931F"/>
          </a:solidFill>
          <a:ln/>
        </p:spPr>
      </p:sp>
      <p:sp>
        <p:nvSpPr>
          <p:cNvPr id="13" name="Text 10"/>
          <p:cNvSpPr/>
          <p:nvPr/>
        </p:nvSpPr>
        <p:spPr>
          <a:xfrm>
            <a:off x="932688" y="411480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A shared vocabulary for design teams</a:t>
            </a:r>
            <a:endParaRPr lang="en-US" sz="1400" dirty="0"/>
          </a:p>
        </p:txBody>
      </p:sp>
      <p:sp>
        <p:nvSpPr>
          <p:cNvPr id="14" name="Shape 11"/>
          <p:cNvSpPr/>
          <p:nvPr/>
        </p:nvSpPr>
        <p:spPr>
          <a:xfrm>
            <a:off x="6720840" y="1600200"/>
            <a:ext cx="4800600" cy="3108960"/>
          </a:xfrm>
          <a:prstGeom prst="roundRect">
            <a:avLst>
              <a:gd name="adj" fmla="val 2647"/>
            </a:avLst>
          </a:prstGeom>
          <a:solidFill>
            <a:srgbClr val="262F65"/>
          </a:solidFill>
          <a:ln/>
          <a:effectLst>
            <a:outerShdw sx="100000" sy="100000" kx="0" ky="0" algn="bl" rotWithShape="0" blurRad="88900" dist="38100" dir="5400000">
              <a:srgbClr val="8894AD">
                <a:alpha val="28000"/>
              </a:srgbClr>
            </a:outerShdw>
          </a:effectLst>
        </p:spPr>
      </p:sp>
      <p:sp>
        <p:nvSpPr>
          <p:cNvPr id="15" name="Shape 12"/>
          <p:cNvSpPr/>
          <p:nvPr/>
        </p:nvSpPr>
        <p:spPr>
          <a:xfrm>
            <a:off x="7086600" y="1920240"/>
            <a:ext cx="868680" cy="868680"/>
          </a:xfrm>
          <a:prstGeom prst="ellipse">
            <a:avLst/>
          </a:prstGeom>
          <a:solidFill>
            <a:srgbClr val="FABA32"/>
          </a:solidFill>
          <a:ln/>
        </p:spPr>
      </p:sp>
      <p:pic>
        <p:nvPicPr>
          <p:cNvPr id="16" name="Image 0" descr="preencoded.png">    </p:cNvPr>
          <p:cNvPicPr>
            <a:picLocks noChangeAspect="1"/>
          </p:cNvPicPr>
          <p:nvPr/>
        </p:nvPicPr>
        <p:blipFill>
          <a:blip r:embed="rId1"/>
          <a:stretch>
            <a:fillRect/>
          </a:stretch>
        </p:blipFill>
        <p:spPr>
          <a:xfrm>
            <a:off x="7295083" y="2128723"/>
            <a:ext cx="451714" cy="451714"/>
          </a:xfrm>
          <a:prstGeom prst="rect">
            <a:avLst/>
          </a:prstGeom>
        </p:spPr>
      </p:pic>
      <p:sp>
        <p:nvSpPr>
          <p:cNvPr id="17" name="Text 13"/>
          <p:cNvSpPr/>
          <p:nvPr/>
        </p:nvSpPr>
        <p:spPr>
          <a:xfrm>
            <a:off x="7086600" y="2880360"/>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Compose controls, don't reinvent them.</a:t>
            </a:r>
            <a:endParaRPr lang="en-US" sz="1900" dirty="0"/>
          </a:p>
        </p:txBody>
      </p:sp>
      <p:sp>
        <p:nvSpPr>
          <p:cNvPr id="18" name="Text 14"/>
          <p:cNvSpPr/>
          <p:nvPr/>
        </p:nvSpPr>
        <p:spPr>
          <a:xfrm>
            <a:off x="7086600" y="3611880"/>
            <a:ext cx="4114800" cy="1005840"/>
          </a:xfrm>
          <a:prstGeom prst="rect">
            <a:avLst/>
          </a:prstGeom>
          <a:noFill/>
          <a:ln/>
        </p:spPr>
        <p:txBody>
          <a:bodyPr wrap="square" lIns="0" tIns="0" rIns="0" bIns="0" rtlCol="0" anchor="t"/>
          <a:lstStyle/>
          <a:p>
            <a:pPr indent="0" marL="0">
              <a:buNone/>
            </a:pPr>
            <a:r>
              <a:rPr lang="en-US" sz="1300" i="1" dirty="0">
                <a:solidFill>
                  <a:srgbClr val="B6E0F2"/>
                </a:solidFill>
                <a:latin typeface="Calibri" pitchFamily="34" charset="0"/>
                <a:ea typeface="Calibri" pitchFamily="34" charset="-122"/>
                <a:cs typeface="Calibri" pitchFamily="34" charset="-120"/>
              </a:rPr>
              <a:t>Real security is the right combination of controls — patterns are how professionals assemble them (SC8).</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CATALOGUE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Pattern families in this course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Trusted platform</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Confidence the hardware &amp; boot are genuine and unmodified.</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VM protection</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Keep VMs and their data safe on shared hosts.</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Resource access control</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Gate who can reach cloud resources.</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Lesson 9 adds:  </a:t>
            </a:r>
            <a:pPr algn="ctr" indent="0" marL="0">
              <a:buNone/>
            </a:pPr>
            <a:r>
              <a:rPr lang="en-US" sz="1350" i="1" dirty="0">
                <a:solidFill>
                  <a:srgbClr val="262F65"/>
                </a:solidFill>
                <a:latin typeface="Calibri" pitchFamily="34" charset="0"/>
                <a:ea typeface="Calibri" pitchFamily="34" charset="-122"/>
                <a:cs typeface="Calibri" pitchFamily="34" charset="-120"/>
              </a:rPr>
              <a:t>network security, DoS protection, federated authentication and key-management patterns.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Trusted Platform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TRUSTED PLATFORM</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Trusted Platform Module &amp; measured boot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Trusted Platform Module (TPM)</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 secure chip: a hardware root of trust.</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Stores keys &amp; measurements — </a:t>
            </a:r>
            <a:pPr indent="0" marL="0">
              <a:buNone/>
            </a:pPr>
            <a:r>
              <a:rPr lang="en-US" sz="1250" dirty="0">
                <a:solidFill>
                  <a:srgbClr val="5B6472"/>
                </a:solidFill>
                <a:latin typeface="Calibri" pitchFamily="34" charset="0"/>
                <a:ea typeface="Calibri" pitchFamily="34" charset="-122"/>
                <a:cs typeface="Calibri" pitchFamily="34" charset="-120"/>
              </a:rPr>
              <a:t>tamper-resistant</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Cannot be extracted in software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Basis for attestation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Measured boot &amp; attestation</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Prove the machine booted trusted software.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Measure each boot component — </a:t>
            </a:r>
            <a:pPr indent="0" marL="0">
              <a:buNone/>
            </a:pPr>
            <a:r>
              <a:rPr lang="en-US" sz="1250" dirty="0">
                <a:solidFill>
                  <a:srgbClr val="5B6472"/>
                </a:solidFill>
                <a:latin typeface="Calibri" pitchFamily="34" charset="0"/>
                <a:ea typeface="Calibri" pitchFamily="34" charset="-122"/>
                <a:cs typeface="Calibri" pitchFamily="34" charset="-120"/>
              </a:rPr>
              <a:t>firmware → kernel</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Record hashes in the TPM — </a:t>
            </a:r>
            <a:pPr indent="0" marL="0">
              <a:buNone/>
            </a:pP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Remote attestation verifies integrity — </a:t>
            </a:r>
            <a:pPr indent="0" marL="0">
              <a:buNone/>
            </a:pP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TRUSTED RESOURCE POOL</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Trusted cloud resource pools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Attested host pool</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Only hosts that pass TPM attestation join the trusted pool.</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Hardened golden images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Every host starts from a known-good, minimal baseline.</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Policy placement</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Sensitive workloads run only on trusted-pool hardware.</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Real requirement:  </a:t>
            </a:r>
            <a:pPr algn="ctr" indent="0" marL="0">
              <a:buNone/>
            </a:pPr>
            <a:r>
              <a:rPr lang="en-US" sz="1350" i="1" dirty="0">
                <a:solidFill>
                  <a:srgbClr val="262F65"/>
                </a:solidFill>
                <a:latin typeface="Calibri" pitchFamily="34" charset="0"/>
                <a:ea typeface="Calibri" pitchFamily="34" charset="-122"/>
                <a:cs typeface="Calibri" pitchFamily="34" charset="-120"/>
              </a:rPr>
              <a:t>regulated tenants can demand their data never touches an unattested host.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Virtual Machine Protection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VM ENCRYPTION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Virtual machine encryption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Encrypt the VM</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Virtual disks (and stopped memory) encrypted at rest.</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Unreadable from underlying storage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Resists remanence &amp; insider access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Second line if isolation fails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Key control</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Keys protected — released only to trusted hosts.</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Customer-managed keys — </a:t>
            </a:r>
            <a:pPr indent="0" marL="0">
              <a:buNone/>
            </a:pPr>
            <a:r>
              <a:rPr lang="en-US" sz="1250" dirty="0">
                <a:solidFill>
                  <a:srgbClr val="5B6472"/>
                </a:solidFill>
                <a:latin typeface="Calibri" pitchFamily="34" charset="0"/>
                <a:ea typeface="Calibri" pitchFamily="34" charset="-122"/>
                <a:cs typeface="Calibri" pitchFamily="34" charset="-120"/>
              </a:rPr>
              <a:t>tenant control</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Release on attestation — </a:t>
            </a:r>
            <a:pPr indent="0" marL="0">
              <a:buNone/>
            </a:pPr>
            <a:r>
              <a:rPr lang="en-US" sz="1250" dirty="0">
                <a:solidFill>
                  <a:srgbClr val="5B6472"/>
                </a:solidFill>
                <a:latin typeface="Calibri" pitchFamily="34" charset="0"/>
                <a:ea typeface="Calibri" pitchFamily="34" charset="-122"/>
                <a:cs typeface="Calibri" pitchFamily="34" charset="-120"/>
              </a:rPr>
              <a:t>ties to trusted platform</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Confidential computing — </a:t>
            </a:r>
            <a:pPr indent="0" marL="0">
              <a:buNone/>
            </a:pPr>
            <a:r>
              <a:rPr lang="en-US" sz="1250" dirty="0">
                <a:solidFill>
                  <a:srgbClr val="5B6472"/>
                </a:solidFill>
                <a:latin typeface="Calibri" pitchFamily="34" charset="0"/>
                <a:ea typeface="Calibri" pitchFamily="34" charset="-122"/>
                <a:cs typeface="Calibri" pitchFamily="34" charset="-120"/>
              </a:rPr>
              <a:t>encrypt memory in use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HYPERVISOR PROTECTION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Hypervisor protection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Minimal &amp; hardened</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Small attack surface; restricted, monitored management access.</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Patch promptly</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Hypervisor flaws are high-value targets.</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Attest integrity</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Prove the running hypervisor is genuine (trusted platform).</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00" b="1" dirty="0">
                <a:solidFill>
                  <a:srgbClr val="F2931F"/>
                </a:solidFill>
                <a:latin typeface="Calibri" pitchFamily="34" charset="0"/>
                <a:ea typeface="Calibri" pitchFamily="34" charset="-122"/>
                <a:cs typeface="Calibri" pitchFamily="34" charset="-120"/>
              </a:rPr>
              <a:t>Stacked:  </a:t>
            </a:r>
            <a:pPr algn="ctr" indent="0" marL="0">
              <a:buNone/>
            </a:pPr>
            <a:r>
              <a:rPr lang="en-US" sz="1300" i="1" dirty="0">
                <a:solidFill>
                  <a:srgbClr val="262F65"/>
                </a:solidFill>
                <a:latin typeface="Calibri" pitchFamily="34" charset="0"/>
                <a:ea typeface="Calibri" pitchFamily="34" charset="-122"/>
                <a:cs typeface="Calibri" pitchFamily="34" charset="-120"/>
              </a:rPr>
              <a:t>trusted platform (hardware) + hypervisor protection (isolation) + VM encryption (workload) = defense in depth.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Resource Access Control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AUTHENTICATION GATEWAY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Cloud authentication gateway</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A controlled front door</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All requests pass one authentication component.</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Verify identity — </a:t>
            </a:r>
            <a:pPr indent="0" marL="0">
              <a:buNone/>
            </a:pPr>
            <a:r>
              <a:rPr lang="en-US" sz="1250" dirty="0">
                <a:solidFill>
                  <a:srgbClr val="5B6472"/>
                </a:solidFill>
                <a:latin typeface="Calibri" pitchFamily="34" charset="0"/>
                <a:ea typeface="Calibri" pitchFamily="34" charset="-122"/>
                <a:cs typeface="Calibri" pitchFamily="34" charset="-120"/>
              </a:rPr>
              <a:t>integrates SSO / federation</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Enforce MFA &amp; policy — </a:t>
            </a:r>
            <a:pPr indent="0" marL="0">
              <a:buNone/>
            </a:pPr>
            <a:r>
              <a:rPr lang="en-US" sz="1250" dirty="0">
                <a:solidFill>
                  <a:srgbClr val="5B6472"/>
                </a:solidFill>
                <a:latin typeface="Calibri" pitchFamily="34" charset="0"/>
                <a:ea typeface="Calibri" pitchFamily="34" charset="-122"/>
                <a:cs typeface="Calibri" pitchFamily="34" charset="-120"/>
              </a:rPr>
              <a:t>in one place</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Consistent logging — </a:t>
            </a:r>
            <a:pPr indent="0" marL="0">
              <a:buNone/>
            </a:pPr>
            <a:r>
              <a:rPr lang="en-US" sz="1250" dirty="0">
                <a:solidFill>
                  <a:srgbClr val="5B6472"/>
                </a:solidFill>
                <a:latin typeface="Calibri" pitchFamily="34" charset="0"/>
                <a:ea typeface="Calibri" pitchFamily="34" charset="-122"/>
                <a:cs typeface="Calibri" pitchFamily="34" charset="-120"/>
              </a:rPr>
              <a:t>for the audit trail</a:t>
            </a: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Zero trust in practice</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No request reaches a resource unverified.</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Regardless of network origin — </a:t>
            </a:r>
            <a:pPr indent="0" marL="0">
              <a:buNone/>
            </a:pP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Standardises authentication — </a:t>
            </a:r>
            <a:pPr indent="0" marL="0">
              <a:buNone/>
            </a:pPr>
            <a:r>
              <a:rPr lang="en-US" sz="1250" dirty="0">
                <a:solidFill>
                  <a:srgbClr val="5B6472"/>
                </a:solidFill>
                <a:latin typeface="Calibri" pitchFamily="34" charset="0"/>
                <a:ea typeface="Calibri" pitchFamily="34" charset="-122"/>
                <a:cs typeface="Calibri" pitchFamily="34" charset="-120"/>
              </a:rPr>
              <a:t>closes per-service gaps</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Protect the choke point well — </a:t>
            </a:r>
            <a:pPr indent="0" marL="0">
              <a:buNone/>
            </a:pP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RESOURCE ACCESS CONTROL</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Resource access control (RBAC)</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Role-based decisions</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Roles → identities; every operation checks roles vs policy.</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Least privilege by design</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Grant only what the role needs — consistently, auditably.</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Encrypt in transit</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Protect authorised traffic between components; log decisions.</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00" i="1" dirty="0">
                <a:solidFill>
                  <a:srgbClr val="262F65"/>
                </a:solidFill>
                <a:latin typeface="Calibri" pitchFamily="34" charset="0"/>
                <a:ea typeface="Calibri" pitchFamily="34" charset="-122"/>
                <a:cs typeface="Calibri" pitchFamily="34" charset="-120"/>
              </a:rPr>
              <a:t>Gateway asks 'who are you?'; resource access control asks 'may you do this?' — authN then authZ, as components.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Combining Patterns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SC8 IN ACTION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Composing patterns into an architecture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37360"/>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883664"/>
            <a:ext cx="457200" cy="45720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978408" y="1993392"/>
            <a:ext cx="237744" cy="237744"/>
          </a:xfrm>
          <a:prstGeom prst="rect">
            <a:avLst/>
          </a:prstGeom>
        </p:spPr>
      </p:pic>
      <p:sp>
        <p:nvSpPr>
          <p:cNvPr id="10" name="Text 6"/>
          <p:cNvSpPr/>
          <p:nvPr/>
        </p:nvSpPr>
        <p:spPr>
          <a:xfrm>
            <a:off x="1508760" y="1737360"/>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Resource access control — least-privilege decisions</a:t>
            </a:r>
            <a:endParaRPr lang="en-US" sz="1450" dirty="0"/>
          </a:p>
        </p:txBody>
      </p:sp>
      <p:sp>
        <p:nvSpPr>
          <p:cNvPr id="11" name="Shape 7"/>
          <p:cNvSpPr/>
          <p:nvPr/>
        </p:nvSpPr>
        <p:spPr>
          <a:xfrm>
            <a:off x="640080" y="2615184"/>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761488"/>
            <a:ext cx="457200" cy="457200"/>
          </a:xfrm>
          <a:prstGeom prst="ellipse">
            <a:avLst/>
          </a:prstGeom>
          <a:solidFill>
            <a:srgbClr val="F2931F"/>
          </a:solidFill>
          <a:ln/>
        </p:spPr>
      </p:sp>
      <p:pic>
        <p:nvPicPr>
          <p:cNvPr id="13" name="Image 1" descr="preencoded.png">    </p:cNvPr>
          <p:cNvPicPr>
            <a:picLocks noChangeAspect="1"/>
          </p:cNvPicPr>
          <p:nvPr/>
        </p:nvPicPr>
        <p:blipFill>
          <a:blip r:embed="rId2"/>
          <a:stretch>
            <a:fillRect/>
          </a:stretch>
        </p:blipFill>
        <p:spPr>
          <a:xfrm>
            <a:off x="978408" y="2871216"/>
            <a:ext cx="237744" cy="237744"/>
          </a:xfrm>
          <a:prstGeom prst="rect">
            <a:avLst/>
          </a:prstGeom>
        </p:spPr>
      </p:pic>
      <p:sp>
        <p:nvSpPr>
          <p:cNvPr id="14" name="Text 9"/>
          <p:cNvSpPr/>
          <p:nvPr/>
        </p:nvSpPr>
        <p:spPr>
          <a:xfrm>
            <a:off x="1508760" y="2615184"/>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Authentication gateway — controlled front door</a:t>
            </a:r>
            <a:endParaRPr lang="en-US" sz="1450" dirty="0"/>
          </a:p>
        </p:txBody>
      </p:sp>
      <p:sp>
        <p:nvSpPr>
          <p:cNvPr id="15" name="Shape 10"/>
          <p:cNvSpPr/>
          <p:nvPr/>
        </p:nvSpPr>
        <p:spPr>
          <a:xfrm>
            <a:off x="640080" y="3493008"/>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3639312"/>
            <a:ext cx="457200" cy="457200"/>
          </a:xfrm>
          <a:prstGeom prst="ellipse">
            <a:avLst/>
          </a:prstGeom>
          <a:solidFill>
            <a:srgbClr val="293E7B"/>
          </a:solidFill>
          <a:ln/>
        </p:spPr>
      </p:sp>
      <p:pic>
        <p:nvPicPr>
          <p:cNvPr id="17" name="Image 2" descr="preencoded.png">    </p:cNvPr>
          <p:cNvPicPr>
            <a:picLocks noChangeAspect="1"/>
          </p:cNvPicPr>
          <p:nvPr/>
        </p:nvPicPr>
        <p:blipFill>
          <a:blip r:embed="rId3"/>
          <a:stretch>
            <a:fillRect/>
          </a:stretch>
        </p:blipFill>
        <p:spPr>
          <a:xfrm>
            <a:off x="978408" y="3749040"/>
            <a:ext cx="237744" cy="237744"/>
          </a:xfrm>
          <a:prstGeom prst="rect">
            <a:avLst/>
          </a:prstGeom>
        </p:spPr>
      </p:pic>
      <p:sp>
        <p:nvSpPr>
          <p:cNvPr id="18" name="Text 12"/>
          <p:cNvSpPr/>
          <p:nvPr/>
        </p:nvSpPr>
        <p:spPr>
          <a:xfrm>
            <a:off x="1508760" y="3493008"/>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VM encryption — protect workload data</a:t>
            </a:r>
            <a:endParaRPr lang="en-US" sz="1450" dirty="0"/>
          </a:p>
        </p:txBody>
      </p:sp>
      <p:sp>
        <p:nvSpPr>
          <p:cNvPr id="19" name="Shape 13"/>
          <p:cNvSpPr/>
          <p:nvPr/>
        </p:nvSpPr>
        <p:spPr>
          <a:xfrm>
            <a:off x="640080" y="4370832"/>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4517136"/>
            <a:ext cx="457200" cy="457200"/>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978408" y="4626864"/>
            <a:ext cx="237744" cy="237744"/>
          </a:xfrm>
          <a:prstGeom prst="rect">
            <a:avLst/>
          </a:prstGeom>
        </p:spPr>
      </p:pic>
      <p:sp>
        <p:nvSpPr>
          <p:cNvPr id="22" name="Text 15"/>
          <p:cNvSpPr/>
          <p:nvPr/>
        </p:nvSpPr>
        <p:spPr>
          <a:xfrm>
            <a:off x="1508760" y="4370832"/>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Hypervisor protection — secure isolation layer</a:t>
            </a:r>
            <a:endParaRPr lang="en-US" sz="1450" dirty="0"/>
          </a:p>
        </p:txBody>
      </p:sp>
      <p:sp>
        <p:nvSpPr>
          <p:cNvPr id="23" name="Shape 16"/>
          <p:cNvSpPr/>
          <p:nvPr/>
        </p:nvSpPr>
        <p:spPr>
          <a:xfrm>
            <a:off x="640080" y="5248656"/>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4" name="Shape 17"/>
          <p:cNvSpPr/>
          <p:nvPr/>
        </p:nvSpPr>
        <p:spPr>
          <a:xfrm>
            <a:off x="868680" y="5394960"/>
            <a:ext cx="457200" cy="457200"/>
          </a:xfrm>
          <a:prstGeom prst="ellipse">
            <a:avLst/>
          </a:prstGeom>
          <a:solidFill>
            <a:srgbClr val="262F65"/>
          </a:solidFill>
          <a:ln/>
        </p:spPr>
      </p:sp>
      <p:pic>
        <p:nvPicPr>
          <p:cNvPr id="25" name="Image 4" descr="preencoded.png">    </p:cNvPr>
          <p:cNvPicPr>
            <a:picLocks noChangeAspect="1"/>
          </p:cNvPicPr>
          <p:nvPr/>
        </p:nvPicPr>
        <p:blipFill>
          <a:blip r:embed="rId5"/>
          <a:stretch>
            <a:fillRect/>
          </a:stretch>
        </p:blipFill>
        <p:spPr>
          <a:xfrm>
            <a:off x="978408" y="5504688"/>
            <a:ext cx="237744" cy="237744"/>
          </a:xfrm>
          <a:prstGeom prst="rect">
            <a:avLst/>
          </a:prstGeom>
        </p:spPr>
      </p:pic>
      <p:sp>
        <p:nvSpPr>
          <p:cNvPr id="26" name="Text 18"/>
          <p:cNvSpPr/>
          <p:nvPr/>
        </p:nvSpPr>
        <p:spPr>
          <a:xfrm>
            <a:off x="1508760" y="5248656"/>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Trusted platform — verified hardware &amp; boot</a:t>
            </a:r>
            <a:endParaRPr lang="en-US" sz="1450" dirty="0"/>
          </a:p>
        </p:txBody>
      </p:sp>
      <p:sp>
        <p:nvSpPr>
          <p:cNvPr id="27" name="Text 19"/>
          <p:cNvSpPr/>
          <p:nvPr/>
        </p:nvSpPr>
        <p:spPr>
          <a:xfrm>
            <a:off x="640080" y="6126480"/>
            <a:ext cx="10881360" cy="365760"/>
          </a:xfrm>
          <a:prstGeom prst="rect">
            <a:avLst/>
          </a:prstGeom>
          <a:noFill/>
          <a:ln/>
        </p:spPr>
        <p:txBody>
          <a:bodyPr wrap="square" lIns="0" tIns="0" rIns="0" bIns="0" rtlCol="0" anchor="ctr"/>
          <a:lstStyle/>
          <a:p>
            <a:pPr algn="ctr" indent="0" marL="0">
              <a:buNone/>
            </a:pPr>
            <a:r>
              <a:rPr lang="en-US" sz="1300" i="1" dirty="0">
                <a:solidFill>
                  <a:srgbClr val="262F65"/>
                </a:solidFill>
                <a:latin typeface="Calibri" pitchFamily="34" charset="0"/>
                <a:ea typeface="Calibri" pitchFamily="34" charset="-122"/>
                <a:cs typeface="Calibri" pitchFamily="34" charset="-120"/>
              </a:rPr>
              <a:t>Each pattern covers a different failure mode — stacked, they are defense in depth.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designing for a regulated tenant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bank runs a sensitive workload in public cloud and requires: (a) data never on tampered hardware, (b) data unreadable to the provider, (c) only authorised staff can reach the service.</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Which patterns for (a) &amp; (b)?</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Trusted platform + trusted resource pool · VM encryption with customer keys + hypervisor protection.</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Which patterns for (c)?</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Authentication gateway with MFA + federation · resource access control enforcing least privilege.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designing with patterns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Start from a trusted platform</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Verify the foundation first.</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Encrypt VMs, control keys</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Customer-managed, attested release.</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Harden &amp; attest hypervisors</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Protect the isolation layer.</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Front resources with a gateway</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Central, consistent authentication.</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Enforce least privilege</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Resource access control by role.</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Compose patterns in layers</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Defense in depth (SC8).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Security design patterns are reusable solutions — compose them rather than reinventing controls (SC8).</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Trusted-platform patterns give cryptographic confidence in hardware and boot — the foundation.</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VM protection patterns — encryption + hypervisor protection — keep workloads safe on shared hosts.</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Resource access control patterns (gateway + RBAC) realise zero trust and least privilege in architecture.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Why is a trusted platform the foundation for the other patterns — what breaks if it is missing?</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For a workload you know, which two patterns would you apply first, and why?</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9:  Cloud Computing Security Design Patterns II (network security · DoS protection · federated auth · key management)</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 Cloud Computing Security Design Patterns I</dc:title>
  <dc:subject>PptxGenJS Presentation</dc:subject>
  <dc:creator>Prof. Dr. Shahrulniza Musa</dc:creator>
  <cp:lastModifiedBy>Prof. Dr. Shahrulniza Musa</cp:lastModifiedBy>
  <cp:revision>1</cp:revision>
  <dcterms:created xsi:type="dcterms:W3CDTF">2026-07-09T09:48:47Z</dcterms:created>
  <dcterms:modified xsi:type="dcterms:W3CDTF">2026-07-09T09:48:47Z</dcterms:modified>
</cp:coreProperties>
</file>