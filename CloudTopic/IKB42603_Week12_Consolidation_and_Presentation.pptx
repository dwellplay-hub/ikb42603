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12, the consolidation week. There is no new theory today — instead we assemble everything from Weeks 1 to 11 into a single coherent picture and prepare the compliance presentation that assesses CLO3. Walk the objectives. Explain the shape of the week: first we review the whole secure-design-and-compliance story, then we work the consolidation design brief, then we prepare and deliver the presentation with professional integrity. Tell students this is where the course's threads — the four pillars, the design patterns, and the governance/compliance layer — come together into the skill of designing and defending a secure, compliant cloud service. Emphasise that the presentation is graded (CLO3, VBE3), so today's guidance is directly exam-relevant.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Constructive-alignment slide. Week 12 maps to CLO3 — presenting compliance with SLAs and data-privacy obligations with professional integrity — aligned to PLO9, MQF Level iii(f), Bloom A2, carrying the VBE3 integrity value. It is assessed directly by the compliance presentation this week, so this is the most direct rehearsal of the CLO3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designing, let us see the entire course as one connected system — the foundations, the four pillars, the design patterns, and the governance layer that wraps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course as a single layered stack, bottom to top. Foundations (Weeks 1–2): what the cloud is, the CIA triad, and the design principles — defense in depth, least privilege, zero trust, security by design — all under the shared-responsibility model. The four pillars (Weeks 3–6): secure isolation, data protection, access control, and monitoring — the operational core. Identity and design patterns (Weeks 7–9): identity management and the reusable pattern catalogue that composes controls into architectures. Governance and compliance (Weeks 10–11): policy, risk, standards, SLAs and reporting that make it accountable and lawful. Stress the vertical threads that run through every layer: shared responsibility (who secures what), the CIA triad (what we protect), defense in depth (layered controls), and integrity/professional responsibility (VBE3). The point of consolidation: these are not eleven separate topics but one discipline — designing and governing secure cloud systems — and the design brief next asks students to use all of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architecture that composes the whole course, and the template for the design brief. Read the layers: a resilient, filtered edge (DoS protection, virtual perimeter); federated identity with SSO, MFA and conditional access controlling who gets in; a segmented network confining any breach; workloads on a trusted platform with hypervisor protection and VM encryption; data protected by a KMS with envelope and per-tenant keys; monitoring and tamper-proof logging across everything; and a governance wrapper of policy, risk management, standards compliance and SLAs. Each element is a control or pattern from a specific lesson, and together they deliver confidentiality, integrity and availability for a multi-tenant service — provably, to a compliance standard. Tell students: this blueprint is their mental checklist for the brief — for any secure cloud service, ask whether each layer is addressed. It is also the structure a strong compliance presentation follows, mapping requirements to these controls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apply the blueprint. The consolidation brief asks each team to design a secure, compliant cloud service for a realistic scenario and defend the design — the integrating task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brief. Scenario: your team is engaged to design a multi-tenant cloud service that handles regulated data — for example a health-and-payments platform serving Malaysian SMEs. Requirements on the slide: keep tenants isolated; protect data across its lifecycle; control who gets in; detect and respond to incidents; and demonstrate compliance with the relevant standards and privacy law, backed by an appropriate SLA. Deliverable: a secure design plus a compliance presentation that maps requirements to controls with evidence. Explain the expectation: this is not about naming one product but composing the pillars, patterns and governance from the whole course into a defensible architecture — the SC8 integrated-problem-solving skill, presented with CLO3 professional integrity. Encourage teams to use the reference blueprint as scaffolding and to be explicit about which lesson each design choice draws on. This brief mirrors the assignment and the exam's scenario style, so working it well is direct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teams a working method: for each requirement, name the control(s) and pattern(s) that satisfy it, and the evidence you would show. On the slide, the mapping. Isolation → multi-tenancy controls, hardened virtualization, segmentation (Weeks 3, 9); evidence: architecture diagram, segmentation rules. Data protection → encryption everywhere, KMS with per-tenant keys, secure deletion (Weeks 4, 9); evidence: key-management design, encryption settings. Access → IAM, MFA, RBAC, federation (Weeks 5, 7); evidence: role matrix, MFA policy. Detection → SIEM, tamper-proof logs, incident-response plan (Week 6); evidence: monitoring architecture, IR runbook. Compliance → standards mapping (ISO/PCI/PDPA), risk register, SLA terms (Weeks 10, 11); evidence: control-to-standard mapping, STAR assessment of the provider. The teaching point: a defensible design is a requirement-to-control-to-evidence chain, which is exactly what the compliance presentation must show. Encourage teams to build this as a table — it is the backbone of both the design and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deliverable that assesses CLO3. A compliance presentation communicates whether — and how — a cloud service meets its obligations, to an audience that must act on it. We cover what to include, how to structure it, and how to present with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clear, rubric-friendly structure students can follow. One: context and scope — the service, the data it handles, and which obligations apply (which standards and laws). Two: the design — the secure architecture, mapping each requirement to the controls and patterns that satisfy it. Three: the assessment — how well the design meets each obligation, honestly, including where it falls short. Four: gaps and remediation — the known weaknesses with an owned plan and timeline to close them. Five: evidence — the diagrams, policies, configurations and provider attestations that back every claim. Close with a clear recommendation. Stress the flow: scope → design → assessment → gaps → evidence is a story a decision-maker can follow and trust. Warn against two failure modes: a pure feature list with no assessment against obligations, and hiding gaps to look complete. Both fail the integrity test. Tell students the assessors look for this structure and for the requirement-to-control-to-evidence chain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heart of CLO3 and the VBE3 value. Presenting a compliance case is not just delivery skill; it is an ethical act — decision-makers rely on your honesty. Three principles. Be honest about gaps: lead with the true picture; overstating compliance or hiding a weakness is a professional and legal failure, and assessors specifically reward candour. Support every claim with evidence: 'we are compliant' means nothing; 'here is the control and the proof' is a compliance case. Tailor to the audience: give leadership the risk and cost in plain language, give assessors the detailed evidence — the same truth at the right depth. Add delivery craft on the slide: clear visuals over dense text, a logical structure, and readiness to defend your reasoning under questions. Land the professional-identity point: as future IT professionals handling other people's data — payments, health records — presenting compliance truthfully is part of the duty of care the course has emphasised throughout. This is what separates a competent technologist from a trustworthy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practical craft of delivering well, a readiness checklist, and the discussion that closes the consolidation.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delivery advice. Do: structure clearly (scope → design → assessment → gaps → evidence); use diagrams to show architecture and data flows; map every requirement to a control and its evidence; state assumptions; and rehearse timing so you finish cleanly. Do be ready to defend design trade-offs — assessors will probe why you chose one control over another, which is the SC8 reasoning. Don't: read dense slides verbatim; present a feature list with no assessment against obligations; hide or gloss over gaps; or claim compliance without evidence. Don't overrun — a disciplined, well-timed talk signals professionalism. Encourage teams to assign speaking roles, to anticipate the likely questions (data residency, key control, breach notification, tenant isolation), and to have a one-sentence justification ready for each major design decision. The meta-message: clarity, honesty and evidence win — polish is welcome but never a substitute for a sound, defensible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 the week. One: the course is one connected discipline — foundations, four pillars, patterns, and a governance wrapper, bound by shared responsibility, CIA, defense in depth and integrity. Two: a secure service composes controls across every layer of the reference blueprint — and you should be able to evidence each. Three: a compliance presentation follows scope → design → assessment → gaps → evidence, mapping requirements to controls with proof. Four: present with professional integrity — honest about gaps, evidence-based, audience-appropriate — because that is what CLO3 and VBE3 assess. Ask teams to self-check their design against the blueprint and their talk against the structure. Preview Week 13: a systematic review across CLO1–CLO3 before the final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consolidation. The first prompt rehearses defending a design decision with evidence — core to the presentation. The second rehearses honest gap-handling, the VBE3 integrity skill. Use the remaining time for teams to present and peer-review against the structure and rubric. Preview Week 13's systematic review. Remind students the presentation assesses CLO3 with professional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149"/>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93E7B">
              <a:alpha val="45000"/>
            </a:srgbClr>
          </a:solidFill>
          <a:ln/>
        </p:spPr>
      </p:sp>
      <p:sp>
        <p:nvSpPr>
          <p:cNvPr id="3" name="Shape 1"/>
          <p:cNvSpPr/>
          <p:nvPr/>
        </p:nvSpPr>
        <p:spPr>
          <a:xfrm>
            <a:off x="10881360" y="4297680"/>
            <a:ext cx="3108960" cy="3108960"/>
          </a:xfrm>
          <a:prstGeom prst="ellipse">
            <a:avLst/>
          </a:prstGeom>
          <a:solidFill>
            <a:srgbClr val="FABA32">
              <a:alpha val="22000"/>
            </a:srgbClr>
          </a:solidFill>
          <a:ln/>
        </p:spPr>
      </p:sp>
      <p:pic>
        <p:nvPicPr>
          <p:cNvPr id="4" name="Image 0" descr="preencoded.png">    </p:cNvPr>
          <p:cNvPicPr>
            <a:picLocks noChangeAspect="1"/>
          </p:cNvPicPr>
          <p:nvPr/>
        </p:nvPicPr>
        <p:blipFill>
          <a:blip r:embed="rId1"/>
          <a:stretch>
            <a:fillRect/>
          </a:stretch>
        </p:blipFill>
        <p:spPr>
          <a:xfrm>
            <a:off x="7818120" y="502920"/>
            <a:ext cx="4114800" cy="3820886"/>
          </a:xfrm>
          <a:prstGeom prst="rect">
            <a:avLst/>
          </a:prstGeom>
        </p:spPr>
      </p:pic>
      <p:pic>
        <p:nvPicPr>
          <p:cNvPr id="5" name="Image 1" descr="/sessions/inspiring-busy-dijkstra/mnt/outputs/build/assets/logo_white_trim.png">    </p:cNvPr>
          <p:cNvPicPr>
            <a:picLocks noChangeAspect="1"/>
          </p:cNvPicPr>
          <p:nvPr/>
        </p:nvPicPr>
        <p:blipFill>
          <a:blip r:embed="rId2"/>
          <a:stretch>
            <a:fillRect/>
          </a:stretch>
        </p:blipFill>
        <p:spPr>
          <a:xfrm>
            <a:off x="640080" y="502920"/>
            <a:ext cx="2331720" cy="1059423"/>
          </a:xfrm>
          <a:prstGeom prst="rect">
            <a:avLst/>
          </a:prstGeom>
        </p:spPr>
      </p:pic>
      <p:sp>
        <p:nvSpPr>
          <p:cNvPr id="6" name="Shape 2"/>
          <p:cNvSpPr/>
          <p:nvPr/>
        </p:nvSpPr>
        <p:spPr>
          <a:xfrm>
            <a:off x="640080" y="2788920"/>
            <a:ext cx="3063240" cy="457200"/>
          </a:xfrm>
          <a:prstGeom prst="roundRect">
            <a:avLst>
              <a:gd name="adj" fmla="val 16000"/>
            </a:avLst>
          </a:prstGeom>
          <a:solidFill>
            <a:srgbClr val="FABA32"/>
          </a:solidFill>
          <a:ln/>
        </p:spPr>
      </p:sp>
      <p:sp>
        <p:nvSpPr>
          <p:cNvPr id="7" name="Text 3"/>
          <p:cNvSpPr/>
          <p:nvPr/>
        </p:nvSpPr>
        <p:spPr>
          <a:xfrm>
            <a:off x="640080" y="2788920"/>
            <a:ext cx="3063240" cy="457200"/>
          </a:xfrm>
          <a:prstGeom prst="rect">
            <a:avLst/>
          </a:prstGeom>
          <a:noFill/>
          <a:ln/>
        </p:spPr>
        <p:txBody>
          <a:bodyPr wrap="square" lIns="0" tIns="0" rIns="0" bIns="0" rtlCol="0" anchor="ctr"/>
          <a:lstStyle/>
          <a:p>
            <a:pPr algn="ctr" indent="0" marL="0">
              <a:buNone/>
            </a:pPr>
            <a:r>
              <a:rPr lang="en-US" sz="1200" b="1" dirty="0">
                <a:solidFill>
                  <a:srgbClr val="262F65"/>
                </a:solidFill>
                <a:latin typeface="Calibri" pitchFamily="34" charset="0"/>
                <a:ea typeface="Calibri" pitchFamily="34" charset="-122"/>
                <a:cs typeface="Calibri" pitchFamily="34" charset="-120"/>
              </a:rPr>
              <a:t>IKB42603  •  Cloud Security</a:t>
            </a:r>
            <a:endParaRPr lang="en-US" sz="1200" dirty="0"/>
          </a:p>
        </p:txBody>
      </p:sp>
      <p:sp>
        <p:nvSpPr>
          <p:cNvPr id="8" name="Text 4"/>
          <p:cNvSpPr/>
          <p:nvPr/>
        </p:nvSpPr>
        <p:spPr>
          <a:xfrm>
            <a:off x="640080" y="3566160"/>
            <a:ext cx="10058400" cy="36576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WEEK 12 · CONSOLIDATION</a:t>
            </a:r>
            <a:endParaRPr lang="en-US" sz="1500" dirty="0"/>
          </a:p>
        </p:txBody>
      </p:sp>
      <p:sp>
        <p:nvSpPr>
          <p:cNvPr id="9" name="Text 5"/>
          <p:cNvSpPr/>
          <p:nvPr/>
        </p:nvSpPr>
        <p:spPr>
          <a:xfrm>
            <a:off x="640080" y="3931920"/>
            <a:ext cx="7040880" cy="1691640"/>
          </a:xfrm>
          <a:prstGeom prst="rect">
            <a:avLst/>
          </a:prstGeom>
          <a:noFill/>
          <a:ln/>
        </p:spPr>
        <p:txBody>
          <a:bodyPr wrap="square" lIns="0" tIns="0" rIns="0" bIns="0" rtlCol="0" anchor="t"/>
          <a:lstStyle/>
          <a:p>
            <a:pPr indent="0" marL="0">
              <a:lnSpc>
                <a:spcPct val="102000"/>
              </a:lnSpc>
              <a:buNone/>
            </a:pPr>
            <a:r>
              <a:rPr lang="en-US" sz="3700" b="1" dirty="0">
                <a:solidFill>
                  <a:srgbClr val="FFFFFF"/>
                </a:solidFill>
                <a:latin typeface="Cambria" pitchFamily="34" charset="0"/>
                <a:ea typeface="Cambria" pitchFamily="34" charset="-122"/>
                <a:cs typeface="Cambria" pitchFamily="34" charset="-120"/>
              </a:rPr>
              <a:t>Consolidation: Secure Cloud Service Design &amp; Compliance Presentation</a:t>
            </a:r>
            <a:endParaRPr lang="en-US" sz="3700" dirty="0"/>
          </a:p>
        </p:txBody>
      </p:sp>
      <p:sp>
        <p:nvSpPr>
          <p:cNvPr id="10" name="Text 6"/>
          <p:cNvSpPr/>
          <p:nvPr/>
        </p:nvSpPr>
        <p:spPr>
          <a:xfrm>
            <a:off x="640080" y="5623560"/>
            <a:ext cx="10424160" cy="640080"/>
          </a:xfrm>
          <a:prstGeom prst="rect">
            <a:avLst/>
          </a:prstGeom>
          <a:noFill/>
          <a:ln/>
        </p:spPr>
        <p:txBody>
          <a:bodyPr wrap="square" lIns="0" tIns="0" rIns="0" bIns="0" rtlCol="0" anchor="ctr"/>
          <a:lstStyle/>
          <a:p>
            <a:pPr indent="0" marL="0">
              <a:buNone/>
            </a:pPr>
            <a:r>
              <a:rPr lang="en-US" sz="1550" i="1" dirty="0">
                <a:solidFill>
                  <a:srgbClr val="B6E0F2"/>
                </a:solidFill>
                <a:latin typeface="Calibri" pitchFamily="34" charset="0"/>
                <a:ea typeface="Calibri" pitchFamily="34" charset="-122"/>
                <a:cs typeface="Calibri" pitchFamily="34" charset="-120"/>
              </a:rPr>
              <a:t>Bringing it together · The design brief · Presenting compliance with integrity</a:t>
            </a:r>
            <a:endParaRPr lang="en-US" sz="1550" dirty="0"/>
          </a:p>
        </p:txBody>
      </p:sp>
      <p:sp>
        <p:nvSpPr>
          <p:cNvPr id="11" name="Text 7"/>
          <p:cNvSpPr/>
          <p:nvPr/>
        </p:nvSpPr>
        <p:spPr>
          <a:xfrm>
            <a:off x="640080" y="6355080"/>
            <a:ext cx="10972800" cy="320040"/>
          </a:xfrm>
          <a:prstGeom prst="rect">
            <a:avLst/>
          </a:prstGeom>
          <a:noFill/>
          <a:ln/>
        </p:spPr>
        <p:txBody>
          <a:bodyPr wrap="square" lIns="0" tIns="0" rIns="0" bIns="0" rtlCol="0" anchor="ctr"/>
          <a:lstStyle/>
          <a:p>
            <a:pPr indent="0" marL="0">
              <a:buNone/>
            </a:pPr>
            <a:r>
              <a:rPr lang="en-US" sz="1100" dirty="0">
                <a:solidFill>
                  <a:srgbClr val="9AA6C9"/>
                </a:solidFill>
                <a:latin typeface="Calibri" pitchFamily="34" charset="0"/>
                <a:ea typeface="Calibri" pitchFamily="34" charset="-122"/>
                <a:cs typeface="Calibri" pitchFamily="34" charset="-120"/>
              </a:rPr>
              <a:t>Universiti Kuala Lumpur  ·  UniKL MIIT   |   Prof. Dr. Shahrulniza Musa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THIS WEEK</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we will do this week</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a:t>
            </a:r>
            <a:endParaRPr lang="en-US" sz="900" dirty="0"/>
          </a:p>
        </p:txBody>
      </p:sp>
      <p:sp>
        <p:nvSpPr>
          <p:cNvPr id="7" name="Shape 4"/>
          <p:cNvSpPr/>
          <p:nvPr/>
        </p:nvSpPr>
        <p:spPr>
          <a:xfrm>
            <a:off x="640080" y="1783080"/>
            <a:ext cx="868680" cy="868680"/>
          </a:xfrm>
          <a:prstGeom prst="ellipse">
            <a:avLst/>
          </a:prstGeom>
          <a:solidFill>
            <a:srgbClr val="FABA32"/>
          </a:solidFill>
          <a:ln/>
        </p:spPr>
      </p:sp>
      <p:pic>
        <p:nvPicPr>
          <p:cNvPr id="8" name="Image 0" descr="preencoded.png">    </p:cNvPr>
          <p:cNvPicPr>
            <a:picLocks noChangeAspect="1"/>
          </p:cNvPicPr>
          <p:nvPr/>
        </p:nvPicPr>
        <p:blipFill>
          <a:blip r:embed="rId1"/>
          <a:stretch>
            <a:fillRect/>
          </a:stretch>
        </p:blipFill>
        <p:spPr>
          <a:xfrm>
            <a:off x="848563" y="1991563"/>
            <a:ext cx="451714" cy="451714"/>
          </a:xfrm>
          <a:prstGeom prst="rect">
            <a:avLst/>
          </a:prstGeom>
        </p:spPr>
      </p:pic>
      <p:sp>
        <p:nvSpPr>
          <p:cNvPr id="9" name="Shape 5"/>
          <p:cNvSpPr/>
          <p:nvPr/>
        </p:nvSpPr>
        <p:spPr>
          <a:xfrm>
            <a:off x="173736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0" name="Text 6"/>
          <p:cNvSpPr/>
          <p:nvPr/>
        </p:nvSpPr>
        <p:spPr>
          <a:xfrm>
            <a:off x="196596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1.  </a:t>
            </a:r>
            <a:pPr indent="0" marL="0">
              <a:buNone/>
            </a:pPr>
            <a:r>
              <a:rPr lang="en-US" sz="1450" b="1" dirty="0">
                <a:solidFill>
                  <a:srgbClr val="262F65"/>
                </a:solidFill>
                <a:latin typeface="Calibri" pitchFamily="34" charset="0"/>
                <a:ea typeface="Calibri" pitchFamily="34" charset="-122"/>
                <a:cs typeface="Calibri" pitchFamily="34" charset="-120"/>
              </a:rPr>
              <a:t>Synthesise the whole course</a:t>
            </a:r>
            <a:endParaRPr lang="en-US" sz="1450" dirty="0"/>
          </a:p>
        </p:txBody>
      </p:sp>
      <p:sp>
        <p:nvSpPr>
          <p:cNvPr id="11" name="Text 7"/>
          <p:cNvSpPr/>
          <p:nvPr/>
        </p:nvSpPr>
        <p:spPr>
          <a:xfrm>
            <a:off x="196596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Pillars, patterns and governance as one picture.</a:t>
            </a:r>
            <a:endParaRPr lang="en-US" sz="1200" dirty="0"/>
          </a:p>
        </p:txBody>
      </p:sp>
      <p:sp>
        <p:nvSpPr>
          <p:cNvPr id="12" name="Shape 8"/>
          <p:cNvSpPr/>
          <p:nvPr/>
        </p:nvSpPr>
        <p:spPr>
          <a:xfrm>
            <a:off x="731520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3" name="Text 9"/>
          <p:cNvSpPr/>
          <p:nvPr/>
        </p:nvSpPr>
        <p:spPr>
          <a:xfrm>
            <a:off x="754380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2.  </a:t>
            </a:r>
            <a:pPr indent="0" marL="0">
              <a:buNone/>
            </a:pPr>
            <a:r>
              <a:rPr lang="en-US" sz="1450" b="1" dirty="0">
                <a:solidFill>
                  <a:srgbClr val="262F65"/>
                </a:solidFill>
                <a:latin typeface="Calibri" pitchFamily="34" charset="0"/>
                <a:ea typeface="Calibri" pitchFamily="34" charset="-122"/>
                <a:cs typeface="Calibri" pitchFamily="34" charset="-120"/>
              </a:rPr>
              <a:t>Apply the design blueprint</a:t>
            </a:r>
            <a:endParaRPr lang="en-US" sz="1450" dirty="0"/>
          </a:p>
        </p:txBody>
      </p:sp>
      <p:sp>
        <p:nvSpPr>
          <p:cNvPr id="14" name="Text 10"/>
          <p:cNvSpPr/>
          <p:nvPr/>
        </p:nvSpPr>
        <p:spPr>
          <a:xfrm>
            <a:off x="754380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Compose a secure, compliant cloud service.</a:t>
            </a:r>
            <a:endParaRPr lang="en-US" sz="1200" dirty="0"/>
          </a:p>
        </p:txBody>
      </p:sp>
      <p:sp>
        <p:nvSpPr>
          <p:cNvPr id="15" name="Shape 11"/>
          <p:cNvSpPr/>
          <p:nvPr/>
        </p:nvSpPr>
        <p:spPr>
          <a:xfrm>
            <a:off x="173736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6" name="Text 12"/>
          <p:cNvSpPr/>
          <p:nvPr/>
        </p:nvSpPr>
        <p:spPr>
          <a:xfrm>
            <a:off x="196596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3.  </a:t>
            </a:r>
            <a:pPr indent="0" marL="0">
              <a:buNone/>
            </a:pPr>
            <a:r>
              <a:rPr lang="en-US" sz="1450" b="1" dirty="0">
                <a:solidFill>
                  <a:srgbClr val="262F65"/>
                </a:solidFill>
                <a:latin typeface="Calibri" pitchFamily="34" charset="0"/>
                <a:ea typeface="Calibri" pitchFamily="34" charset="-122"/>
                <a:cs typeface="Calibri" pitchFamily="34" charset="-120"/>
              </a:rPr>
              <a:t>Work the consolidation brief</a:t>
            </a:r>
            <a:endParaRPr lang="en-US" sz="1450" dirty="0"/>
          </a:p>
        </p:txBody>
      </p:sp>
      <p:sp>
        <p:nvSpPr>
          <p:cNvPr id="17" name="Text 13"/>
          <p:cNvSpPr/>
          <p:nvPr/>
        </p:nvSpPr>
        <p:spPr>
          <a:xfrm>
            <a:off x="196596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Design against real requirements.</a:t>
            </a:r>
            <a:endParaRPr lang="en-US" sz="1200" dirty="0"/>
          </a:p>
        </p:txBody>
      </p:sp>
      <p:sp>
        <p:nvSpPr>
          <p:cNvPr id="18" name="Shape 14"/>
          <p:cNvSpPr/>
          <p:nvPr/>
        </p:nvSpPr>
        <p:spPr>
          <a:xfrm>
            <a:off x="731520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9" name="Text 15"/>
          <p:cNvSpPr/>
          <p:nvPr/>
        </p:nvSpPr>
        <p:spPr>
          <a:xfrm>
            <a:off x="754380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4.  </a:t>
            </a:r>
            <a:pPr indent="0" marL="0">
              <a:buNone/>
            </a:pPr>
            <a:r>
              <a:rPr lang="en-US" sz="1450" b="1" dirty="0">
                <a:solidFill>
                  <a:srgbClr val="262F65"/>
                </a:solidFill>
                <a:latin typeface="Calibri" pitchFamily="34" charset="0"/>
                <a:ea typeface="Calibri" pitchFamily="34" charset="-122"/>
                <a:cs typeface="Calibri" pitchFamily="34" charset="-120"/>
              </a:rPr>
              <a:t>Structure a compliance presentation</a:t>
            </a:r>
            <a:endParaRPr lang="en-US" sz="1450" dirty="0"/>
          </a:p>
        </p:txBody>
      </p:sp>
      <p:sp>
        <p:nvSpPr>
          <p:cNvPr id="20" name="Text 16"/>
          <p:cNvSpPr/>
          <p:nvPr/>
        </p:nvSpPr>
        <p:spPr>
          <a:xfrm>
            <a:off x="754380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Scope, findings, gaps, remediation.</a:t>
            </a:r>
            <a:endParaRPr lang="en-US" sz="1200" dirty="0"/>
          </a:p>
        </p:txBody>
      </p:sp>
      <p:sp>
        <p:nvSpPr>
          <p:cNvPr id="21" name="Shape 17"/>
          <p:cNvSpPr/>
          <p:nvPr/>
        </p:nvSpPr>
        <p:spPr>
          <a:xfrm>
            <a:off x="173736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2" name="Text 18"/>
          <p:cNvSpPr/>
          <p:nvPr/>
        </p:nvSpPr>
        <p:spPr>
          <a:xfrm>
            <a:off x="196596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5.  </a:t>
            </a:r>
            <a:pPr indent="0" marL="0">
              <a:buNone/>
            </a:pPr>
            <a:r>
              <a:rPr lang="en-US" sz="1450" b="1" dirty="0">
                <a:solidFill>
                  <a:srgbClr val="262F65"/>
                </a:solidFill>
                <a:latin typeface="Calibri" pitchFamily="34" charset="0"/>
                <a:ea typeface="Calibri" pitchFamily="34" charset="-122"/>
                <a:cs typeface="Calibri" pitchFamily="34" charset="-120"/>
              </a:rPr>
              <a:t>Present with professional integrity</a:t>
            </a:r>
            <a:endParaRPr lang="en-US" sz="1450" dirty="0"/>
          </a:p>
        </p:txBody>
      </p:sp>
      <p:sp>
        <p:nvSpPr>
          <p:cNvPr id="23" name="Text 19"/>
          <p:cNvSpPr/>
          <p:nvPr/>
        </p:nvSpPr>
        <p:spPr>
          <a:xfrm>
            <a:off x="196596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Honest, evidence-based (VBE3).</a:t>
            </a:r>
            <a:endParaRPr lang="en-US" sz="1200" dirty="0"/>
          </a:p>
        </p:txBody>
      </p:sp>
      <p:sp>
        <p:nvSpPr>
          <p:cNvPr id="24" name="Shape 20"/>
          <p:cNvSpPr/>
          <p:nvPr/>
        </p:nvSpPr>
        <p:spPr>
          <a:xfrm>
            <a:off x="731520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5" name="Text 21"/>
          <p:cNvSpPr/>
          <p:nvPr/>
        </p:nvSpPr>
        <p:spPr>
          <a:xfrm>
            <a:off x="754380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6.  </a:t>
            </a:r>
            <a:pPr indent="0" marL="0">
              <a:buNone/>
            </a:pPr>
            <a:r>
              <a:rPr lang="en-US" sz="1450" b="1" dirty="0">
                <a:solidFill>
                  <a:srgbClr val="262F65"/>
                </a:solidFill>
                <a:latin typeface="Calibri" pitchFamily="34" charset="0"/>
                <a:ea typeface="Calibri" pitchFamily="34" charset="-122"/>
                <a:cs typeface="Calibri" pitchFamily="34" charset="-120"/>
              </a:rPr>
              <a:t>Meet the assessment rubric</a:t>
            </a:r>
            <a:endParaRPr lang="en-US" sz="1450" dirty="0"/>
          </a:p>
        </p:txBody>
      </p:sp>
      <p:sp>
        <p:nvSpPr>
          <p:cNvPr id="26" name="Text 22"/>
          <p:cNvSpPr/>
          <p:nvPr/>
        </p:nvSpPr>
        <p:spPr>
          <a:xfrm>
            <a:off x="754380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Know exactly what is graded (CLO3).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CONSTRUCTIVE ALIGNMENT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Curriculum alignment — CLO · PLO · MQF · clusters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508760"/>
            <a:ext cx="10881360" cy="1325880"/>
          </a:xfrm>
          <a:prstGeom prst="roundRect">
            <a:avLst>
              <a:gd name="adj" fmla="val 6207"/>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1847088"/>
            <a:ext cx="1600200" cy="658368"/>
          </a:xfrm>
          <a:prstGeom prst="roundRect">
            <a:avLst>
              <a:gd name="adj" fmla="val 13889"/>
            </a:avLst>
          </a:prstGeom>
          <a:solidFill>
            <a:srgbClr val="FABA32"/>
          </a:solidFill>
          <a:ln/>
        </p:spPr>
      </p:sp>
      <p:sp>
        <p:nvSpPr>
          <p:cNvPr id="9" name="Text 6"/>
          <p:cNvSpPr/>
          <p:nvPr/>
        </p:nvSpPr>
        <p:spPr>
          <a:xfrm>
            <a:off x="960120" y="1847088"/>
            <a:ext cx="1600200" cy="658368"/>
          </a:xfrm>
          <a:prstGeom prst="rect">
            <a:avLst/>
          </a:prstGeom>
          <a:noFill/>
          <a:ln/>
        </p:spPr>
        <p:txBody>
          <a:bodyPr wrap="square" lIns="0" tIns="0" rIns="0" bIns="0" rtlCol="0" anchor="ctr"/>
          <a:lstStyle/>
          <a:p>
            <a:pPr algn="ctr" indent="0" marL="0">
              <a:buNone/>
            </a:pPr>
            <a:r>
              <a:rPr lang="en-US" sz="2100" b="1" dirty="0">
                <a:solidFill>
                  <a:srgbClr val="262F65"/>
                </a:solidFill>
                <a:latin typeface="Cambria" pitchFamily="34" charset="0"/>
                <a:ea typeface="Cambria" pitchFamily="34" charset="-122"/>
                <a:cs typeface="Cambria" pitchFamily="34" charset="-120"/>
              </a:rPr>
              <a:t>CLO 3</a:t>
            </a:r>
            <a:endParaRPr lang="en-US" sz="2100" dirty="0"/>
          </a:p>
        </p:txBody>
      </p:sp>
      <p:sp>
        <p:nvSpPr>
          <p:cNvPr id="10" name="Text 7"/>
          <p:cNvSpPr/>
          <p:nvPr/>
        </p:nvSpPr>
        <p:spPr>
          <a:xfrm>
            <a:off x="2788920" y="1691640"/>
            <a:ext cx="8366760" cy="96012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Present cloud services' compliance with SLAs and data-privacy obligations with professional integrity.</a:t>
            </a:r>
            <a:endParaRPr lang="en-US" sz="1550" dirty="0"/>
          </a:p>
        </p:txBody>
      </p:sp>
      <p:sp>
        <p:nvSpPr>
          <p:cNvPr id="11" name="Shape 8"/>
          <p:cNvSpPr/>
          <p:nvPr/>
        </p:nvSpPr>
        <p:spPr>
          <a:xfrm>
            <a:off x="640080"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2" name="Shape 9"/>
          <p:cNvSpPr/>
          <p:nvPr/>
        </p:nvSpPr>
        <p:spPr>
          <a:xfrm>
            <a:off x="2002536" y="3383280"/>
            <a:ext cx="731520" cy="731520"/>
          </a:xfrm>
          <a:prstGeom prst="ellipse">
            <a:avLst/>
          </a:prstGeom>
          <a:solidFill>
            <a:srgbClr val="262F65"/>
          </a:solidFill>
          <a:ln/>
        </p:spPr>
      </p:sp>
      <p:pic>
        <p:nvPicPr>
          <p:cNvPr id="13" name="Image 0" descr="preencoded.png">    </p:cNvPr>
          <p:cNvPicPr>
            <a:picLocks noChangeAspect="1"/>
          </p:cNvPicPr>
          <p:nvPr/>
        </p:nvPicPr>
        <p:blipFill>
          <a:blip r:embed="rId1"/>
          <a:stretch>
            <a:fillRect/>
          </a:stretch>
        </p:blipFill>
        <p:spPr>
          <a:xfrm>
            <a:off x="2178101" y="3558845"/>
            <a:ext cx="380390" cy="380390"/>
          </a:xfrm>
          <a:prstGeom prst="rect">
            <a:avLst/>
          </a:prstGeom>
        </p:spPr>
      </p:pic>
      <p:sp>
        <p:nvSpPr>
          <p:cNvPr id="14" name="Text 10"/>
          <p:cNvSpPr/>
          <p:nvPr/>
        </p:nvSpPr>
        <p:spPr>
          <a:xfrm>
            <a:off x="731520"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Programme outcome</a:t>
            </a:r>
            <a:endParaRPr lang="en-US" sz="1300" dirty="0"/>
          </a:p>
        </p:txBody>
      </p:sp>
      <p:sp>
        <p:nvSpPr>
          <p:cNvPr id="15" name="Text 11"/>
          <p:cNvSpPr/>
          <p:nvPr/>
        </p:nvSpPr>
        <p:spPr>
          <a:xfrm>
            <a:off x="749808"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PLO9 · Ethics &amp; Professionalism</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MQF Level iii(f)</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Bloom A2 (Respond)</a:t>
            </a:r>
            <a:endParaRPr lang="en-US" sz="1100" dirty="0"/>
          </a:p>
        </p:txBody>
      </p:sp>
      <p:sp>
        <p:nvSpPr>
          <p:cNvPr id="16" name="Shape 12"/>
          <p:cNvSpPr/>
          <p:nvPr/>
        </p:nvSpPr>
        <p:spPr>
          <a:xfrm>
            <a:off x="4352544"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7" name="Shape 13"/>
          <p:cNvSpPr/>
          <p:nvPr/>
        </p:nvSpPr>
        <p:spPr>
          <a:xfrm>
            <a:off x="5715000" y="3383280"/>
            <a:ext cx="731520" cy="731520"/>
          </a:xfrm>
          <a:prstGeom prst="ellipse">
            <a:avLst/>
          </a:prstGeom>
          <a:solidFill>
            <a:srgbClr val="F2931F"/>
          </a:solidFill>
          <a:ln/>
        </p:spPr>
      </p:sp>
      <p:pic>
        <p:nvPicPr>
          <p:cNvPr id="18" name="Image 1" descr="preencoded.png">    </p:cNvPr>
          <p:cNvPicPr>
            <a:picLocks noChangeAspect="1"/>
          </p:cNvPicPr>
          <p:nvPr/>
        </p:nvPicPr>
        <p:blipFill>
          <a:blip r:embed="rId2"/>
          <a:stretch>
            <a:fillRect/>
          </a:stretch>
        </p:blipFill>
        <p:spPr>
          <a:xfrm>
            <a:off x="5890565" y="3558845"/>
            <a:ext cx="380390" cy="380390"/>
          </a:xfrm>
          <a:prstGeom prst="rect">
            <a:avLst/>
          </a:prstGeom>
        </p:spPr>
      </p:pic>
      <p:sp>
        <p:nvSpPr>
          <p:cNvPr id="19" name="Text 14"/>
          <p:cNvSpPr/>
          <p:nvPr/>
        </p:nvSpPr>
        <p:spPr>
          <a:xfrm>
            <a:off x="4443984"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Values &amp; skills</a:t>
            </a:r>
            <a:endParaRPr lang="en-US" sz="1300" dirty="0"/>
          </a:p>
        </p:txBody>
      </p:sp>
      <p:sp>
        <p:nvSpPr>
          <p:cNvPr id="20" name="Text 15"/>
          <p:cNvSpPr/>
          <p:nvPr/>
        </p:nvSpPr>
        <p:spPr>
          <a:xfrm>
            <a:off x="4462272"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VBE3 · Integrity</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A2 · Professionalism</a:t>
            </a:r>
            <a:endParaRPr lang="en-US" sz="1100" dirty="0"/>
          </a:p>
        </p:txBody>
      </p:sp>
      <p:sp>
        <p:nvSpPr>
          <p:cNvPr id="21" name="Shape 16"/>
          <p:cNvSpPr/>
          <p:nvPr/>
        </p:nvSpPr>
        <p:spPr>
          <a:xfrm>
            <a:off x="8065008"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22" name="Shape 17"/>
          <p:cNvSpPr/>
          <p:nvPr/>
        </p:nvSpPr>
        <p:spPr>
          <a:xfrm>
            <a:off x="9427464" y="3383280"/>
            <a:ext cx="731520" cy="731520"/>
          </a:xfrm>
          <a:prstGeom prst="ellipse">
            <a:avLst/>
          </a:prstGeom>
          <a:solidFill>
            <a:srgbClr val="262F65"/>
          </a:solidFill>
          <a:ln/>
        </p:spPr>
      </p:sp>
      <p:pic>
        <p:nvPicPr>
          <p:cNvPr id="23" name="Image 2" descr="preencoded.png">    </p:cNvPr>
          <p:cNvPicPr>
            <a:picLocks noChangeAspect="1"/>
          </p:cNvPicPr>
          <p:nvPr/>
        </p:nvPicPr>
        <p:blipFill>
          <a:blip r:embed="rId3"/>
          <a:stretch>
            <a:fillRect/>
          </a:stretch>
        </p:blipFill>
        <p:spPr>
          <a:xfrm>
            <a:off x="9603029" y="3558845"/>
            <a:ext cx="380390" cy="380390"/>
          </a:xfrm>
          <a:prstGeom prst="rect">
            <a:avLst/>
          </a:prstGeom>
        </p:spPr>
      </p:pic>
      <p:sp>
        <p:nvSpPr>
          <p:cNvPr id="24" name="Text 18"/>
          <p:cNvSpPr/>
          <p:nvPr/>
        </p:nvSpPr>
        <p:spPr>
          <a:xfrm>
            <a:off x="8156448"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Assessment</a:t>
            </a:r>
            <a:endParaRPr lang="en-US" sz="1300" dirty="0"/>
          </a:p>
        </p:txBody>
      </p:sp>
      <p:sp>
        <p:nvSpPr>
          <p:cNvPr id="25" name="Text 19"/>
          <p:cNvSpPr/>
          <p:nvPr/>
        </p:nvSpPr>
        <p:spPr>
          <a:xfrm>
            <a:off x="8174736"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Compliance Presentation (CLO3)</a:t>
            </a:r>
            <a:endParaRPr lang="en-US" sz="1100" dirty="0"/>
          </a:p>
        </p:txBody>
      </p:sp>
      <p:sp>
        <p:nvSpPr>
          <p:cNvPr id="26" name="Text 20"/>
          <p:cNvSpPr/>
          <p:nvPr/>
        </p:nvSpPr>
        <p:spPr>
          <a:xfrm>
            <a:off x="640080" y="5806440"/>
            <a:ext cx="10881360" cy="411480"/>
          </a:xfrm>
          <a:prstGeom prst="rect">
            <a:avLst/>
          </a:prstGeom>
          <a:noFill/>
          <a:ln/>
        </p:spPr>
        <p:txBody>
          <a:bodyPr wrap="square" lIns="0" tIns="0" rIns="0" bIns="0" rtlCol="0" anchor="ctr"/>
          <a:lstStyle/>
          <a:p>
            <a:pPr algn="ctr" indent="0" marL="0">
              <a:buNone/>
            </a:pPr>
            <a:r>
              <a:rPr lang="en-US" sz="1200" i="1" dirty="0">
                <a:solidFill>
                  <a:srgbClr val="5B6472"/>
                </a:solidFill>
                <a:latin typeface="Calibri" pitchFamily="34" charset="0"/>
                <a:ea typeface="Calibri" pitchFamily="34" charset="-122"/>
                <a:cs typeface="Calibri" pitchFamily="34" charset="-120"/>
              </a:rPr>
              <a:t>Constructive alignment: CLO → PLO → MQF, with VBE (values) and SC (skills) clusters, assessed as shown.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01</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1</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Whole Course in One Picture</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SYNTHESIS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The course, connected</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640080" y="1737360"/>
            <a:ext cx="10881360" cy="841248"/>
          </a:xfrm>
          <a:prstGeom prst="roundRect">
            <a:avLst>
              <a:gd name="adj" fmla="val 978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96112" y="1920240"/>
            <a:ext cx="502920" cy="502920"/>
          </a:xfrm>
          <a:prstGeom prst="ellipse">
            <a:avLst/>
          </a:prstGeom>
          <a:solidFill>
            <a:srgbClr val="FABA32"/>
          </a:solidFill>
          <a:ln/>
        </p:spPr>
      </p:sp>
      <p:pic>
        <p:nvPicPr>
          <p:cNvPr id="9" name="Image 0" descr="preencoded.png">    </p:cNvPr>
          <p:cNvPicPr>
            <a:picLocks noChangeAspect="1"/>
          </p:cNvPicPr>
          <p:nvPr/>
        </p:nvPicPr>
        <p:blipFill>
          <a:blip r:embed="rId1"/>
          <a:stretch>
            <a:fillRect/>
          </a:stretch>
        </p:blipFill>
        <p:spPr>
          <a:xfrm>
            <a:off x="1016813" y="2040941"/>
            <a:ext cx="261518" cy="261518"/>
          </a:xfrm>
          <a:prstGeom prst="rect">
            <a:avLst/>
          </a:prstGeom>
        </p:spPr>
      </p:pic>
      <p:sp>
        <p:nvSpPr>
          <p:cNvPr id="10" name="Text 6"/>
          <p:cNvSpPr/>
          <p:nvPr/>
        </p:nvSpPr>
        <p:spPr>
          <a:xfrm>
            <a:off x="1600200" y="1737360"/>
            <a:ext cx="9692640" cy="841248"/>
          </a:xfrm>
          <a:prstGeom prst="rect">
            <a:avLst/>
          </a:prstGeom>
          <a:noFill/>
          <a:ln/>
        </p:spPr>
        <p:txBody>
          <a:bodyPr wrap="square" lIns="0" tIns="0" rIns="0" bIns="0" rtlCol="0" anchor="ctr"/>
          <a:lstStyle/>
          <a:p>
            <a:pPr indent="0" marL="0">
              <a:buNone/>
            </a:pPr>
            <a:r>
              <a:rPr lang="en-US" sz="1350" b="1" dirty="0">
                <a:solidFill>
                  <a:srgbClr val="262F65"/>
                </a:solidFill>
                <a:latin typeface="Calibri" pitchFamily="34" charset="0"/>
                <a:ea typeface="Calibri" pitchFamily="34" charset="-122"/>
                <a:cs typeface="Calibri" pitchFamily="34" charset="-120"/>
              </a:rPr>
              <a:t>Governance &amp; compliance — policy, risk, standards, SLAs, reporting  (W10–11)</a:t>
            </a:r>
            <a:endParaRPr lang="en-US" sz="1350" dirty="0"/>
          </a:p>
        </p:txBody>
      </p:sp>
      <p:sp>
        <p:nvSpPr>
          <p:cNvPr id="11" name="Shape 7"/>
          <p:cNvSpPr/>
          <p:nvPr/>
        </p:nvSpPr>
        <p:spPr>
          <a:xfrm>
            <a:off x="640080" y="2724912"/>
            <a:ext cx="10881360" cy="841248"/>
          </a:xfrm>
          <a:prstGeom prst="roundRect">
            <a:avLst>
              <a:gd name="adj" fmla="val 9783"/>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96112" y="2907792"/>
            <a:ext cx="502920" cy="502920"/>
          </a:xfrm>
          <a:prstGeom prst="ellipse">
            <a:avLst/>
          </a:prstGeom>
          <a:solidFill>
            <a:srgbClr val="F2931F"/>
          </a:solidFill>
          <a:ln/>
        </p:spPr>
      </p:sp>
      <p:pic>
        <p:nvPicPr>
          <p:cNvPr id="13" name="Image 1" descr="preencoded.png">    </p:cNvPr>
          <p:cNvPicPr>
            <a:picLocks noChangeAspect="1"/>
          </p:cNvPicPr>
          <p:nvPr/>
        </p:nvPicPr>
        <p:blipFill>
          <a:blip r:embed="rId2"/>
          <a:stretch>
            <a:fillRect/>
          </a:stretch>
        </p:blipFill>
        <p:spPr>
          <a:xfrm>
            <a:off x="1016813" y="3028493"/>
            <a:ext cx="261518" cy="261518"/>
          </a:xfrm>
          <a:prstGeom prst="rect">
            <a:avLst/>
          </a:prstGeom>
        </p:spPr>
      </p:pic>
      <p:sp>
        <p:nvSpPr>
          <p:cNvPr id="14" name="Text 9"/>
          <p:cNvSpPr/>
          <p:nvPr/>
        </p:nvSpPr>
        <p:spPr>
          <a:xfrm>
            <a:off x="1600200" y="2724912"/>
            <a:ext cx="9692640" cy="841248"/>
          </a:xfrm>
          <a:prstGeom prst="rect">
            <a:avLst/>
          </a:prstGeom>
          <a:noFill/>
          <a:ln/>
        </p:spPr>
        <p:txBody>
          <a:bodyPr wrap="square" lIns="0" tIns="0" rIns="0" bIns="0" rtlCol="0" anchor="ctr"/>
          <a:lstStyle/>
          <a:p>
            <a:pPr indent="0" marL="0">
              <a:buNone/>
            </a:pPr>
            <a:r>
              <a:rPr lang="en-US" sz="1350" b="1" dirty="0">
                <a:solidFill>
                  <a:srgbClr val="262F65"/>
                </a:solidFill>
                <a:latin typeface="Calibri" pitchFamily="34" charset="0"/>
                <a:ea typeface="Calibri" pitchFamily="34" charset="-122"/>
                <a:cs typeface="Calibri" pitchFamily="34" charset="-120"/>
              </a:rPr>
              <a:t>Identity &amp; design patterns — compose controls into architectures  (W7–9)</a:t>
            </a:r>
            <a:endParaRPr lang="en-US" sz="1350" dirty="0"/>
          </a:p>
        </p:txBody>
      </p:sp>
      <p:sp>
        <p:nvSpPr>
          <p:cNvPr id="15" name="Shape 10"/>
          <p:cNvSpPr/>
          <p:nvPr/>
        </p:nvSpPr>
        <p:spPr>
          <a:xfrm>
            <a:off x="640080" y="3712464"/>
            <a:ext cx="10881360" cy="841248"/>
          </a:xfrm>
          <a:prstGeom prst="roundRect">
            <a:avLst>
              <a:gd name="adj" fmla="val 9783"/>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96112" y="3895344"/>
            <a:ext cx="502920" cy="502920"/>
          </a:xfrm>
          <a:prstGeom prst="ellipse">
            <a:avLst/>
          </a:prstGeom>
          <a:solidFill>
            <a:srgbClr val="293E7B"/>
          </a:solidFill>
          <a:ln/>
        </p:spPr>
      </p:sp>
      <p:pic>
        <p:nvPicPr>
          <p:cNvPr id="17" name="Image 2" descr="preencoded.png">    </p:cNvPr>
          <p:cNvPicPr>
            <a:picLocks noChangeAspect="1"/>
          </p:cNvPicPr>
          <p:nvPr/>
        </p:nvPicPr>
        <p:blipFill>
          <a:blip r:embed="rId3"/>
          <a:stretch>
            <a:fillRect/>
          </a:stretch>
        </p:blipFill>
        <p:spPr>
          <a:xfrm>
            <a:off x="1016813" y="4016045"/>
            <a:ext cx="261518" cy="261518"/>
          </a:xfrm>
          <a:prstGeom prst="rect">
            <a:avLst/>
          </a:prstGeom>
        </p:spPr>
      </p:pic>
      <p:sp>
        <p:nvSpPr>
          <p:cNvPr id="18" name="Text 12"/>
          <p:cNvSpPr/>
          <p:nvPr/>
        </p:nvSpPr>
        <p:spPr>
          <a:xfrm>
            <a:off x="1600200" y="3712464"/>
            <a:ext cx="9692640" cy="841248"/>
          </a:xfrm>
          <a:prstGeom prst="rect">
            <a:avLst/>
          </a:prstGeom>
          <a:noFill/>
          <a:ln/>
        </p:spPr>
        <p:txBody>
          <a:bodyPr wrap="square" lIns="0" tIns="0" rIns="0" bIns="0" rtlCol="0" anchor="ctr"/>
          <a:lstStyle/>
          <a:p>
            <a:pPr indent="0" marL="0">
              <a:buNone/>
            </a:pPr>
            <a:r>
              <a:rPr lang="en-US" sz="1350" b="1" dirty="0">
                <a:solidFill>
                  <a:srgbClr val="262F65"/>
                </a:solidFill>
                <a:latin typeface="Calibri" pitchFamily="34" charset="0"/>
                <a:ea typeface="Calibri" pitchFamily="34" charset="-122"/>
                <a:cs typeface="Calibri" pitchFamily="34" charset="-120"/>
              </a:rPr>
              <a:t>Four pillars — isolation · data protection · access control · monitoring  (W3–6)</a:t>
            </a:r>
            <a:endParaRPr lang="en-US" sz="1350" dirty="0"/>
          </a:p>
        </p:txBody>
      </p:sp>
      <p:sp>
        <p:nvSpPr>
          <p:cNvPr id="19" name="Shape 13"/>
          <p:cNvSpPr/>
          <p:nvPr/>
        </p:nvSpPr>
        <p:spPr>
          <a:xfrm>
            <a:off x="640080" y="4700016"/>
            <a:ext cx="10881360" cy="841248"/>
          </a:xfrm>
          <a:prstGeom prst="roundRect">
            <a:avLst>
              <a:gd name="adj" fmla="val 9783"/>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96112" y="4882896"/>
            <a:ext cx="502920" cy="502920"/>
          </a:xfrm>
          <a:prstGeom prst="ellipse">
            <a:avLst/>
          </a:prstGeom>
          <a:solidFill>
            <a:srgbClr val="262F65"/>
          </a:solidFill>
          <a:ln/>
        </p:spPr>
      </p:sp>
      <p:pic>
        <p:nvPicPr>
          <p:cNvPr id="21" name="Image 3" descr="preencoded.png">    </p:cNvPr>
          <p:cNvPicPr>
            <a:picLocks noChangeAspect="1"/>
          </p:cNvPicPr>
          <p:nvPr/>
        </p:nvPicPr>
        <p:blipFill>
          <a:blip r:embed="rId4"/>
          <a:stretch>
            <a:fillRect/>
          </a:stretch>
        </p:blipFill>
        <p:spPr>
          <a:xfrm>
            <a:off x="1016813" y="5003597"/>
            <a:ext cx="261518" cy="261518"/>
          </a:xfrm>
          <a:prstGeom prst="rect">
            <a:avLst/>
          </a:prstGeom>
        </p:spPr>
      </p:pic>
      <p:sp>
        <p:nvSpPr>
          <p:cNvPr id="22" name="Text 15"/>
          <p:cNvSpPr/>
          <p:nvPr/>
        </p:nvSpPr>
        <p:spPr>
          <a:xfrm>
            <a:off x="1600200" y="4700016"/>
            <a:ext cx="9692640" cy="841248"/>
          </a:xfrm>
          <a:prstGeom prst="rect">
            <a:avLst/>
          </a:prstGeom>
          <a:noFill/>
          <a:ln/>
        </p:spPr>
        <p:txBody>
          <a:bodyPr wrap="square" lIns="0" tIns="0" rIns="0" bIns="0" rtlCol="0" anchor="ctr"/>
          <a:lstStyle/>
          <a:p>
            <a:pPr indent="0" marL="0">
              <a:buNone/>
            </a:pPr>
            <a:r>
              <a:rPr lang="en-US" sz="1350" b="1" dirty="0">
                <a:solidFill>
                  <a:srgbClr val="262F65"/>
                </a:solidFill>
                <a:latin typeface="Calibri" pitchFamily="34" charset="0"/>
                <a:ea typeface="Calibri" pitchFamily="34" charset="-122"/>
                <a:cs typeface="Calibri" pitchFamily="34" charset="-120"/>
              </a:rPr>
              <a:t>Foundations — cloud, CIA, principles, shared responsibility  (W1–2)</a:t>
            </a:r>
            <a:endParaRPr lang="en-US" sz="1350" dirty="0"/>
          </a:p>
        </p:txBody>
      </p:sp>
      <p:sp>
        <p:nvSpPr>
          <p:cNvPr id="23" name="Text 16"/>
          <p:cNvSpPr/>
          <p:nvPr/>
        </p:nvSpPr>
        <p:spPr>
          <a:xfrm>
            <a:off x="640080" y="5943600"/>
            <a:ext cx="10881360" cy="365760"/>
          </a:xfrm>
          <a:prstGeom prst="rect">
            <a:avLst/>
          </a:prstGeom>
          <a:noFill/>
          <a:ln/>
        </p:spPr>
        <p:txBody>
          <a:bodyPr wrap="square" lIns="0" tIns="0" rIns="0" bIns="0" rtlCol="0" anchor="ctr"/>
          <a:lstStyle/>
          <a:p>
            <a:pPr algn="ctr" indent="0" marL="0">
              <a:buNone/>
            </a:pPr>
            <a:r>
              <a:rPr lang="en-US" sz="1300" b="1" dirty="0">
                <a:solidFill>
                  <a:srgbClr val="F2931F"/>
                </a:solidFill>
                <a:latin typeface="Calibri" pitchFamily="34" charset="0"/>
                <a:ea typeface="Calibri" pitchFamily="34" charset="-122"/>
                <a:cs typeface="Calibri" pitchFamily="34" charset="-120"/>
              </a:rPr>
              <a:t>Threads through every layer:  </a:t>
            </a:r>
            <a:pPr algn="ctr" indent="0" marL="0">
              <a:buNone/>
            </a:pPr>
            <a:r>
              <a:rPr lang="en-US" sz="1300" i="1" dirty="0">
                <a:solidFill>
                  <a:srgbClr val="262F65"/>
                </a:solidFill>
                <a:latin typeface="Calibri" pitchFamily="34" charset="0"/>
                <a:ea typeface="Calibri" pitchFamily="34" charset="-122"/>
                <a:cs typeface="Calibri" pitchFamily="34" charset="-120"/>
              </a:rPr>
              <a:t>shared responsibility · the CIA triad · defense in depth · integrity (VBE3).</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BLUEPRINT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A secure, compliant cloud service — reference design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640080" y="1691640"/>
            <a:ext cx="10881360" cy="658368"/>
          </a:xfrm>
          <a:prstGeom prst="roundRect">
            <a:avLst>
              <a:gd name="adj" fmla="val 12500"/>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68680" y="1810512"/>
            <a:ext cx="420624" cy="420624"/>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969630" y="1911462"/>
            <a:ext cx="218724" cy="218724"/>
          </a:xfrm>
          <a:prstGeom prst="rect">
            <a:avLst/>
          </a:prstGeom>
        </p:spPr>
      </p:pic>
      <p:sp>
        <p:nvSpPr>
          <p:cNvPr id="10" name="Text 6"/>
          <p:cNvSpPr/>
          <p:nvPr/>
        </p:nvSpPr>
        <p:spPr>
          <a:xfrm>
            <a:off x="1463040" y="1691640"/>
            <a:ext cx="9829800" cy="658368"/>
          </a:xfrm>
          <a:prstGeom prst="rect">
            <a:avLst/>
          </a:prstGeom>
          <a:noFill/>
          <a:ln/>
        </p:spPr>
        <p:txBody>
          <a:bodyPr wrap="square" lIns="0" tIns="0" rIns="0" bIns="0" rtlCol="0" anchor="ctr"/>
          <a:lstStyle/>
          <a:p>
            <a:pPr indent="0" marL="0">
              <a:buNone/>
            </a:pPr>
            <a:r>
              <a:rPr lang="en-US" sz="1300" b="1" dirty="0">
                <a:solidFill>
                  <a:srgbClr val="262F65"/>
                </a:solidFill>
                <a:latin typeface="Calibri" pitchFamily="34" charset="0"/>
                <a:ea typeface="Calibri" pitchFamily="34" charset="-122"/>
                <a:cs typeface="Calibri" pitchFamily="34" charset="-120"/>
              </a:rPr>
              <a:t>Resilient edge + segmented network — DoS protection, virtual perimeter</a:t>
            </a:r>
            <a:endParaRPr lang="en-US" sz="1300" dirty="0"/>
          </a:p>
        </p:txBody>
      </p:sp>
      <p:sp>
        <p:nvSpPr>
          <p:cNvPr id="11" name="Shape 7"/>
          <p:cNvSpPr/>
          <p:nvPr/>
        </p:nvSpPr>
        <p:spPr>
          <a:xfrm>
            <a:off x="640080" y="2441448"/>
            <a:ext cx="10881360" cy="658368"/>
          </a:xfrm>
          <a:prstGeom prst="roundRect">
            <a:avLst>
              <a:gd name="adj" fmla="val 12500"/>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68680" y="2560320"/>
            <a:ext cx="420624" cy="420624"/>
          </a:xfrm>
          <a:prstGeom prst="ellipse">
            <a:avLst/>
          </a:prstGeom>
          <a:solidFill>
            <a:srgbClr val="F2931F"/>
          </a:solidFill>
          <a:ln/>
        </p:spPr>
      </p:sp>
      <p:pic>
        <p:nvPicPr>
          <p:cNvPr id="13" name="Image 1" descr="preencoded.png">    </p:cNvPr>
          <p:cNvPicPr>
            <a:picLocks noChangeAspect="1"/>
          </p:cNvPicPr>
          <p:nvPr/>
        </p:nvPicPr>
        <p:blipFill>
          <a:blip r:embed="rId2"/>
          <a:stretch>
            <a:fillRect/>
          </a:stretch>
        </p:blipFill>
        <p:spPr>
          <a:xfrm>
            <a:off x="969630" y="2661270"/>
            <a:ext cx="218724" cy="218724"/>
          </a:xfrm>
          <a:prstGeom prst="rect">
            <a:avLst/>
          </a:prstGeom>
        </p:spPr>
      </p:pic>
      <p:sp>
        <p:nvSpPr>
          <p:cNvPr id="14" name="Text 9"/>
          <p:cNvSpPr/>
          <p:nvPr/>
        </p:nvSpPr>
        <p:spPr>
          <a:xfrm>
            <a:off x="1463040" y="2441448"/>
            <a:ext cx="9829800" cy="658368"/>
          </a:xfrm>
          <a:prstGeom prst="rect">
            <a:avLst/>
          </a:prstGeom>
          <a:noFill/>
          <a:ln/>
        </p:spPr>
        <p:txBody>
          <a:bodyPr wrap="square" lIns="0" tIns="0" rIns="0" bIns="0" rtlCol="0" anchor="ctr"/>
          <a:lstStyle/>
          <a:p>
            <a:pPr indent="0" marL="0">
              <a:buNone/>
            </a:pPr>
            <a:r>
              <a:rPr lang="en-US" sz="1300" b="1" dirty="0">
                <a:solidFill>
                  <a:srgbClr val="262F65"/>
                </a:solidFill>
                <a:latin typeface="Calibri" pitchFamily="34" charset="0"/>
                <a:ea typeface="Calibri" pitchFamily="34" charset="-122"/>
                <a:cs typeface="Calibri" pitchFamily="34" charset="-120"/>
              </a:rPr>
              <a:t>Federated identity — SSO, MFA, conditional access, least privilege</a:t>
            </a:r>
            <a:endParaRPr lang="en-US" sz="1300" dirty="0"/>
          </a:p>
        </p:txBody>
      </p:sp>
      <p:sp>
        <p:nvSpPr>
          <p:cNvPr id="15" name="Shape 10"/>
          <p:cNvSpPr/>
          <p:nvPr/>
        </p:nvSpPr>
        <p:spPr>
          <a:xfrm>
            <a:off x="640080" y="3191256"/>
            <a:ext cx="10881360" cy="658368"/>
          </a:xfrm>
          <a:prstGeom prst="roundRect">
            <a:avLst>
              <a:gd name="adj" fmla="val 12500"/>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68680" y="3310128"/>
            <a:ext cx="420624" cy="420624"/>
          </a:xfrm>
          <a:prstGeom prst="ellipse">
            <a:avLst/>
          </a:prstGeom>
          <a:solidFill>
            <a:srgbClr val="293E7B"/>
          </a:solidFill>
          <a:ln/>
        </p:spPr>
      </p:sp>
      <p:pic>
        <p:nvPicPr>
          <p:cNvPr id="17" name="Image 2" descr="preencoded.png">    </p:cNvPr>
          <p:cNvPicPr>
            <a:picLocks noChangeAspect="1"/>
          </p:cNvPicPr>
          <p:nvPr/>
        </p:nvPicPr>
        <p:blipFill>
          <a:blip r:embed="rId3"/>
          <a:stretch>
            <a:fillRect/>
          </a:stretch>
        </p:blipFill>
        <p:spPr>
          <a:xfrm>
            <a:off x="969630" y="3411078"/>
            <a:ext cx="218724" cy="218724"/>
          </a:xfrm>
          <a:prstGeom prst="rect">
            <a:avLst/>
          </a:prstGeom>
        </p:spPr>
      </p:pic>
      <p:sp>
        <p:nvSpPr>
          <p:cNvPr id="18" name="Text 12"/>
          <p:cNvSpPr/>
          <p:nvPr/>
        </p:nvSpPr>
        <p:spPr>
          <a:xfrm>
            <a:off x="1463040" y="3191256"/>
            <a:ext cx="9829800" cy="658368"/>
          </a:xfrm>
          <a:prstGeom prst="rect">
            <a:avLst/>
          </a:prstGeom>
          <a:noFill/>
          <a:ln/>
        </p:spPr>
        <p:txBody>
          <a:bodyPr wrap="square" lIns="0" tIns="0" rIns="0" bIns="0" rtlCol="0" anchor="ctr"/>
          <a:lstStyle/>
          <a:p>
            <a:pPr indent="0" marL="0">
              <a:buNone/>
            </a:pPr>
            <a:r>
              <a:rPr lang="en-US" sz="1300" b="1" dirty="0">
                <a:solidFill>
                  <a:srgbClr val="262F65"/>
                </a:solidFill>
                <a:latin typeface="Calibri" pitchFamily="34" charset="0"/>
                <a:ea typeface="Calibri" pitchFamily="34" charset="-122"/>
                <a:cs typeface="Calibri" pitchFamily="34" charset="-120"/>
              </a:rPr>
              <a:t>Trusted platform + hypervisor protection + VM encryption</a:t>
            </a:r>
            <a:endParaRPr lang="en-US" sz="1300" dirty="0"/>
          </a:p>
        </p:txBody>
      </p:sp>
      <p:sp>
        <p:nvSpPr>
          <p:cNvPr id="19" name="Shape 13"/>
          <p:cNvSpPr/>
          <p:nvPr/>
        </p:nvSpPr>
        <p:spPr>
          <a:xfrm>
            <a:off x="640080" y="3941064"/>
            <a:ext cx="10881360" cy="658368"/>
          </a:xfrm>
          <a:prstGeom prst="roundRect">
            <a:avLst>
              <a:gd name="adj" fmla="val 12500"/>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68680" y="4059936"/>
            <a:ext cx="420624" cy="420624"/>
          </a:xfrm>
          <a:prstGeom prst="ellipse">
            <a:avLst/>
          </a:prstGeom>
          <a:solidFill>
            <a:srgbClr val="262F65"/>
          </a:solidFill>
          <a:ln/>
        </p:spPr>
      </p:sp>
      <p:pic>
        <p:nvPicPr>
          <p:cNvPr id="21" name="Image 3" descr="preencoded.png">    </p:cNvPr>
          <p:cNvPicPr>
            <a:picLocks noChangeAspect="1"/>
          </p:cNvPicPr>
          <p:nvPr/>
        </p:nvPicPr>
        <p:blipFill>
          <a:blip r:embed="rId4"/>
          <a:stretch>
            <a:fillRect/>
          </a:stretch>
        </p:blipFill>
        <p:spPr>
          <a:xfrm>
            <a:off x="969630" y="4160886"/>
            <a:ext cx="218724" cy="218724"/>
          </a:xfrm>
          <a:prstGeom prst="rect">
            <a:avLst/>
          </a:prstGeom>
        </p:spPr>
      </p:pic>
      <p:sp>
        <p:nvSpPr>
          <p:cNvPr id="22" name="Text 15"/>
          <p:cNvSpPr/>
          <p:nvPr/>
        </p:nvSpPr>
        <p:spPr>
          <a:xfrm>
            <a:off x="1463040" y="3941064"/>
            <a:ext cx="9829800" cy="658368"/>
          </a:xfrm>
          <a:prstGeom prst="rect">
            <a:avLst/>
          </a:prstGeom>
          <a:noFill/>
          <a:ln/>
        </p:spPr>
        <p:txBody>
          <a:bodyPr wrap="square" lIns="0" tIns="0" rIns="0" bIns="0" rtlCol="0" anchor="ctr"/>
          <a:lstStyle/>
          <a:p>
            <a:pPr indent="0" marL="0">
              <a:buNone/>
            </a:pPr>
            <a:r>
              <a:rPr lang="en-US" sz="1300" b="1" dirty="0">
                <a:solidFill>
                  <a:srgbClr val="262F65"/>
                </a:solidFill>
                <a:latin typeface="Calibri" pitchFamily="34" charset="0"/>
                <a:ea typeface="Calibri" pitchFamily="34" charset="-122"/>
                <a:cs typeface="Calibri" pitchFamily="34" charset="-120"/>
              </a:rPr>
              <a:t>Data protection — KMS, envelope &amp; per-tenant keys, secure deletion</a:t>
            </a:r>
            <a:endParaRPr lang="en-US" sz="1300" dirty="0"/>
          </a:p>
        </p:txBody>
      </p:sp>
      <p:sp>
        <p:nvSpPr>
          <p:cNvPr id="23" name="Shape 16"/>
          <p:cNvSpPr/>
          <p:nvPr/>
        </p:nvSpPr>
        <p:spPr>
          <a:xfrm>
            <a:off x="640080" y="4690872"/>
            <a:ext cx="10881360" cy="658368"/>
          </a:xfrm>
          <a:prstGeom prst="roundRect">
            <a:avLst>
              <a:gd name="adj" fmla="val 12500"/>
            </a:avLst>
          </a:prstGeom>
          <a:solidFill>
            <a:srgbClr val="F4F6FB"/>
          </a:solidFill>
          <a:ln/>
          <a:effectLst>
            <a:outerShdw sx="100000" sy="100000" kx="0" ky="0" algn="bl" rotWithShape="0" blurRad="88900" dist="38100" dir="5400000">
              <a:srgbClr val="8894AD">
                <a:alpha val="28000"/>
              </a:srgbClr>
            </a:outerShdw>
          </a:effectLst>
        </p:spPr>
      </p:sp>
      <p:sp>
        <p:nvSpPr>
          <p:cNvPr id="24" name="Shape 17"/>
          <p:cNvSpPr/>
          <p:nvPr/>
        </p:nvSpPr>
        <p:spPr>
          <a:xfrm>
            <a:off x="868680" y="4809744"/>
            <a:ext cx="420624" cy="420624"/>
          </a:xfrm>
          <a:prstGeom prst="ellipse">
            <a:avLst/>
          </a:prstGeom>
          <a:solidFill>
            <a:srgbClr val="F2931F"/>
          </a:solidFill>
          <a:ln/>
        </p:spPr>
      </p:sp>
      <p:pic>
        <p:nvPicPr>
          <p:cNvPr id="25" name="Image 4" descr="preencoded.png">    </p:cNvPr>
          <p:cNvPicPr>
            <a:picLocks noChangeAspect="1"/>
          </p:cNvPicPr>
          <p:nvPr/>
        </p:nvPicPr>
        <p:blipFill>
          <a:blip r:embed="rId5"/>
          <a:stretch>
            <a:fillRect/>
          </a:stretch>
        </p:blipFill>
        <p:spPr>
          <a:xfrm>
            <a:off x="969630" y="4910694"/>
            <a:ext cx="218724" cy="218724"/>
          </a:xfrm>
          <a:prstGeom prst="rect">
            <a:avLst/>
          </a:prstGeom>
        </p:spPr>
      </p:pic>
      <p:sp>
        <p:nvSpPr>
          <p:cNvPr id="26" name="Text 18"/>
          <p:cNvSpPr/>
          <p:nvPr/>
        </p:nvSpPr>
        <p:spPr>
          <a:xfrm>
            <a:off x="1463040" y="4690872"/>
            <a:ext cx="9829800" cy="658368"/>
          </a:xfrm>
          <a:prstGeom prst="rect">
            <a:avLst/>
          </a:prstGeom>
          <a:noFill/>
          <a:ln/>
        </p:spPr>
        <p:txBody>
          <a:bodyPr wrap="square" lIns="0" tIns="0" rIns="0" bIns="0" rtlCol="0" anchor="ctr"/>
          <a:lstStyle/>
          <a:p>
            <a:pPr indent="0" marL="0">
              <a:buNone/>
            </a:pPr>
            <a:r>
              <a:rPr lang="en-US" sz="1300" b="1" dirty="0">
                <a:solidFill>
                  <a:srgbClr val="262F65"/>
                </a:solidFill>
                <a:latin typeface="Calibri" pitchFamily="34" charset="0"/>
                <a:ea typeface="Calibri" pitchFamily="34" charset="-122"/>
                <a:cs typeface="Calibri" pitchFamily="34" charset="-120"/>
              </a:rPr>
              <a:t>Monitoring &amp; tamper-proof logging — detect, respond, prove</a:t>
            </a:r>
            <a:endParaRPr lang="en-US" sz="1300" dirty="0"/>
          </a:p>
        </p:txBody>
      </p:sp>
      <p:sp>
        <p:nvSpPr>
          <p:cNvPr id="27" name="Shape 19"/>
          <p:cNvSpPr/>
          <p:nvPr/>
        </p:nvSpPr>
        <p:spPr>
          <a:xfrm>
            <a:off x="640080" y="5440680"/>
            <a:ext cx="10881360" cy="658368"/>
          </a:xfrm>
          <a:prstGeom prst="roundRect">
            <a:avLst>
              <a:gd name="adj" fmla="val 12500"/>
            </a:avLst>
          </a:prstGeom>
          <a:solidFill>
            <a:srgbClr val="F4F6FB"/>
          </a:solidFill>
          <a:ln/>
          <a:effectLst>
            <a:outerShdw sx="100000" sy="100000" kx="0" ky="0" algn="bl" rotWithShape="0" blurRad="88900" dist="38100" dir="5400000">
              <a:srgbClr val="8894AD">
                <a:alpha val="28000"/>
              </a:srgbClr>
            </a:outerShdw>
          </a:effectLst>
        </p:spPr>
      </p:sp>
      <p:sp>
        <p:nvSpPr>
          <p:cNvPr id="28" name="Shape 20"/>
          <p:cNvSpPr/>
          <p:nvPr/>
        </p:nvSpPr>
        <p:spPr>
          <a:xfrm>
            <a:off x="868680" y="5559552"/>
            <a:ext cx="420624" cy="420624"/>
          </a:xfrm>
          <a:prstGeom prst="ellipse">
            <a:avLst/>
          </a:prstGeom>
          <a:solidFill>
            <a:srgbClr val="FABA32"/>
          </a:solidFill>
          <a:ln/>
        </p:spPr>
      </p:sp>
      <p:pic>
        <p:nvPicPr>
          <p:cNvPr id="29" name="Image 5" descr="preencoded.png">    </p:cNvPr>
          <p:cNvPicPr>
            <a:picLocks noChangeAspect="1"/>
          </p:cNvPicPr>
          <p:nvPr/>
        </p:nvPicPr>
        <p:blipFill>
          <a:blip r:embed="rId6"/>
          <a:stretch>
            <a:fillRect/>
          </a:stretch>
        </p:blipFill>
        <p:spPr>
          <a:xfrm>
            <a:off x="969630" y="5660502"/>
            <a:ext cx="218724" cy="218724"/>
          </a:xfrm>
          <a:prstGeom prst="rect">
            <a:avLst/>
          </a:prstGeom>
        </p:spPr>
      </p:pic>
      <p:sp>
        <p:nvSpPr>
          <p:cNvPr id="30" name="Text 21"/>
          <p:cNvSpPr/>
          <p:nvPr/>
        </p:nvSpPr>
        <p:spPr>
          <a:xfrm>
            <a:off x="1463040" y="5440680"/>
            <a:ext cx="9829800" cy="658368"/>
          </a:xfrm>
          <a:prstGeom prst="rect">
            <a:avLst/>
          </a:prstGeom>
          <a:noFill/>
          <a:ln/>
        </p:spPr>
        <p:txBody>
          <a:bodyPr wrap="square" lIns="0" tIns="0" rIns="0" bIns="0" rtlCol="0" anchor="ctr"/>
          <a:lstStyle/>
          <a:p>
            <a:pPr indent="0" marL="0">
              <a:buNone/>
            </a:pPr>
            <a:r>
              <a:rPr lang="en-US" sz="1300" b="1" dirty="0">
                <a:solidFill>
                  <a:srgbClr val="262F65"/>
                </a:solidFill>
                <a:latin typeface="Calibri" pitchFamily="34" charset="0"/>
                <a:ea typeface="Calibri" pitchFamily="34" charset="-122"/>
                <a:cs typeface="Calibri" pitchFamily="34" charset="-120"/>
              </a:rPr>
              <a:t>Governance wrapper — policy, risk, standards, SLAs, reporting</a:t>
            </a:r>
            <a:endParaRPr lang="en-US" sz="1300" dirty="0"/>
          </a:p>
        </p:txBody>
      </p:sp>
      <p:sp>
        <p:nvSpPr>
          <p:cNvPr id="31" name="Text 22"/>
          <p:cNvSpPr/>
          <p:nvPr/>
        </p:nvSpPr>
        <p:spPr>
          <a:xfrm>
            <a:off x="640080" y="6172200"/>
            <a:ext cx="10881360" cy="365760"/>
          </a:xfrm>
          <a:prstGeom prst="rect">
            <a:avLst/>
          </a:prstGeom>
          <a:noFill/>
          <a:ln/>
        </p:spPr>
        <p:txBody>
          <a:bodyPr wrap="square" lIns="0" tIns="0" rIns="0" bIns="0" rtlCol="0" anchor="ctr"/>
          <a:lstStyle/>
          <a:p>
            <a:pPr algn="ctr" indent="0" marL="0">
              <a:buNone/>
            </a:pPr>
            <a:r>
              <a:rPr lang="en-US" sz="1250" b="1" dirty="0">
                <a:solidFill>
                  <a:srgbClr val="F2931F"/>
                </a:solidFill>
                <a:latin typeface="Calibri" pitchFamily="34" charset="0"/>
                <a:ea typeface="Calibri" pitchFamily="34" charset="-122"/>
                <a:cs typeface="Calibri" pitchFamily="34" charset="-120"/>
              </a:rPr>
              <a:t>Your checklist:  </a:t>
            </a:r>
            <a:pPr algn="ctr" indent="0" marL="0">
              <a:buNone/>
            </a:pPr>
            <a:r>
              <a:rPr lang="en-US" sz="1250" i="1" dirty="0">
                <a:solidFill>
                  <a:srgbClr val="262F65"/>
                </a:solidFill>
                <a:latin typeface="Calibri" pitchFamily="34" charset="0"/>
                <a:ea typeface="Calibri" pitchFamily="34" charset="-122"/>
                <a:cs typeface="Calibri" pitchFamily="34" charset="-120"/>
              </a:rPr>
              <a:t>for any secure service, confirm every layer is addressed — and can be evidenced.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02</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2</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Consolidation Design Brief</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BRIEF</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Design a secure, compliant cloud service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640080" y="1691640"/>
            <a:ext cx="10881360" cy="1554480"/>
          </a:xfrm>
          <a:prstGeom prst="roundRect">
            <a:avLst>
              <a:gd name="adj" fmla="val 5294"/>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1965960"/>
            <a:ext cx="960120" cy="960120"/>
          </a:xfrm>
          <a:prstGeom prst="ellipse">
            <a:avLst/>
          </a:prstGeom>
          <a:solidFill>
            <a:srgbClr val="FABA32"/>
          </a:solidFill>
          <a:ln/>
        </p:spPr>
      </p:sp>
      <p:pic>
        <p:nvPicPr>
          <p:cNvPr id="9" name="Image 0" descr="preencoded.png">    </p:cNvPr>
          <p:cNvPicPr>
            <a:picLocks noChangeAspect="1"/>
          </p:cNvPicPr>
          <p:nvPr/>
        </p:nvPicPr>
        <p:blipFill>
          <a:blip r:embed="rId1"/>
          <a:stretch>
            <a:fillRect/>
          </a:stretch>
        </p:blipFill>
        <p:spPr>
          <a:xfrm>
            <a:off x="1190549" y="2196389"/>
            <a:ext cx="499262" cy="499262"/>
          </a:xfrm>
          <a:prstGeom prst="rect">
            <a:avLst/>
          </a:prstGeom>
        </p:spPr>
      </p:pic>
      <p:sp>
        <p:nvSpPr>
          <p:cNvPr id="10" name="Text 6"/>
          <p:cNvSpPr/>
          <p:nvPr/>
        </p:nvSpPr>
        <p:spPr>
          <a:xfrm>
            <a:off x="2194560" y="1828800"/>
            <a:ext cx="9052560" cy="12801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Design a multi-tenant cloud service handling regulated data (e.g. a health + payments platform for Malaysian SMEs) — and defend it.</a:t>
            </a:r>
            <a:endParaRPr lang="en-US" sz="1500" dirty="0"/>
          </a:p>
        </p:txBody>
      </p:sp>
      <p:sp>
        <p:nvSpPr>
          <p:cNvPr id="11" name="Shape 7"/>
          <p:cNvSpPr/>
          <p:nvPr/>
        </p:nvSpPr>
        <p:spPr>
          <a:xfrm>
            <a:off x="640080" y="3429000"/>
            <a:ext cx="347472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96112" y="3721608"/>
            <a:ext cx="658368" cy="658368"/>
          </a:xfrm>
          <a:prstGeom prst="ellipse">
            <a:avLst/>
          </a:prstGeom>
          <a:solidFill>
            <a:srgbClr val="262F65"/>
          </a:solidFill>
          <a:ln/>
        </p:spPr>
      </p:sp>
      <p:pic>
        <p:nvPicPr>
          <p:cNvPr id="13" name="Image 1" descr="preencoded.png">    </p:cNvPr>
          <p:cNvPicPr>
            <a:picLocks noChangeAspect="1"/>
          </p:cNvPicPr>
          <p:nvPr/>
        </p:nvPicPr>
        <p:blipFill>
          <a:blip r:embed="rId2"/>
          <a:stretch>
            <a:fillRect/>
          </a:stretch>
        </p:blipFill>
        <p:spPr>
          <a:xfrm>
            <a:off x="1054120" y="3879616"/>
            <a:ext cx="342351" cy="342351"/>
          </a:xfrm>
          <a:prstGeom prst="rect">
            <a:avLst/>
          </a:prstGeom>
        </p:spPr>
      </p:pic>
      <p:sp>
        <p:nvSpPr>
          <p:cNvPr id="14" name="Text 9"/>
          <p:cNvSpPr/>
          <p:nvPr/>
        </p:nvSpPr>
        <p:spPr>
          <a:xfrm>
            <a:off x="1737360" y="3630168"/>
            <a:ext cx="2194560" cy="411480"/>
          </a:xfrm>
          <a:prstGeom prst="rect">
            <a:avLst/>
          </a:prstGeom>
          <a:noFill/>
          <a:ln/>
        </p:spPr>
        <p:txBody>
          <a:bodyPr wrap="square" lIns="0" tIns="0" rIns="0" bIns="0" rtlCol="0" anchor="t"/>
          <a:lstStyle/>
          <a:p>
            <a:pPr indent="0" marL="0">
              <a:buNone/>
            </a:pPr>
            <a:r>
              <a:rPr lang="en-US" sz="1350" b="1" dirty="0">
                <a:solidFill>
                  <a:srgbClr val="262F65"/>
                </a:solidFill>
                <a:latin typeface="Calibri" pitchFamily="34" charset="0"/>
                <a:ea typeface="Calibri" pitchFamily="34" charset="-122"/>
                <a:cs typeface="Calibri" pitchFamily="34" charset="-120"/>
              </a:rPr>
              <a:t>Isolate tenants</a:t>
            </a:r>
            <a:endParaRPr lang="en-US" sz="1350" dirty="0"/>
          </a:p>
        </p:txBody>
      </p:sp>
      <p:sp>
        <p:nvSpPr>
          <p:cNvPr id="15" name="Text 10"/>
          <p:cNvSpPr/>
          <p:nvPr/>
        </p:nvSpPr>
        <p:spPr>
          <a:xfrm>
            <a:off x="1737360" y="4050792"/>
            <a:ext cx="2194560" cy="50292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Compute, network, storage.</a:t>
            </a:r>
            <a:endParaRPr lang="en-US" sz="1150" dirty="0"/>
          </a:p>
        </p:txBody>
      </p:sp>
      <p:sp>
        <p:nvSpPr>
          <p:cNvPr id="16" name="Shape 11"/>
          <p:cNvSpPr/>
          <p:nvPr/>
        </p:nvSpPr>
        <p:spPr>
          <a:xfrm>
            <a:off x="4343400" y="3429000"/>
            <a:ext cx="347472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7" name="Shape 12"/>
          <p:cNvSpPr/>
          <p:nvPr/>
        </p:nvSpPr>
        <p:spPr>
          <a:xfrm>
            <a:off x="4599432" y="3721608"/>
            <a:ext cx="658368" cy="658368"/>
          </a:xfrm>
          <a:prstGeom prst="ellipse">
            <a:avLst/>
          </a:prstGeom>
          <a:solidFill>
            <a:srgbClr val="F2931F"/>
          </a:solidFill>
          <a:ln/>
        </p:spPr>
      </p:sp>
      <p:pic>
        <p:nvPicPr>
          <p:cNvPr id="18" name="Image 2" descr="preencoded.png">    </p:cNvPr>
          <p:cNvPicPr>
            <a:picLocks noChangeAspect="1"/>
          </p:cNvPicPr>
          <p:nvPr/>
        </p:nvPicPr>
        <p:blipFill>
          <a:blip r:embed="rId3"/>
          <a:stretch>
            <a:fillRect/>
          </a:stretch>
        </p:blipFill>
        <p:spPr>
          <a:xfrm>
            <a:off x="4757440" y="3879616"/>
            <a:ext cx="342351" cy="342351"/>
          </a:xfrm>
          <a:prstGeom prst="rect">
            <a:avLst/>
          </a:prstGeom>
        </p:spPr>
      </p:pic>
      <p:sp>
        <p:nvSpPr>
          <p:cNvPr id="19" name="Text 13"/>
          <p:cNvSpPr/>
          <p:nvPr/>
        </p:nvSpPr>
        <p:spPr>
          <a:xfrm>
            <a:off x="5440680" y="3630168"/>
            <a:ext cx="2194560" cy="411480"/>
          </a:xfrm>
          <a:prstGeom prst="rect">
            <a:avLst/>
          </a:prstGeom>
          <a:noFill/>
          <a:ln/>
        </p:spPr>
        <p:txBody>
          <a:bodyPr wrap="square" lIns="0" tIns="0" rIns="0" bIns="0" rtlCol="0" anchor="t"/>
          <a:lstStyle/>
          <a:p>
            <a:pPr indent="0" marL="0">
              <a:buNone/>
            </a:pPr>
            <a:r>
              <a:rPr lang="en-US" sz="1350" b="1" dirty="0">
                <a:solidFill>
                  <a:srgbClr val="262F65"/>
                </a:solidFill>
                <a:latin typeface="Calibri" pitchFamily="34" charset="0"/>
                <a:ea typeface="Calibri" pitchFamily="34" charset="-122"/>
                <a:cs typeface="Calibri" pitchFamily="34" charset="-120"/>
              </a:rPr>
              <a:t>Protect data</a:t>
            </a:r>
            <a:endParaRPr lang="en-US" sz="1350" dirty="0"/>
          </a:p>
        </p:txBody>
      </p:sp>
      <p:sp>
        <p:nvSpPr>
          <p:cNvPr id="20" name="Text 14"/>
          <p:cNvSpPr/>
          <p:nvPr/>
        </p:nvSpPr>
        <p:spPr>
          <a:xfrm>
            <a:off x="5440680" y="4050792"/>
            <a:ext cx="2194560" cy="50292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Across its full lifecycle.</a:t>
            </a:r>
            <a:endParaRPr lang="en-US" sz="1150" dirty="0"/>
          </a:p>
        </p:txBody>
      </p:sp>
      <p:sp>
        <p:nvSpPr>
          <p:cNvPr id="21" name="Shape 15"/>
          <p:cNvSpPr/>
          <p:nvPr/>
        </p:nvSpPr>
        <p:spPr>
          <a:xfrm>
            <a:off x="8046720" y="3429000"/>
            <a:ext cx="347472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2" name="Shape 16"/>
          <p:cNvSpPr/>
          <p:nvPr/>
        </p:nvSpPr>
        <p:spPr>
          <a:xfrm>
            <a:off x="8302752" y="3721608"/>
            <a:ext cx="658368" cy="658368"/>
          </a:xfrm>
          <a:prstGeom prst="ellipse">
            <a:avLst/>
          </a:prstGeom>
          <a:solidFill>
            <a:srgbClr val="293E7B"/>
          </a:solidFill>
          <a:ln/>
        </p:spPr>
      </p:sp>
      <p:pic>
        <p:nvPicPr>
          <p:cNvPr id="23" name="Image 3" descr="preencoded.png">    </p:cNvPr>
          <p:cNvPicPr>
            <a:picLocks noChangeAspect="1"/>
          </p:cNvPicPr>
          <p:nvPr/>
        </p:nvPicPr>
        <p:blipFill>
          <a:blip r:embed="rId4"/>
          <a:stretch>
            <a:fillRect/>
          </a:stretch>
        </p:blipFill>
        <p:spPr>
          <a:xfrm>
            <a:off x="8460760" y="3879616"/>
            <a:ext cx="342351" cy="342351"/>
          </a:xfrm>
          <a:prstGeom prst="rect">
            <a:avLst/>
          </a:prstGeom>
        </p:spPr>
      </p:pic>
      <p:sp>
        <p:nvSpPr>
          <p:cNvPr id="24" name="Text 17"/>
          <p:cNvSpPr/>
          <p:nvPr/>
        </p:nvSpPr>
        <p:spPr>
          <a:xfrm>
            <a:off x="9144000" y="3630168"/>
            <a:ext cx="2194560" cy="411480"/>
          </a:xfrm>
          <a:prstGeom prst="rect">
            <a:avLst/>
          </a:prstGeom>
          <a:noFill/>
          <a:ln/>
        </p:spPr>
        <p:txBody>
          <a:bodyPr wrap="square" lIns="0" tIns="0" rIns="0" bIns="0" rtlCol="0" anchor="t"/>
          <a:lstStyle/>
          <a:p>
            <a:pPr indent="0" marL="0">
              <a:buNone/>
            </a:pPr>
            <a:r>
              <a:rPr lang="en-US" sz="1350" b="1" dirty="0">
                <a:solidFill>
                  <a:srgbClr val="262F65"/>
                </a:solidFill>
                <a:latin typeface="Calibri" pitchFamily="34" charset="0"/>
                <a:ea typeface="Calibri" pitchFamily="34" charset="-122"/>
                <a:cs typeface="Calibri" pitchFamily="34" charset="-120"/>
              </a:rPr>
              <a:t>Control access</a:t>
            </a:r>
            <a:endParaRPr lang="en-US" sz="1350" dirty="0"/>
          </a:p>
        </p:txBody>
      </p:sp>
      <p:sp>
        <p:nvSpPr>
          <p:cNvPr id="25" name="Text 18"/>
          <p:cNvSpPr/>
          <p:nvPr/>
        </p:nvSpPr>
        <p:spPr>
          <a:xfrm>
            <a:off x="9144000" y="4050792"/>
            <a:ext cx="2194560" cy="50292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Identity, MFA, least privilege.</a:t>
            </a:r>
            <a:endParaRPr lang="en-US" sz="1150" dirty="0"/>
          </a:p>
        </p:txBody>
      </p:sp>
      <p:sp>
        <p:nvSpPr>
          <p:cNvPr id="26" name="Shape 19"/>
          <p:cNvSpPr/>
          <p:nvPr/>
        </p:nvSpPr>
        <p:spPr>
          <a:xfrm>
            <a:off x="640080" y="4828032"/>
            <a:ext cx="347472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7" name="Shape 20"/>
          <p:cNvSpPr/>
          <p:nvPr/>
        </p:nvSpPr>
        <p:spPr>
          <a:xfrm>
            <a:off x="896112" y="5120640"/>
            <a:ext cx="658368" cy="658368"/>
          </a:xfrm>
          <a:prstGeom prst="ellipse">
            <a:avLst/>
          </a:prstGeom>
          <a:solidFill>
            <a:srgbClr val="262F65"/>
          </a:solidFill>
          <a:ln/>
        </p:spPr>
      </p:sp>
      <p:pic>
        <p:nvPicPr>
          <p:cNvPr id="28" name="Image 4" descr="preencoded.png">    </p:cNvPr>
          <p:cNvPicPr>
            <a:picLocks noChangeAspect="1"/>
          </p:cNvPicPr>
          <p:nvPr/>
        </p:nvPicPr>
        <p:blipFill>
          <a:blip r:embed="rId5"/>
          <a:stretch>
            <a:fillRect/>
          </a:stretch>
        </p:blipFill>
        <p:spPr>
          <a:xfrm>
            <a:off x="1054120" y="5278648"/>
            <a:ext cx="342351" cy="342351"/>
          </a:xfrm>
          <a:prstGeom prst="rect">
            <a:avLst/>
          </a:prstGeom>
        </p:spPr>
      </p:pic>
      <p:sp>
        <p:nvSpPr>
          <p:cNvPr id="29" name="Text 21"/>
          <p:cNvSpPr/>
          <p:nvPr/>
        </p:nvSpPr>
        <p:spPr>
          <a:xfrm>
            <a:off x="1737360" y="5029200"/>
            <a:ext cx="2194560" cy="411480"/>
          </a:xfrm>
          <a:prstGeom prst="rect">
            <a:avLst/>
          </a:prstGeom>
          <a:noFill/>
          <a:ln/>
        </p:spPr>
        <p:txBody>
          <a:bodyPr wrap="square" lIns="0" tIns="0" rIns="0" bIns="0" rtlCol="0" anchor="t"/>
          <a:lstStyle/>
          <a:p>
            <a:pPr indent="0" marL="0">
              <a:buNone/>
            </a:pPr>
            <a:r>
              <a:rPr lang="en-US" sz="1350" b="1" dirty="0">
                <a:solidFill>
                  <a:srgbClr val="262F65"/>
                </a:solidFill>
                <a:latin typeface="Calibri" pitchFamily="34" charset="0"/>
                <a:ea typeface="Calibri" pitchFamily="34" charset="-122"/>
                <a:cs typeface="Calibri" pitchFamily="34" charset="-120"/>
              </a:rPr>
              <a:t>Detect &amp; respond</a:t>
            </a:r>
            <a:endParaRPr lang="en-US" sz="1350" dirty="0"/>
          </a:p>
        </p:txBody>
      </p:sp>
      <p:sp>
        <p:nvSpPr>
          <p:cNvPr id="30" name="Text 22"/>
          <p:cNvSpPr/>
          <p:nvPr/>
        </p:nvSpPr>
        <p:spPr>
          <a:xfrm>
            <a:off x="1737360" y="5449824"/>
            <a:ext cx="2194560" cy="50292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Monitoring &amp; incident response.</a:t>
            </a:r>
            <a:endParaRPr lang="en-US" sz="1150" dirty="0"/>
          </a:p>
        </p:txBody>
      </p:sp>
      <p:sp>
        <p:nvSpPr>
          <p:cNvPr id="31" name="Shape 23"/>
          <p:cNvSpPr/>
          <p:nvPr/>
        </p:nvSpPr>
        <p:spPr>
          <a:xfrm>
            <a:off x="4343400" y="4828032"/>
            <a:ext cx="347472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32" name="Shape 24"/>
          <p:cNvSpPr/>
          <p:nvPr/>
        </p:nvSpPr>
        <p:spPr>
          <a:xfrm>
            <a:off x="4599432" y="5120640"/>
            <a:ext cx="658368" cy="658368"/>
          </a:xfrm>
          <a:prstGeom prst="ellipse">
            <a:avLst/>
          </a:prstGeom>
          <a:solidFill>
            <a:srgbClr val="F2931F"/>
          </a:solidFill>
          <a:ln/>
        </p:spPr>
      </p:sp>
      <p:pic>
        <p:nvPicPr>
          <p:cNvPr id="33" name="Image 5" descr="preencoded.png">    </p:cNvPr>
          <p:cNvPicPr>
            <a:picLocks noChangeAspect="1"/>
          </p:cNvPicPr>
          <p:nvPr/>
        </p:nvPicPr>
        <p:blipFill>
          <a:blip r:embed="rId6"/>
          <a:stretch>
            <a:fillRect/>
          </a:stretch>
        </p:blipFill>
        <p:spPr>
          <a:xfrm>
            <a:off x="4757440" y="5278648"/>
            <a:ext cx="342351" cy="342351"/>
          </a:xfrm>
          <a:prstGeom prst="rect">
            <a:avLst/>
          </a:prstGeom>
        </p:spPr>
      </p:pic>
      <p:sp>
        <p:nvSpPr>
          <p:cNvPr id="34" name="Text 25"/>
          <p:cNvSpPr/>
          <p:nvPr/>
        </p:nvSpPr>
        <p:spPr>
          <a:xfrm>
            <a:off x="5440680" y="5029200"/>
            <a:ext cx="2194560" cy="411480"/>
          </a:xfrm>
          <a:prstGeom prst="rect">
            <a:avLst/>
          </a:prstGeom>
          <a:noFill/>
          <a:ln/>
        </p:spPr>
        <p:txBody>
          <a:bodyPr wrap="square" lIns="0" tIns="0" rIns="0" bIns="0" rtlCol="0" anchor="t"/>
          <a:lstStyle/>
          <a:p>
            <a:pPr indent="0" marL="0">
              <a:buNone/>
            </a:pPr>
            <a:r>
              <a:rPr lang="en-US" sz="1350" b="1" dirty="0">
                <a:solidFill>
                  <a:srgbClr val="262F65"/>
                </a:solidFill>
                <a:latin typeface="Calibri" pitchFamily="34" charset="0"/>
                <a:ea typeface="Calibri" pitchFamily="34" charset="-122"/>
                <a:cs typeface="Calibri" pitchFamily="34" charset="-120"/>
              </a:rPr>
              <a:t>Demonstrate compliance</a:t>
            </a:r>
            <a:endParaRPr lang="en-US" sz="1350" dirty="0"/>
          </a:p>
        </p:txBody>
      </p:sp>
      <p:sp>
        <p:nvSpPr>
          <p:cNvPr id="35" name="Text 26"/>
          <p:cNvSpPr/>
          <p:nvPr/>
        </p:nvSpPr>
        <p:spPr>
          <a:xfrm>
            <a:off x="5440680" y="5449824"/>
            <a:ext cx="2194560" cy="50292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Standards, privacy law, SLA.</a:t>
            </a:r>
            <a:endParaRPr lang="en-US" sz="1150" dirty="0"/>
          </a:p>
        </p:txBody>
      </p:sp>
      <p:sp>
        <p:nvSpPr>
          <p:cNvPr id="36" name="Shape 27"/>
          <p:cNvSpPr/>
          <p:nvPr/>
        </p:nvSpPr>
        <p:spPr>
          <a:xfrm>
            <a:off x="8046720" y="4828032"/>
            <a:ext cx="347472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37" name="Shape 28"/>
          <p:cNvSpPr/>
          <p:nvPr/>
        </p:nvSpPr>
        <p:spPr>
          <a:xfrm>
            <a:off x="8302752" y="5120640"/>
            <a:ext cx="658368" cy="658368"/>
          </a:xfrm>
          <a:prstGeom prst="ellipse">
            <a:avLst/>
          </a:prstGeom>
          <a:solidFill>
            <a:srgbClr val="293E7B"/>
          </a:solidFill>
          <a:ln/>
        </p:spPr>
      </p:sp>
      <p:pic>
        <p:nvPicPr>
          <p:cNvPr id="38" name="Image 6" descr="preencoded.png">    </p:cNvPr>
          <p:cNvPicPr>
            <a:picLocks noChangeAspect="1"/>
          </p:cNvPicPr>
          <p:nvPr/>
        </p:nvPicPr>
        <p:blipFill>
          <a:blip r:embed="rId7"/>
          <a:stretch>
            <a:fillRect/>
          </a:stretch>
        </p:blipFill>
        <p:spPr>
          <a:xfrm>
            <a:off x="8460760" y="5278648"/>
            <a:ext cx="342351" cy="342351"/>
          </a:xfrm>
          <a:prstGeom prst="rect">
            <a:avLst/>
          </a:prstGeom>
        </p:spPr>
      </p:pic>
      <p:sp>
        <p:nvSpPr>
          <p:cNvPr id="39" name="Text 29"/>
          <p:cNvSpPr/>
          <p:nvPr/>
        </p:nvSpPr>
        <p:spPr>
          <a:xfrm>
            <a:off x="9144000" y="5029200"/>
            <a:ext cx="2194560" cy="411480"/>
          </a:xfrm>
          <a:prstGeom prst="rect">
            <a:avLst/>
          </a:prstGeom>
          <a:noFill/>
          <a:ln/>
        </p:spPr>
        <p:txBody>
          <a:bodyPr wrap="square" lIns="0" tIns="0" rIns="0" bIns="0" rtlCol="0" anchor="t"/>
          <a:lstStyle/>
          <a:p>
            <a:pPr indent="0" marL="0">
              <a:buNone/>
            </a:pPr>
            <a:r>
              <a:rPr lang="en-US" sz="1350" b="1" dirty="0">
                <a:solidFill>
                  <a:srgbClr val="262F65"/>
                </a:solidFill>
                <a:latin typeface="Calibri" pitchFamily="34" charset="0"/>
                <a:ea typeface="Calibri" pitchFamily="34" charset="-122"/>
                <a:cs typeface="Calibri" pitchFamily="34" charset="-120"/>
              </a:rPr>
              <a:t>Deliver a presentation</a:t>
            </a:r>
            <a:endParaRPr lang="en-US" sz="1350" dirty="0"/>
          </a:p>
        </p:txBody>
      </p:sp>
      <p:sp>
        <p:nvSpPr>
          <p:cNvPr id="40" name="Text 30"/>
          <p:cNvSpPr/>
          <p:nvPr/>
        </p:nvSpPr>
        <p:spPr>
          <a:xfrm>
            <a:off x="9144000" y="5449824"/>
            <a:ext cx="2194560" cy="50292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Requirements → controls → evidence.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DESIGN CHECKLIST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Map requirements to controls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Requirement → control</a:t>
            </a:r>
            <a:endParaRPr lang="en-US" sz="1550" dirty="0"/>
          </a:p>
        </p:txBody>
      </p:sp>
      <p:sp>
        <p:nvSpPr>
          <p:cNvPr id="11" name="Shape 7"/>
          <p:cNvSpPr/>
          <p:nvPr/>
        </p:nvSpPr>
        <p:spPr>
          <a:xfrm>
            <a:off x="1005840" y="3127248"/>
            <a:ext cx="128016" cy="128016"/>
          </a:xfrm>
          <a:prstGeom prst="ellipse">
            <a:avLst/>
          </a:prstGeom>
          <a:solidFill>
            <a:srgbClr val="262F65"/>
          </a:solidFill>
          <a:ln/>
        </p:spPr>
      </p:sp>
      <p:sp>
        <p:nvSpPr>
          <p:cNvPr id="12" name="Text 8"/>
          <p:cNvSpPr/>
          <p:nvPr/>
        </p:nvSpPr>
        <p:spPr>
          <a:xfrm>
            <a:off x="1280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Isolation — </a:t>
            </a:r>
            <a:pPr indent="0" marL="0">
              <a:buNone/>
            </a:pPr>
            <a:r>
              <a:rPr lang="en-US" sz="1250" dirty="0">
                <a:solidFill>
                  <a:srgbClr val="5B6472"/>
                </a:solidFill>
                <a:latin typeface="Calibri" pitchFamily="34" charset="0"/>
                <a:ea typeface="Calibri" pitchFamily="34" charset="-122"/>
                <a:cs typeface="Calibri" pitchFamily="34" charset="-120"/>
              </a:rPr>
              <a:t>multitenancy, virtualization, segmentation</a:t>
            </a:r>
            <a:endParaRPr lang="en-US" sz="1250" dirty="0"/>
          </a:p>
        </p:txBody>
      </p:sp>
      <p:sp>
        <p:nvSpPr>
          <p:cNvPr id="13" name="Shape 9"/>
          <p:cNvSpPr/>
          <p:nvPr/>
        </p:nvSpPr>
        <p:spPr>
          <a:xfrm>
            <a:off x="1005840" y="3694176"/>
            <a:ext cx="128016" cy="128016"/>
          </a:xfrm>
          <a:prstGeom prst="ellipse">
            <a:avLst/>
          </a:prstGeom>
          <a:solidFill>
            <a:srgbClr val="262F65"/>
          </a:solidFill>
          <a:ln/>
        </p:spPr>
      </p:sp>
      <p:sp>
        <p:nvSpPr>
          <p:cNvPr id="14" name="Text 10"/>
          <p:cNvSpPr/>
          <p:nvPr/>
        </p:nvSpPr>
        <p:spPr>
          <a:xfrm>
            <a:off x="1280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Data — </a:t>
            </a:r>
            <a:pPr indent="0" marL="0">
              <a:buNone/>
            </a:pPr>
            <a:r>
              <a:rPr lang="en-US" sz="1250" dirty="0">
                <a:solidFill>
                  <a:srgbClr val="5B6472"/>
                </a:solidFill>
                <a:latin typeface="Calibri" pitchFamily="34" charset="0"/>
                <a:ea typeface="Calibri" pitchFamily="34" charset="-122"/>
                <a:cs typeface="Calibri" pitchFamily="34" charset="-120"/>
              </a:rPr>
              <a:t>encryption, KMS, per-tenant keys, deletion</a:t>
            </a:r>
            <a:endParaRPr lang="en-US" sz="1250" dirty="0"/>
          </a:p>
        </p:txBody>
      </p:sp>
      <p:sp>
        <p:nvSpPr>
          <p:cNvPr id="15" name="Shape 11"/>
          <p:cNvSpPr/>
          <p:nvPr/>
        </p:nvSpPr>
        <p:spPr>
          <a:xfrm>
            <a:off x="1005840" y="4261104"/>
            <a:ext cx="128016" cy="128016"/>
          </a:xfrm>
          <a:prstGeom prst="ellipse">
            <a:avLst/>
          </a:prstGeom>
          <a:solidFill>
            <a:srgbClr val="262F65"/>
          </a:solidFill>
          <a:ln/>
        </p:spPr>
      </p:sp>
      <p:sp>
        <p:nvSpPr>
          <p:cNvPr id="16" name="Text 12"/>
          <p:cNvSpPr/>
          <p:nvPr/>
        </p:nvSpPr>
        <p:spPr>
          <a:xfrm>
            <a:off x="1280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Access — </a:t>
            </a:r>
            <a:pPr indent="0" marL="0">
              <a:buNone/>
            </a:pPr>
            <a:r>
              <a:rPr lang="en-US" sz="1250" dirty="0">
                <a:solidFill>
                  <a:srgbClr val="5B6472"/>
                </a:solidFill>
                <a:latin typeface="Calibri" pitchFamily="34" charset="0"/>
                <a:ea typeface="Calibri" pitchFamily="34" charset="-122"/>
                <a:cs typeface="Calibri" pitchFamily="34" charset="-120"/>
              </a:rPr>
              <a:t>IAM, MFA, RBAC, federation</a:t>
            </a:r>
            <a:endParaRPr lang="en-US" sz="1250" dirty="0"/>
          </a:p>
        </p:txBody>
      </p:sp>
      <p:sp>
        <p:nvSpPr>
          <p:cNvPr id="17" name="Shape 13"/>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8" name="Shape 14"/>
          <p:cNvSpPr/>
          <p:nvPr/>
        </p:nvSpPr>
        <p:spPr>
          <a:xfrm>
            <a:off x="6675120" y="2057400"/>
            <a:ext cx="868680" cy="868680"/>
          </a:xfrm>
          <a:prstGeom prst="ellipse">
            <a:avLst/>
          </a:prstGeom>
          <a:solidFill>
            <a:srgbClr val="F2931F"/>
          </a:solidFill>
          <a:ln/>
        </p:spPr>
      </p:sp>
      <p:pic>
        <p:nvPicPr>
          <p:cNvPr id="19"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0" name="Text 15"/>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Control → evidence</a:t>
            </a:r>
            <a:endParaRPr lang="en-US" sz="1550" dirty="0"/>
          </a:p>
        </p:txBody>
      </p:sp>
      <p:sp>
        <p:nvSpPr>
          <p:cNvPr id="21" name="Shape 16"/>
          <p:cNvSpPr/>
          <p:nvPr/>
        </p:nvSpPr>
        <p:spPr>
          <a:xfrm>
            <a:off x="6720840" y="3127248"/>
            <a:ext cx="128016" cy="128016"/>
          </a:xfrm>
          <a:prstGeom prst="ellipse">
            <a:avLst/>
          </a:prstGeom>
          <a:solidFill>
            <a:srgbClr val="F2931F"/>
          </a:solidFill>
          <a:ln/>
        </p:spPr>
      </p:sp>
      <p:sp>
        <p:nvSpPr>
          <p:cNvPr id="22" name="Text 17"/>
          <p:cNvSpPr/>
          <p:nvPr/>
        </p:nvSpPr>
        <p:spPr>
          <a:xfrm>
            <a:off x="6995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Detection — </a:t>
            </a:r>
            <a:pPr indent="0" marL="0">
              <a:buNone/>
            </a:pPr>
            <a:r>
              <a:rPr lang="en-US" sz="1250" dirty="0">
                <a:solidFill>
                  <a:srgbClr val="5B6472"/>
                </a:solidFill>
                <a:latin typeface="Calibri" pitchFamily="34" charset="0"/>
                <a:ea typeface="Calibri" pitchFamily="34" charset="-122"/>
                <a:cs typeface="Calibri" pitchFamily="34" charset="-120"/>
              </a:rPr>
              <a:t>SIEM, tamper-proof logs, IR plan</a:t>
            </a:r>
            <a:endParaRPr lang="en-US" sz="1250" dirty="0"/>
          </a:p>
        </p:txBody>
      </p:sp>
      <p:sp>
        <p:nvSpPr>
          <p:cNvPr id="23" name="Shape 18"/>
          <p:cNvSpPr/>
          <p:nvPr/>
        </p:nvSpPr>
        <p:spPr>
          <a:xfrm>
            <a:off x="6720840" y="3694176"/>
            <a:ext cx="128016" cy="128016"/>
          </a:xfrm>
          <a:prstGeom prst="ellipse">
            <a:avLst/>
          </a:prstGeom>
          <a:solidFill>
            <a:srgbClr val="F2931F"/>
          </a:solidFill>
          <a:ln/>
        </p:spPr>
      </p:sp>
      <p:sp>
        <p:nvSpPr>
          <p:cNvPr id="24" name="Text 19"/>
          <p:cNvSpPr/>
          <p:nvPr/>
        </p:nvSpPr>
        <p:spPr>
          <a:xfrm>
            <a:off x="6995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Compliance — </a:t>
            </a:r>
            <a:pPr indent="0" marL="0">
              <a:buNone/>
            </a:pPr>
            <a:r>
              <a:rPr lang="en-US" sz="1250" dirty="0">
                <a:solidFill>
                  <a:srgbClr val="5B6472"/>
                </a:solidFill>
                <a:latin typeface="Calibri" pitchFamily="34" charset="0"/>
                <a:ea typeface="Calibri" pitchFamily="34" charset="-122"/>
                <a:cs typeface="Calibri" pitchFamily="34" charset="-120"/>
              </a:rPr>
              <a:t>ISO/PCI/PDPA mapping, risk register, SLA</a:t>
            </a:r>
            <a:endParaRPr lang="en-US" sz="1250" dirty="0"/>
          </a:p>
        </p:txBody>
      </p:sp>
      <p:sp>
        <p:nvSpPr>
          <p:cNvPr id="25" name="Shape 20"/>
          <p:cNvSpPr/>
          <p:nvPr/>
        </p:nvSpPr>
        <p:spPr>
          <a:xfrm>
            <a:off x="6720840" y="4261104"/>
            <a:ext cx="128016" cy="128016"/>
          </a:xfrm>
          <a:prstGeom prst="ellipse">
            <a:avLst/>
          </a:prstGeom>
          <a:solidFill>
            <a:srgbClr val="F2931F"/>
          </a:solidFill>
          <a:ln/>
        </p:spPr>
      </p:sp>
      <p:sp>
        <p:nvSpPr>
          <p:cNvPr id="26" name="Text 21"/>
          <p:cNvSpPr/>
          <p:nvPr/>
        </p:nvSpPr>
        <p:spPr>
          <a:xfrm>
            <a:off x="6995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Proof — </a:t>
            </a:r>
            <a:pPr indent="0" marL="0">
              <a:buNone/>
            </a:pPr>
            <a:r>
              <a:rPr lang="en-US" sz="1250" dirty="0">
                <a:solidFill>
                  <a:srgbClr val="5B6472"/>
                </a:solidFill>
                <a:latin typeface="Calibri" pitchFamily="34" charset="0"/>
                <a:ea typeface="Calibri" pitchFamily="34" charset="-122"/>
                <a:cs typeface="Calibri" pitchFamily="34" charset="-120"/>
              </a:rPr>
              <a:t>diagrams, policies, provider STAR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03</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3</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Compliance Presentation</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STRUCTURE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How to structure the presentation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640080" y="1965960"/>
            <a:ext cx="2084832" cy="2834640"/>
          </a:xfrm>
          <a:prstGeom prst="roundRect">
            <a:avLst>
              <a:gd name="adj" fmla="val 3947"/>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293876" y="2286000"/>
            <a:ext cx="777240" cy="77724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480414" y="2472538"/>
            <a:ext cx="404165" cy="404165"/>
          </a:xfrm>
          <a:prstGeom prst="rect">
            <a:avLst/>
          </a:prstGeom>
        </p:spPr>
      </p:pic>
      <p:sp>
        <p:nvSpPr>
          <p:cNvPr id="10" name="Text 6"/>
          <p:cNvSpPr/>
          <p:nvPr/>
        </p:nvSpPr>
        <p:spPr>
          <a:xfrm>
            <a:off x="749808" y="3200400"/>
            <a:ext cx="1865376" cy="457200"/>
          </a:xfrm>
          <a:prstGeom prst="rect">
            <a:avLst/>
          </a:prstGeom>
          <a:noFill/>
          <a:ln/>
        </p:spPr>
        <p:txBody>
          <a:bodyPr wrap="square" lIns="0" tIns="0" rIns="0" bIns="0" rtlCol="0" anchor="ctr"/>
          <a:lstStyle/>
          <a:p>
            <a:pPr algn="ctr" indent="0" marL="0">
              <a:buNone/>
            </a:pPr>
            <a:r>
              <a:rPr lang="en-US" sz="1400" b="1" dirty="0">
                <a:solidFill>
                  <a:srgbClr val="262F65"/>
                </a:solidFill>
                <a:latin typeface="Calibri" pitchFamily="34" charset="0"/>
                <a:ea typeface="Calibri" pitchFamily="34" charset="-122"/>
                <a:cs typeface="Calibri" pitchFamily="34" charset="-120"/>
              </a:rPr>
              <a:t>1 · Scope</a:t>
            </a:r>
            <a:endParaRPr lang="en-US" sz="1400" dirty="0"/>
          </a:p>
        </p:txBody>
      </p:sp>
      <p:sp>
        <p:nvSpPr>
          <p:cNvPr id="11" name="Text 7"/>
          <p:cNvSpPr/>
          <p:nvPr/>
        </p:nvSpPr>
        <p:spPr>
          <a:xfrm>
            <a:off x="777240" y="3703320"/>
            <a:ext cx="1810512" cy="100584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Service, data, obligations.</a:t>
            </a:r>
            <a:endParaRPr lang="en-US" sz="1150" dirty="0"/>
          </a:p>
        </p:txBody>
      </p:sp>
      <p:sp>
        <p:nvSpPr>
          <p:cNvPr id="12" name="Shape 8"/>
          <p:cNvSpPr/>
          <p:nvPr/>
        </p:nvSpPr>
        <p:spPr>
          <a:xfrm>
            <a:off x="2889504" y="1965960"/>
            <a:ext cx="2084832" cy="2834640"/>
          </a:xfrm>
          <a:prstGeom prst="roundRect">
            <a:avLst>
              <a:gd name="adj" fmla="val 3947"/>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3543300" y="2286000"/>
            <a:ext cx="777240" cy="777240"/>
          </a:xfrm>
          <a:prstGeom prst="ellipse">
            <a:avLst/>
          </a:prstGeom>
          <a:solidFill>
            <a:srgbClr val="293E7B"/>
          </a:solidFill>
          <a:ln/>
        </p:spPr>
      </p:sp>
      <p:pic>
        <p:nvPicPr>
          <p:cNvPr id="14" name="Image 1" descr="preencoded.png">    </p:cNvPr>
          <p:cNvPicPr>
            <a:picLocks noChangeAspect="1"/>
          </p:cNvPicPr>
          <p:nvPr/>
        </p:nvPicPr>
        <p:blipFill>
          <a:blip r:embed="rId2"/>
          <a:stretch>
            <a:fillRect/>
          </a:stretch>
        </p:blipFill>
        <p:spPr>
          <a:xfrm>
            <a:off x="3729838" y="2472538"/>
            <a:ext cx="404165" cy="404165"/>
          </a:xfrm>
          <a:prstGeom prst="rect">
            <a:avLst/>
          </a:prstGeom>
        </p:spPr>
      </p:pic>
      <p:sp>
        <p:nvSpPr>
          <p:cNvPr id="15" name="Text 10"/>
          <p:cNvSpPr/>
          <p:nvPr/>
        </p:nvSpPr>
        <p:spPr>
          <a:xfrm>
            <a:off x="2999232" y="3200400"/>
            <a:ext cx="1865376" cy="457200"/>
          </a:xfrm>
          <a:prstGeom prst="rect">
            <a:avLst/>
          </a:prstGeom>
          <a:noFill/>
          <a:ln/>
        </p:spPr>
        <p:txBody>
          <a:bodyPr wrap="square" lIns="0" tIns="0" rIns="0" bIns="0" rtlCol="0" anchor="ctr"/>
          <a:lstStyle/>
          <a:p>
            <a:pPr algn="ctr" indent="0" marL="0">
              <a:buNone/>
            </a:pPr>
            <a:r>
              <a:rPr lang="en-US" sz="1400" b="1" dirty="0">
                <a:solidFill>
                  <a:srgbClr val="262F65"/>
                </a:solidFill>
                <a:latin typeface="Calibri" pitchFamily="34" charset="0"/>
                <a:ea typeface="Calibri" pitchFamily="34" charset="-122"/>
                <a:cs typeface="Calibri" pitchFamily="34" charset="-120"/>
              </a:rPr>
              <a:t>2 · Design</a:t>
            </a:r>
            <a:endParaRPr lang="en-US" sz="1400" dirty="0"/>
          </a:p>
        </p:txBody>
      </p:sp>
      <p:sp>
        <p:nvSpPr>
          <p:cNvPr id="16" name="Text 11"/>
          <p:cNvSpPr/>
          <p:nvPr/>
        </p:nvSpPr>
        <p:spPr>
          <a:xfrm>
            <a:off x="3026664" y="3703320"/>
            <a:ext cx="1810512" cy="100584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Requirements → controls.</a:t>
            </a:r>
            <a:endParaRPr lang="en-US" sz="1150" dirty="0"/>
          </a:p>
        </p:txBody>
      </p:sp>
      <p:sp>
        <p:nvSpPr>
          <p:cNvPr id="17" name="Shape 12"/>
          <p:cNvSpPr/>
          <p:nvPr/>
        </p:nvSpPr>
        <p:spPr>
          <a:xfrm>
            <a:off x="5138928" y="1965960"/>
            <a:ext cx="2084832" cy="2834640"/>
          </a:xfrm>
          <a:prstGeom prst="roundRect">
            <a:avLst>
              <a:gd name="adj" fmla="val 3947"/>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5792724" y="2286000"/>
            <a:ext cx="777240" cy="777240"/>
          </a:xfrm>
          <a:prstGeom prst="ellipse">
            <a:avLst/>
          </a:prstGeom>
          <a:solidFill>
            <a:srgbClr val="F2931F"/>
          </a:solidFill>
          <a:ln/>
        </p:spPr>
      </p:sp>
      <p:pic>
        <p:nvPicPr>
          <p:cNvPr id="19" name="Image 2" descr="preencoded.png">    </p:cNvPr>
          <p:cNvPicPr>
            <a:picLocks noChangeAspect="1"/>
          </p:cNvPicPr>
          <p:nvPr/>
        </p:nvPicPr>
        <p:blipFill>
          <a:blip r:embed="rId3"/>
          <a:stretch>
            <a:fillRect/>
          </a:stretch>
        </p:blipFill>
        <p:spPr>
          <a:xfrm>
            <a:off x="5979262" y="2472538"/>
            <a:ext cx="404165" cy="404165"/>
          </a:xfrm>
          <a:prstGeom prst="rect">
            <a:avLst/>
          </a:prstGeom>
        </p:spPr>
      </p:pic>
      <p:sp>
        <p:nvSpPr>
          <p:cNvPr id="20" name="Text 14"/>
          <p:cNvSpPr/>
          <p:nvPr/>
        </p:nvSpPr>
        <p:spPr>
          <a:xfrm>
            <a:off x="5248656" y="3200400"/>
            <a:ext cx="1865376" cy="457200"/>
          </a:xfrm>
          <a:prstGeom prst="rect">
            <a:avLst/>
          </a:prstGeom>
          <a:noFill/>
          <a:ln/>
        </p:spPr>
        <p:txBody>
          <a:bodyPr wrap="square" lIns="0" tIns="0" rIns="0" bIns="0" rtlCol="0" anchor="ctr"/>
          <a:lstStyle/>
          <a:p>
            <a:pPr algn="ctr" indent="0" marL="0">
              <a:buNone/>
            </a:pPr>
            <a:r>
              <a:rPr lang="en-US" sz="1400" b="1" dirty="0">
                <a:solidFill>
                  <a:srgbClr val="262F65"/>
                </a:solidFill>
                <a:latin typeface="Calibri" pitchFamily="34" charset="0"/>
                <a:ea typeface="Calibri" pitchFamily="34" charset="-122"/>
                <a:cs typeface="Calibri" pitchFamily="34" charset="-120"/>
              </a:rPr>
              <a:t>3 · Assessment</a:t>
            </a:r>
            <a:endParaRPr lang="en-US" sz="1400" dirty="0"/>
          </a:p>
        </p:txBody>
      </p:sp>
      <p:sp>
        <p:nvSpPr>
          <p:cNvPr id="21" name="Text 15"/>
          <p:cNvSpPr/>
          <p:nvPr/>
        </p:nvSpPr>
        <p:spPr>
          <a:xfrm>
            <a:off x="5276088" y="3703320"/>
            <a:ext cx="1810512" cy="100584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How well it meets each — honestly.</a:t>
            </a:r>
            <a:endParaRPr lang="en-US" sz="1150" dirty="0"/>
          </a:p>
        </p:txBody>
      </p:sp>
      <p:sp>
        <p:nvSpPr>
          <p:cNvPr id="22" name="Shape 16"/>
          <p:cNvSpPr/>
          <p:nvPr/>
        </p:nvSpPr>
        <p:spPr>
          <a:xfrm>
            <a:off x="7388352" y="1965960"/>
            <a:ext cx="2084832" cy="2834640"/>
          </a:xfrm>
          <a:prstGeom prst="roundRect">
            <a:avLst>
              <a:gd name="adj" fmla="val 3947"/>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8042148" y="2286000"/>
            <a:ext cx="777240" cy="777240"/>
          </a:xfrm>
          <a:prstGeom prst="ellipse">
            <a:avLst/>
          </a:prstGeom>
          <a:solidFill>
            <a:srgbClr val="E8403A"/>
          </a:solidFill>
          <a:ln/>
        </p:spPr>
      </p:sp>
      <p:pic>
        <p:nvPicPr>
          <p:cNvPr id="24" name="Image 3" descr="preencoded.png">    </p:cNvPr>
          <p:cNvPicPr>
            <a:picLocks noChangeAspect="1"/>
          </p:cNvPicPr>
          <p:nvPr/>
        </p:nvPicPr>
        <p:blipFill>
          <a:blip r:embed="rId4"/>
          <a:stretch>
            <a:fillRect/>
          </a:stretch>
        </p:blipFill>
        <p:spPr>
          <a:xfrm>
            <a:off x="8228686" y="2472538"/>
            <a:ext cx="404165" cy="404165"/>
          </a:xfrm>
          <a:prstGeom prst="rect">
            <a:avLst/>
          </a:prstGeom>
        </p:spPr>
      </p:pic>
      <p:sp>
        <p:nvSpPr>
          <p:cNvPr id="25" name="Text 18"/>
          <p:cNvSpPr/>
          <p:nvPr/>
        </p:nvSpPr>
        <p:spPr>
          <a:xfrm>
            <a:off x="7498080" y="3200400"/>
            <a:ext cx="1865376" cy="457200"/>
          </a:xfrm>
          <a:prstGeom prst="rect">
            <a:avLst/>
          </a:prstGeom>
          <a:noFill/>
          <a:ln/>
        </p:spPr>
        <p:txBody>
          <a:bodyPr wrap="square" lIns="0" tIns="0" rIns="0" bIns="0" rtlCol="0" anchor="ctr"/>
          <a:lstStyle/>
          <a:p>
            <a:pPr algn="ctr" indent="0" marL="0">
              <a:buNone/>
            </a:pPr>
            <a:r>
              <a:rPr lang="en-US" sz="1400" b="1" dirty="0">
                <a:solidFill>
                  <a:srgbClr val="262F65"/>
                </a:solidFill>
                <a:latin typeface="Calibri" pitchFamily="34" charset="0"/>
                <a:ea typeface="Calibri" pitchFamily="34" charset="-122"/>
                <a:cs typeface="Calibri" pitchFamily="34" charset="-120"/>
              </a:rPr>
              <a:t>4 · Gaps &amp; plan</a:t>
            </a:r>
            <a:endParaRPr lang="en-US" sz="1400" dirty="0"/>
          </a:p>
        </p:txBody>
      </p:sp>
      <p:sp>
        <p:nvSpPr>
          <p:cNvPr id="26" name="Text 19"/>
          <p:cNvSpPr/>
          <p:nvPr/>
        </p:nvSpPr>
        <p:spPr>
          <a:xfrm>
            <a:off x="7525512" y="3703320"/>
            <a:ext cx="1810512" cy="100584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Weaknesses, owners, timeline.</a:t>
            </a:r>
            <a:endParaRPr lang="en-US" sz="1150" dirty="0"/>
          </a:p>
        </p:txBody>
      </p:sp>
      <p:sp>
        <p:nvSpPr>
          <p:cNvPr id="27" name="Shape 20"/>
          <p:cNvSpPr/>
          <p:nvPr/>
        </p:nvSpPr>
        <p:spPr>
          <a:xfrm>
            <a:off x="9637776" y="1965960"/>
            <a:ext cx="2084832" cy="2834640"/>
          </a:xfrm>
          <a:prstGeom prst="roundRect">
            <a:avLst>
              <a:gd name="adj" fmla="val 3947"/>
            </a:avLst>
          </a:prstGeom>
          <a:solidFill>
            <a:srgbClr val="F4F6FB"/>
          </a:solidFill>
          <a:ln/>
          <a:effectLst>
            <a:outerShdw sx="100000" sy="100000" kx="0" ky="0" algn="bl" rotWithShape="0" blurRad="88900" dist="38100" dir="5400000">
              <a:srgbClr val="8894AD">
                <a:alpha val="28000"/>
              </a:srgbClr>
            </a:outerShdw>
          </a:effectLst>
        </p:spPr>
      </p:sp>
      <p:sp>
        <p:nvSpPr>
          <p:cNvPr id="28" name="Shape 21"/>
          <p:cNvSpPr/>
          <p:nvPr/>
        </p:nvSpPr>
        <p:spPr>
          <a:xfrm>
            <a:off x="10291572" y="2286000"/>
            <a:ext cx="777240" cy="777240"/>
          </a:xfrm>
          <a:prstGeom prst="ellipse">
            <a:avLst/>
          </a:prstGeom>
          <a:solidFill>
            <a:srgbClr val="262F65"/>
          </a:solidFill>
          <a:ln/>
        </p:spPr>
      </p:sp>
      <p:pic>
        <p:nvPicPr>
          <p:cNvPr id="29" name="Image 4" descr="preencoded.png">    </p:cNvPr>
          <p:cNvPicPr>
            <a:picLocks noChangeAspect="1"/>
          </p:cNvPicPr>
          <p:nvPr/>
        </p:nvPicPr>
        <p:blipFill>
          <a:blip r:embed="rId5"/>
          <a:stretch>
            <a:fillRect/>
          </a:stretch>
        </p:blipFill>
        <p:spPr>
          <a:xfrm>
            <a:off x="10478110" y="2472538"/>
            <a:ext cx="404165" cy="404165"/>
          </a:xfrm>
          <a:prstGeom prst="rect">
            <a:avLst/>
          </a:prstGeom>
        </p:spPr>
      </p:pic>
      <p:sp>
        <p:nvSpPr>
          <p:cNvPr id="30" name="Text 22"/>
          <p:cNvSpPr/>
          <p:nvPr/>
        </p:nvSpPr>
        <p:spPr>
          <a:xfrm>
            <a:off x="9747504" y="3200400"/>
            <a:ext cx="1865376" cy="457200"/>
          </a:xfrm>
          <a:prstGeom prst="rect">
            <a:avLst/>
          </a:prstGeom>
          <a:noFill/>
          <a:ln/>
        </p:spPr>
        <p:txBody>
          <a:bodyPr wrap="square" lIns="0" tIns="0" rIns="0" bIns="0" rtlCol="0" anchor="ctr"/>
          <a:lstStyle/>
          <a:p>
            <a:pPr algn="ctr" indent="0" marL="0">
              <a:buNone/>
            </a:pPr>
            <a:r>
              <a:rPr lang="en-US" sz="1400" b="1" dirty="0">
                <a:solidFill>
                  <a:srgbClr val="262F65"/>
                </a:solidFill>
                <a:latin typeface="Calibri" pitchFamily="34" charset="0"/>
                <a:ea typeface="Calibri" pitchFamily="34" charset="-122"/>
                <a:cs typeface="Calibri" pitchFamily="34" charset="-120"/>
              </a:rPr>
              <a:t>5 · Evidence</a:t>
            </a:r>
            <a:endParaRPr lang="en-US" sz="1400" dirty="0"/>
          </a:p>
        </p:txBody>
      </p:sp>
      <p:sp>
        <p:nvSpPr>
          <p:cNvPr id="31" name="Text 23"/>
          <p:cNvSpPr/>
          <p:nvPr/>
        </p:nvSpPr>
        <p:spPr>
          <a:xfrm>
            <a:off x="9774936" y="3703320"/>
            <a:ext cx="1810512" cy="1005840"/>
          </a:xfrm>
          <a:prstGeom prst="rect">
            <a:avLst/>
          </a:prstGeom>
          <a:noFill/>
          <a:ln/>
        </p:spPr>
        <p:txBody>
          <a:bodyPr wrap="square" lIns="0" tIns="0" rIns="0" bIns="0" rtlCol="0" anchor="t"/>
          <a:lstStyle/>
          <a:p>
            <a:pPr algn="ctr" indent="0" marL="0">
              <a:buNone/>
            </a:pPr>
            <a:r>
              <a:rPr lang="en-US" sz="1150" dirty="0">
                <a:solidFill>
                  <a:srgbClr val="5B6472"/>
                </a:solidFill>
                <a:latin typeface="Calibri" pitchFamily="34" charset="0"/>
                <a:ea typeface="Calibri" pitchFamily="34" charset="-122"/>
                <a:cs typeface="Calibri" pitchFamily="34" charset="-120"/>
              </a:rPr>
              <a:t>Diagrams, policies, attestations.</a:t>
            </a:r>
            <a:endParaRPr lang="en-US" sz="1150" dirty="0"/>
          </a:p>
        </p:txBody>
      </p:sp>
      <p:sp>
        <p:nvSpPr>
          <p:cNvPr id="32" name="Text 24"/>
          <p:cNvSpPr/>
          <p:nvPr/>
        </p:nvSpPr>
        <p:spPr>
          <a:xfrm>
            <a:off x="640080" y="5029200"/>
            <a:ext cx="10881360" cy="457200"/>
          </a:xfrm>
          <a:prstGeom prst="rect">
            <a:avLst/>
          </a:prstGeom>
          <a:noFill/>
          <a:ln/>
        </p:spPr>
        <p:txBody>
          <a:bodyPr wrap="square" lIns="0" tIns="0" rIns="0" bIns="0" rtlCol="0" anchor="ctr"/>
          <a:lstStyle/>
          <a:p>
            <a:pPr algn="ctr" indent="0" marL="0">
              <a:buNone/>
            </a:pPr>
            <a:r>
              <a:rPr lang="en-US" sz="1350" b="1" dirty="0">
                <a:solidFill>
                  <a:srgbClr val="F2931F"/>
                </a:solidFill>
                <a:latin typeface="Calibri" pitchFamily="34" charset="0"/>
                <a:ea typeface="Calibri" pitchFamily="34" charset="-122"/>
                <a:cs typeface="Calibri" pitchFamily="34" charset="-120"/>
              </a:rPr>
              <a:t>The flow is a story:  </a:t>
            </a:r>
            <a:pPr algn="ctr" indent="0" marL="0">
              <a:buNone/>
            </a:pPr>
            <a:r>
              <a:rPr lang="en-US" sz="1350" i="1" dirty="0">
                <a:solidFill>
                  <a:srgbClr val="262F65"/>
                </a:solidFill>
                <a:latin typeface="Calibri" pitchFamily="34" charset="0"/>
                <a:ea typeface="Calibri" pitchFamily="34" charset="-122"/>
                <a:cs typeface="Calibri" pitchFamily="34" charset="-120"/>
              </a:rPr>
              <a:t>scope → design → assessment → gaps → evidence. Never a feature list; never hide gaps.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CLO3 SKILL</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Presenting with professional integrity (VBE3)</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Be honest about gaps</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Lead with the true picture — candour is rewarded and required.</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Evidence every claim</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'Here is the control and the proof' — not 'we're compliant'.</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Tailor to the audience</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Risk &amp; cost for leaders; detail for assessors — same truth.</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i="1" dirty="0">
                <a:solidFill>
                  <a:srgbClr val="262F65"/>
                </a:solidFill>
                <a:latin typeface="Calibri" pitchFamily="34" charset="0"/>
                <a:ea typeface="Calibri" pitchFamily="34" charset="-122"/>
                <a:cs typeface="Calibri" pitchFamily="34" charset="-120"/>
              </a:rPr>
              <a:t>Handling others' data (payments, health) truthfully is a duty of care — the mark of a professional (VBE3).</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04</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4</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Delivery, Checklist &amp; Wrap</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DELIVERY</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Presentation do's and don'ts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Do</a:t>
            </a:r>
            <a:endParaRPr lang="en-US" sz="1550" dirty="0"/>
          </a:p>
        </p:txBody>
      </p:sp>
      <p:sp>
        <p:nvSpPr>
          <p:cNvPr id="11" name="Shape 7"/>
          <p:cNvSpPr/>
          <p:nvPr/>
        </p:nvSpPr>
        <p:spPr>
          <a:xfrm>
            <a:off x="1005840" y="3127248"/>
            <a:ext cx="128016" cy="128016"/>
          </a:xfrm>
          <a:prstGeom prst="ellipse">
            <a:avLst/>
          </a:prstGeom>
          <a:solidFill>
            <a:srgbClr val="262F65"/>
          </a:solidFill>
          <a:ln/>
        </p:spPr>
      </p:sp>
      <p:sp>
        <p:nvSpPr>
          <p:cNvPr id="12" name="Text 8"/>
          <p:cNvSpPr/>
          <p:nvPr/>
        </p:nvSpPr>
        <p:spPr>
          <a:xfrm>
            <a:off x="1280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Structure clearly — </a:t>
            </a:r>
            <a:pPr indent="0" marL="0">
              <a:buNone/>
            </a:pPr>
            <a:r>
              <a:rPr lang="en-US" sz="1250" dirty="0">
                <a:solidFill>
                  <a:srgbClr val="5B6472"/>
                </a:solidFill>
                <a:latin typeface="Calibri" pitchFamily="34" charset="0"/>
                <a:ea typeface="Calibri" pitchFamily="34" charset="-122"/>
                <a:cs typeface="Calibri" pitchFamily="34" charset="-120"/>
              </a:rPr>
              <a:t>scope → design → assessment → gaps → evidence</a:t>
            </a:r>
            <a:endParaRPr lang="en-US" sz="1250" dirty="0"/>
          </a:p>
        </p:txBody>
      </p:sp>
      <p:sp>
        <p:nvSpPr>
          <p:cNvPr id="13" name="Shape 9"/>
          <p:cNvSpPr/>
          <p:nvPr/>
        </p:nvSpPr>
        <p:spPr>
          <a:xfrm>
            <a:off x="1005840" y="3694176"/>
            <a:ext cx="128016" cy="128016"/>
          </a:xfrm>
          <a:prstGeom prst="ellipse">
            <a:avLst/>
          </a:prstGeom>
          <a:solidFill>
            <a:srgbClr val="262F65"/>
          </a:solidFill>
          <a:ln/>
        </p:spPr>
      </p:sp>
      <p:sp>
        <p:nvSpPr>
          <p:cNvPr id="14" name="Text 10"/>
          <p:cNvSpPr/>
          <p:nvPr/>
        </p:nvSpPr>
        <p:spPr>
          <a:xfrm>
            <a:off x="1280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Use diagrams — </a:t>
            </a:r>
            <a:pPr indent="0" marL="0">
              <a:buNone/>
            </a:pPr>
            <a:r>
              <a:rPr lang="en-US" sz="1250" dirty="0">
                <a:solidFill>
                  <a:srgbClr val="5B6472"/>
                </a:solidFill>
                <a:latin typeface="Calibri" pitchFamily="34" charset="0"/>
                <a:ea typeface="Calibri" pitchFamily="34" charset="-122"/>
                <a:cs typeface="Calibri" pitchFamily="34" charset="-120"/>
              </a:rPr>
              <a:t>architecture and data flows</a:t>
            </a:r>
            <a:endParaRPr lang="en-US" sz="1250" dirty="0"/>
          </a:p>
        </p:txBody>
      </p:sp>
      <p:sp>
        <p:nvSpPr>
          <p:cNvPr id="15" name="Shape 11"/>
          <p:cNvSpPr/>
          <p:nvPr/>
        </p:nvSpPr>
        <p:spPr>
          <a:xfrm>
            <a:off x="1005840" y="4261104"/>
            <a:ext cx="128016" cy="128016"/>
          </a:xfrm>
          <a:prstGeom prst="ellipse">
            <a:avLst/>
          </a:prstGeom>
          <a:solidFill>
            <a:srgbClr val="262F65"/>
          </a:solidFill>
          <a:ln/>
        </p:spPr>
      </p:sp>
      <p:sp>
        <p:nvSpPr>
          <p:cNvPr id="16" name="Text 12"/>
          <p:cNvSpPr/>
          <p:nvPr/>
        </p:nvSpPr>
        <p:spPr>
          <a:xfrm>
            <a:off x="1280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Map requirement → control → evidence — </a:t>
            </a:r>
            <a:pPr indent="0" marL="0">
              <a:buNone/>
            </a:pPr>
            <a:endParaRPr lang="en-US" sz="1250" dirty="0"/>
          </a:p>
        </p:txBody>
      </p:sp>
      <p:sp>
        <p:nvSpPr>
          <p:cNvPr id="17" name="Shape 13"/>
          <p:cNvSpPr/>
          <p:nvPr/>
        </p:nvSpPr>
        <p:spPr>
          <a:xfrm>
            <a:off x="1005840" y="4828032"/>
            <a:ext cx="128016" cy="128016"/>
          </a:xfrm>
          <a:prstGeom prst="ellipse">
            <a:avLst/>
          </a:prstGeom>
          <a:solidFill>
            <a:srgbClr val="262F65"/>
          </a:solidFill>
          <a:ln/>
        </p:spPr>
      </p:sp>
      <p:sp>
        <p:nvSpPr>
          <p:cNvPr id="18" name="Text 14"/>
          <p:cNvSpPr/>
          <p:nvPr/>
        </p:nvSpPr>
        <p:spPr>
          <a:xfrm>
            <a:off x="1280160" y="4764024"/>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Rehearse timing &amp; assign roles — </a:t>
            </a:r>
            <a:pPr indent="0" marL="0">
              <a:buNone/>
            </a:pPr>
            <a:endParaRPr lang="en-US" sz="1250" dirty="0"/>
          </a:p>
        </p:txBody>
      </p:sp>
      <p:sp>
        <p:nvSpPr>
          <p:cNvPr id="19" name="Shape 15"/>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20" name="Shape 16"/>
          <p:cNvSpPr/>
          <p:nvPr/>
        </p:nvSpPr>
        <p:spPr>
          <a:xfrm>
            <a:off x="6675120" y="2057400"/>
            <a:ext cx="868680" cy="868680"/>
          </a:xfrm>
          <a:prstGeom prst="ellipse">
            <a:avLst/>
          </a:prstGeom>
          <a:solidFill>
            <a:srgbClr val="E8403A"/>
          </a:solidFill>
          <a:ln/>
        </p:spPr>
      </p:sp>
      <p:pic>
        <p:nvPicPr>
          <p:cNvPr id="21"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2" name="Text 17"/>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Don't</a:t>
            </a:r>
            <a:endParaRPr lang="en-US" sz="1550" dirty="0"/>
          </a:p>
        </p:txBody>
      </p:sp>
      <p:sp>
        <p:nvSpPr>
          <p:cNvPr id="23" name="Shape 18"/>
          <p:cNvSpPr/>
          <p:nvPr/>
        </p:nvSpPr>
        <p:spPr>
          <a:xfrm>
            <a:off x="6720840" y="3127248"/>
            <a:ext cx="128016" cy="128016"/>
          </a:xfrm>
          <a:prstGeom prst="ellipse">
            <a:avLst/>
          </a:prstGeom>
          <a:solidFill>
            <a:srgbClr val="E8403A"/>
          </a:solidFill>
          <a:ln/>
        </p:spPr>
      </p:sp>
      <p:sp>
        <p:nvSpPr>
          <p:cNvPr id="24" name="Text 19"/>
          <p:cNvSpPr/>
          <p:nvPr/>
        </p:nvSpPr>
        <p:spPr>
          <a:xfrm>
            <a:off x="6995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Read dense slides verbatim — </a:t>
            </a:r>
            <a:pPr indent="0" marL="0">
              <a:buNone/>
            </a:pPr>
            <a:endParaRPr lang="en-US" sz="1250" dirty="0"/>
          </a:p>
        </p:txBody>
      </p:sp>
      <p:sp>
        <p:nvSpPr>
          <p:cNvPr id="25" name="Shape 20"/>
          <p:cNvSpPr/>
          <p:nvPr/>
        </p:nvSpPr>
        <p:spPr>
          <a:xfrm>
            <a:off x="6720840" y="3694176"/>
            <a:ext cx="128016" cy="128016"/>
          </a:xfrm>
          <a:prstGeom prst="ellipse">
            <a:avLst/>
          </a:prstGeom>
          <a:solidFill>
            <a:srgbClr val="E8403A"/>
          </a:solidFill>
          <a:ln/>
        </p:spPr>
      </p:sp>
      <p:sp>
        <p:nvSpPr>
          <p:cNvPr id="26" name="Text 21"/>
          <p:cNvSpPr/>
          <p:nvPr/>
        </p:nvSpPr>
        <p:spPr>
          <a:xfrm>
            <a:off x="6995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Give a feature list — </a:t>
            </a:r>
            <a:pPr indent="0" marL="0">
              <a:buNone/>
            </a:pPr>
            <a:r>
              <a:rPr lang="en-US" sz="1250" dirty="0">
                <a:solidFill>
                  <a:srgbClr val="5B6472"/>
                </a:solidFill>
                <a:latin typeface="Calibri" pitchFamily="34" charset="0"/>
                <a:ea typeface="Calibri" pitchFamily="34" charset="-122"/>
                <a:cs typeface="Calibri" pitchFamily="34" charset="-120"/>
              </a:rPr>
              <a:t>with no assessment</a:t>
            </a:r>
            <a:endParaRPr lang="en-US" sz="1250" dirty="0"/>
          </a:p>
        </p:txBody>
      </p:sp>
      <p:sp>
        <p:nvSpPr>
          <p:cNvPr id="27" name="Shape 22"/>
          <p:cNvSpPr/>
          <p:nvPr/>
        </p:nvSpPr>
        <p:spPr>
          <a:xfrm>
            <a:off x="6720840" y="4261104"/>
            <a:ext cx="128016" cy="128016"/>
          </a:xfrm>
          <a:prstGeom prst="ellipse">
            <a:avLst/>
          </a:prstGeom>
          <a:solidFill>
            <a:srgbClr val="E8403A"/>
          </a:solidFill>
          <a:ln/>
        </p:spPr>
      </p:sp>
      <p:sp>
        <p:nvSpPr>
          <p:cNvPr id="28" name="Text 23"/>
          <p:cNvSpPr/>
          <p:nvPr/>
        </p:nvSpPr>
        <p:spPr>
          <a:xfrm>
            <a:off x="6995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Hide or gloss over gaps — </a:t>
            </a:r>
            <a:pPr indent="0" marL="0">
              <a:buNone/>
            </a:pPr>
            <a:endParaRPr lang="en-US" sz="1250" dirty="0"/>
          </a:p>
        </p:txBody>
      </p:sp>
      <p:sp>
        <p:nvSpPr>
          <p:cNvPr id="29" name="Shape 24"/>
          <p:cNvSpPr/>
          <p:nvPr/>
        </p:nvSpPr>
        <p:spPr>
          <a:xfrm>
            <a:off x="6720840" y="4828032"/>
            <a:ext cx="128016" cy="128016"/>
          </a:xfrm>
          <a:prstGeom prst="ellipse">
            <a:avLst/>
          </a:prstGeom>
          <a:solidFill>
            <a:srgbClr val="E8403A"/>
          </a:solidFill>
          <a:ln/>
        </p:spPr>
      </p:sp>
      <p:sp>
        <p:nvSpPr>
          <p:cNvPr id="30" name="Text 25"/>
          <p:cNvSpPr/>
          <p:nvPr/>
        </p:nvSpPr>
        <p:spPr>
          <a:xfrm>
            <a:off x="6995160" y="4764024"/>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Claim compliance without evidence — </a:t>
            </a:r>
            <a:pPr indent="0" marL="0">
              <a:buNone/>
            </a:pP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RECAP</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Consolidation checklist</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640080" y="1783080"/>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68680" y="1956816"/>
            <a:ext cx="548640" cy="54864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00354" y="2088490"/>
            <a:ext cx="285293" cy="285293"/>
          </a:xfrm>
          <a:prstGeom prst="rect">
            <a:avLst/>
          </a:prstGeom>
        </p:spPr>
      </p:pic>
      <p:sp>
        <p:nvSpPr>
          <p:cNvPr id="10" name="Text 6"/>
          <p:cNvSpPr/>
          <p:nvPr/>
        </p:nvSpPr>
        <p:spPr>
          <a:xfrm>
            <a:off x="1600200" y="1856232"/>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1   </a:t>
            </a:r>
            <a:pPr indent="0" marL="0">
              <a:buNone/>
            </a:pPr>
            <a:r>
              <a:rPr lang="en-US" sz="1350" dirty="0">
                <a:solidFill>
                  <a:srgbClr val="23283A"/>
                </a:solidFill>
                <a:latin typeface="Calibri" pitchFamily="34" charset="0"/>
                <a:ea typeface="Calibri" pitchFamily="34" charset="-122"/>
                <a:cs typeface="Calibri" pitchFamily="34" charset="-120"/>
              </a:rPr>
              <a:t>The course is one connected discipline — foundations, four pillars, patterns, governance — bound by shared threads.</a:t>
            </a:r>
            <a:endParaRPr lang="en-US" sz="1350" dirty="0"/>
          </a:p>
        </p:txBody>
      </p:sp>
      <p:sp>
        <p:nvSpPr>
          <p:cNvPr id="11" name="Shape 7"/>
          <p:cNvSpPr/>
          <p:nvPr/>
        </p:nvSpPr>
        <p:spPr>
          <a:xfrm>
            <a:off x="640080" y="2807208"/>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68680" y="2980944"/>
            <a:ext cx="548640" cy="548640"/>
          </a:xfrm>
          <a:prstGeom prst="ellipse">
            <a:avLst/>
          </a:prstGeom>
          <a:solidFill>
            <a:srgbClr val="293E7B"/>
          </a:solidFill>
          <a:ln/>
        </p:spPr>
      </p:sp>
      <p:pic>
        <p:nvPicPr>
          <p:cNvPr id="13" name="Image 1" descr="preencoded.png">    </p:cNvPr>
          <p:cNvPicPr>
            <a:picLocks noChangeAspect="1"/>
          </p:cNvPicPr>
          <p:nvPr/>
        </p:nvPicPr>
        <p:blipFill>
          <a:blip r:embed="rId2"/>
          <a:stretch>
            <a:fillRect/>
          </a:stretch>
        </p:blipFill>
        <p:spPr>
          <a:xfrm>
            <a:off x="1000354" y="3112618"/>
            <a:ext cx="285293" cy="285293"/>
          </a:xfrm>
          <a:prstGeom prst="rect">
            <a:avLst/>
          </a:prstGeom>
        </p:spPr>
      </p:pic>
      <p:sp>
        <p:nvSpPr>
          <p:cNvPr id="14" name="Text 9"/>
          <p:cNvSpPr/>
          <p:nvPr/>
        </p:nvSpPr>
        <p:spPr>
          <a:xfrm>
            <a:off x="1600200" y="2880360"/>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2   </a:t>
            </a:r>
            <a:pPr indent="0" marL="0">
              <a:buNone/>
            </a:pPr>
            <a:r>
              <a:rPr lang="en-US" sz="1350" dirty="0">
                <a:solidFill>
                  <a:srgbClr val="23283A"/>
                </a:solidFill>
                <a:latin typeface="Calibri" pitchFamily="34" charset="0"/>
                <a:ea typeface="Calibri" pitchFamily="34" charset="-122"/>
                <a:cs typeface="Calibri" pitchFamily="34" charset="-120"/>
              </a:rPr>
              <a:t>A secure service composes controls across every blueprint layer — and evidences each.</a:t>
            </a:r>
            <a:endParaRPr lang="en-US" sz="1350" dirty="0"/>
          </a:p>
        </p:txBody>
      </p:sp>
      <p:sp>
        <p:nvSpPr>
          <p:cNvPr id="15" name="Shape 10"/>
          <p:cNvSpPr/>
          <p:nvPr/>
        </p:nvSpPr>
        <p:spPr>
          <a:xfrm>
            <a:off x="640080" y="3831336"/>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68680" y="4005072"/>
            <a:ext cx="548640" cy="548640"/>
          </a:xfrm>
          <a:prstGeom prst="ellipse">
            <a:avLst/>
          </a:prstGeom>
          <a:solidFill>
            <a:srgbClr val="F2931F"/>
          </a:solidFill>
          <a:ln/>
        </p:spPr>
      </p:sp>
      <p:pic>
        <p:nvPicPr>
          <p:cNvPr id="17" name="Image 2" descr="preencoded.png">    </p:cNvPr>
          <p:cNvPicPr>
            <a:picLocks noChangeAspect="1"/>
          </p:cNvPicPr>
          <p:nvPr/>
        </p:nvPicPr>
        <p:blipFill>
          <a:blip r:embed="rId3"/>
          <a:stretch>
            <a:fillRect/>
          </a:stretch>
        </p:blipFill>
        <p:spPr>
          <a:xfrm>
            <a:off x="1000354" y="4136746"/>
            <a:ext cx="285293" cy="285293"/>
          </a:xfrm>
          <a:prstGeom prst="rect">
            <a:avLst/>
          </a:prstGeom>
        </p:spPr>
      </p:pic>
      <p:sp>
        <p:nvSpPr>
          <p:cNvPr id="18" name="Text 12"/>
          <p:cNvSpPr/>
          <p:nvPr/>
        </p:nvSpPr>
        <p:spPr>
          <a:xfrm>
            <a:off x="1600200" y="3904488"/>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3   </a:t>
            </a:r>
            <a:pPr indent="0" marL="0">
              <a:buNone/>
            </a:pPr>
            <a:r>
              <a:rPr lang="en-US" sz="1350" dirty="0">
                <a:solidFill>
                  <a:srgbClr val="23283A"/>
                </a:solidFill>
                <a:latin typeface="Calibri" pitchFamily="34" charset="0"/>
                <a:ea typeface="Calibri" pitchFamily="34" charset="-122"/>
                <a:cs typeface="Calibri" pitchFamily="34" charset="-120"/>
              </a:rPr>
              <a:t>A compliance presentation follows scope → design → assessment → gaps → evidence, with proof.</a:t>
            </a:r>
            <a:endParaRPr lang="en-US" sz="1350" dirty="0"/>
          </a:p>
        </p:txBody>
      </p:sp>
      <p:sp>
        <p:nvSpPr>
          <p:cNvPr id="19" name="Shape 13"/>
          <p:cNvSpPr/>
          <p:nvPr/>
        </p:nvSpPr>
        <p:spPr>
          <a:xfrm>
            <a:off x="640080" y="4855464"/>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68680" y="5029200"/>
            <a:ext cx="548640" cy="548640"/>
          </a:xfrm>
          <a:prstGeom prst="ellipse">
            <a:avLst/>
          </a:prstGeom>
          <a:solidFill>
            <a:srgbClr val="FABA32"/>
          </a:solidFill>
          <a:ln/>
        </p:spPr>
      </p:sp>
      <p:pic>
        <p:nvPicPr>
          <p:cNvPr id="21" name="Image 3" descr="preencoded.png">    </p:cNvPr>
          <p:cNvPicPr>
            <a:picLocks noChangeAspect="1"/>
          </p:cNvPicPr>
          <p:nvPr/>
        </p:nvPicPr>
        <p:blipFill>
          <a:blip r:embed="rId4"/>
          <a:stretch>
            <a:fillRect/>
          </a:stretch>
        </p:blipFill>
        <p:spPr>
          <a:xfrm>
            <a:off x="1000354" y="5160874"/>
            <a:ext cx="285293" cy="285293"/>
          </a:xfrm>
          <a:prstGeom prst="rect">
            <a:avLst/>
          </a:prstGeom>
        </p:spPr>
      </p:pic>
      <p:sp>
        <p:nvSpPr>
          <p:cNvPr id="22" name="Text 15"/>
          <p:cNvSpPr/>
          <p:nvPr/>
        </p:nvSpPr>
        <p:spPr>
          <a:xfrm>
            <a:off x="1600200" y="4928616"/>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4   </a:t>
            </a:r>
            <a:pPr indent="0" marL="0">
              <a:buNone/>
            </a:pPr>
            <a:r>
              <a:rPr lang="en-US" sz="1350" dirty="0">
                <a:solidFill>
                  <a:srgbClr val="23283A"/>
                </a:solidFill>
                <a:latin typeface="Calibri" pitchFamily="34" charset="0"/>
                <a:ea typeface="Calibri" pitchFamily="34" charset="-122"/>
                <a:cs typeface="Calibri" pitchFamily="34" charset="-120"/>
              </a:rPr>
              <a:t>Present with professional integrity — honest, evidence-based, audience-appropriate (CLO3, VBE3).</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9509760" y="4206240"/>
            <a:ext cx="4206240" cy="4206240"/>
          </a:xfrm>
          <a:prstGeom prst="ellipse">
            <a:avLst/>
          </a:prstGeom>
          <a:solidFill>
            <a:srgbClr val="293E7B">
              <a:alpha val="45000"/>
            </a:srgbClr>
          </a:solidFill>
          <a:ln/>
        </p:spPr>
      </p:sp>
      <p:sp>
        <p:nvSpPr>
          <p:cNvPr id="3" name="Shape 1"/>
          <p:cNvSpPr/>
          <p:nvPr/>
        </p:nvSpPr>
        <p:spPr>
          <a:xfrm>
            <a:off x="640080" y="1280160"/>
            <a:ext cx="1188720" cy="1188720"/>
          </a:xfrm>
          <a:prstGeom prst="ellipse">
            <a:avLst/>
          </a:prstGeom>
          <a:solidFill>
            <a:srgbClr val="FABA32"/>
          </a:solidFill>
          <a:ln/>
        </p:spPr>
      </p:sp>
      <p:pic>
        <p:nvPicPr>
          <p:cNvPr id="4" name="Image 0" descr="preencoded.png">    </p:cNvPr>
          <p:cNvPicPr>
            <a:picLocks noChangeAspect="1"/>
          </p:cNvPicPr>
          <p:nvPr/>
        </p:nvPicPr>
        <p:blipFill>
          <a:blip r:embed="rId1"/>
          <a:stretch>
            <a:fillRect/>
          </a:stretch>
        </p:blipFill>
        <p:spPr>
          <a:xfrm>
            <a:off x="925373" y="1565453"/>
            <a:ext cx="618134" cy="618134"/>
          </a:xfrm>
          <a:prstGeom prst="rect">
            <a:avLst/>
          </a:prstGeom>
        </p:spPr>
      </p:pic>
      <p:sp>
        <p:nvSpPr>
          <p:cNvPr id="5" name="Text 2"/>
          <p:cNvSpPr/>
          <p:nvPr/>
        </p:nvSpPr>
        <p:spPr>
          <a:xfrm>
            <a:off x="640080" y="265176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Discussion &amp; Q&amp;A</a:t>
            </a:r>
            <a:endParaRPr lang="en-US" sz="3600" dirty="0"/>
          </a:p>
        </p:txBody>
      </p:sp>
      <p:sp>
        <p:nvSpPr>
          <p:cNvPr id="6" name="Text 3"/>
          <p:cNvSpPr/>
          <p:nvPr/>
        </p:nvSpPr>
        <p:spPr>
          <a:xfrm>
            <a:off x="640080" y="3611880"/>
            <a:ext cx="10058400" cy="1463040"/>
          </a:xfrm>
          <a:prstGeom prst="rect">
            <a:avLst/>
          </a:prstGeom>
          <a:noFill/>
          <a:ln/>
        </p:spPr>
        <p:txBody>
          <a:bodyPr wrap="square" lIns="0" tIns="0" rIns="0" bIns="0" rtlCol="0" anchor="t"/>
          <a:lstStyle/>
          <a:p>
            <a:pPr marL="342900" indent="-342900">
              <a:lnSpc>
                <a:spcPct val="130000"/>
              </a:lnSpc>
              <a:buSzPct val="100000"/>
              <a:buChar char="•"/>
            </a:pPr>
            <a:r>
              <a:rPr lang="en-US" sz="1650" dirty="0">
                <a:solidFill>
                  <a:srgbClr val="B6E0F2"/>
                </a:solidFill>
                <a:latin typeface="Calibri" pitchFamily="34" charset="0"/>
                <a:ea typeface="Calibri" pitchFamily="34" charset="-122"/>
                <a:cs typeface="Calibri" pitchFamily="34" charset="-120"/>
              </a:rPr>
              <a:t>In your design, which single control would you defend as most important — and how would you evidence it?</a:t>
            </a:r>
            <a:endParaRPr lang="en-US" sz="1650" dirty="0"/>
          </a:p>
          <a:p>
            <a:pPr indent="0" marL="0">
              <a:lnSpc>
                <a:spcPct val="130000"/>
              </a:lnSpc>
              <a:buNone/>
            </a:pPr>
            <a:r>
              <a:rPr lang="en-US" sz="1650" dirty="0">
                <a:solidFill>
                  <a:srgbClr val="B6E0F2"/>
                </a:solidFill>
                <a:latin typeface="Calibri" pitchFamily="34" charset="0"/>
                <a:ea typeface="Calibri" pitchFamily="34" charset="-122"/>
                <a:cs typeface="Calibri" pitchFamily="34" charset="-120"/>
              </a:rPr>
              <a:t>Where is the hardest compliance gap to close, and what is your honest remediation plan?</a:t>
            </a:r>
            <a:endParaRPr lang="en-US" sz="1650" dirty="0"/>
          </a:p>
        </p:txBody>
      </p:sp>
      <p:sp>
        <p:nvSpPr>
          <p:cNvPr id="7" name="Text 4"/>
          <p:cNvSpPr/>
          <p:nvPr/>
        </p:nvSpPr>
        <p:spPr>
          <a:xfrm>
            <a:off x="640080" y="5760720"/>
            <a:ext cx="10789920" cy="457200"/>
          </a:xfrm>
          <a:prstGeom prst="rect">
            <a:avLst/>
          </a:prstGeom>
          <a:noFill/>
          <a:ln/>
        </p:spPr>
        <p:txBody>
          <a:bodyPr wrap="square" lIns="0" tIns="0" rIns="0" bIns="0" rtlCol="0" anchor="ctr"/>
          <a:lstStyle/>
          <a:p>
            <a:pPr indent="0" marL="0">
              <a:buNone/>
            </a:pPr>
            <a:r>
              <a:rPr lang="en-US" sz="1300" i="1" dirty="0">
                <a:solidFill>
                  <a:srgbClr val="FABA32"/>
                </a:solidFill>
                <a:latin typeface="Calibri" pitchFamily="34" charset="0"/>
                <a:ea typeface="Calibri" pitchFamily="34" charset="-122"/>
                <a:cs typeface="Calibri" pitchFamily="34" charset="-120"/>
              </a:rPr>
              <a:t>Next week — Week 13:  Course Review &amp; Synthesis across CLO1–CLO3</a:t>
            </a:r>
            <a:endParaRPr lang="en-US" sz="1300" dirty="0"/>
          </a:p>
        </p:txBody>
      </p:sp>
      <p:pic>
        <p:nvPicPr>
          <p:cNvPr id="8" name="Image 1" descr="/sessions/inspiring-busy-dijkstra/mnt/outputs/build/assets/logo_white_trim.png">    </p:cNvPr>
          <p:cNvPicPr>
            <a:picLocks noChangeAspect="1"/>
          </p:cNvPicPr>
          <p:nvPr/>
        </p:nvPicPr>
        <p:blipFill>
          <a:blip r:embed="rId2"/>
          <a:stretch>
            <a:fillRect/>
          </a:stretch>
        </p:blipFill>
        <p:spPr>
          <a:xfrm>
            <a:off x="10195560" y="502920"/>
            <a:ext cx="1417320" cy="643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12 — Consolidation: Secure Cloud Service Design &amp; Compliance Presentation</dc:title>
  <dc:subject>PptxGenJS Presentation</dc:subject>
  <dc:creator>Prof. Dr. Shahrulniza Musa</dc:creator>
  <cp:lastModifiedBy>Prof. Dr. Shahrulniza Musa</cp:lastModifiedBy>
  <cp:revision>1</cp:revision>
  <dcterms:created xsi:type="dcterms:W3CDTF">2026-07-09T10:13:48Z</dcterms:created>
  <dcterms:modified xsi:type="dcterms:W3CDTF">2026-07-09T10:13:48Z</dcterms:modified>
</cp:coreProperties>
</file>